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5216" y="1975104"/>
            <a:ext cx="47548" cy="146304"/>
          </a:xfrm>
          <a:prstGeom prst="roundRect">
            <a:avLst>
              <a:gd name="adj" fmla="val 40000"/>
            </a:avLst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1168" y="1874520"/>
            <a:ext cx="47548" cy="246888"/>
          </a:xfrm>
          <a:prstGeom prst="roundRect">
            <a:avLst>
              <a:gd name="adj" fmla="val 40000"/>
            </a:avLst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120" y="1938528"/>
            <a:ext cx="47548" cy="182880"/>
          </a:xfrm>
          <a:prstGeom prst="roundRect">
            <a:avLst>
              <a:gd name="adj" fmla="val 40000"/>
            </a:avLst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3072" y="1810512"/>
            <a:ext cx="47548" cy="310896"/>
          </a:xfrm>
          <a:prstGeom prst="roundRect">
            <a:avLst>
              <a:gd name="adj" fmla="val 40000"/>
            </a:avLst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9024" y="1901952"/>
            <a:ext cx="47548" cy="219456"/>
          </a:xfrm>
          <a:prstGeom prst="roundRect">
            <a:avLst>
              <a:gd name="adj" fmla="val 40000"/>
            </a:avLst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4976" y="1847088"/>
            <a:ext cx="47548" cy="274320"/>
          </a:xfrm>
          <a:prstGeom prst="roundRect">
            <a:avLst>
              <a:gd name="adj" fmla="val 40000"/>
            </a:avLst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00928" y="1993392"/>
            <a:ext cx="47548" cy="128016"/>
          </a:xfrm>
          <a:prstGeom prst="roundRect">
            <a:avLst>
              <a:gd name="adj" fmla="val 40000"/>
            </a:avLst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23113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 spc="60">
                <a:solidFill>
                  <a:srgbClr val="FDBA74"/>
                </a:solidFill>
                <a:latin typeface="맑은 고딕"/>
                <a:ea typeface="맑은 고딕"/>
              </a:rPr>
              <a:t>AI 시대 마케팅, 누가 살아남을까? — 6주 실무 스터디  |  1회차 강사 가이드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65176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900" b="1" i="0">
                <a:solidFill>
                  <a:srgbClr val="FFFFFF"/>
                </a:solidFill>
                <a:latin typeface="맑은 고딕"/>
                <a:ea typeface="맑은 고딕"/>
              </a:rPr>
              <a:t>[강사용] AI가 바꾼 발견의 구조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4261104"/>
            <a:ext cx="457200" cy="3200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4443984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D5DAE6"/>
                </a:solidFill>
                <a:latin typeface="맑은 고딕"/>
                <a:ea typeface="맑은 고딕"/>
              </a:rPr>
              <a:t>수업 운영 흐름 · 라이브 시연 시나리오 · 수강생 미션 · 평가 기준
핵심 질문: 검색 순위가 높아도 왜 트래픽이 줄어드는가?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608990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B7A99E"/>
                </a:solidFill>
                <a:latin typeface="맑은 고딕"/>
                <a:ea typeface="맑은 고딕"/>
              </a:rPr>
              <a:t>이 문서는 강사 전용입니다. 수강생 배포 금지 · 기준일 2026-07-03 · 링크는 수업 전날 접속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28655" y="548640"/>
            <a:ext cx="896112" cy="40233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28655" y="548640"/>
            <a:ext cx="89611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250" b="1" i="0" spc="50">
                <a:solidFill>
                  <a:srgbClr val="FDBA74"/>
                </a:solidFill>
                <a:latin typeface="맑은 고딕"/>
                <a:ea typeface="맑은 고딕"/>
              </a:rPr>
              <a:t>강사용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운영 타임라인 × 시연 매핑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42955" y="475488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42955" y="486460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100" b="1" i="0" spc="2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시연 총 5회. 데모 번호(D1~D5)는 다음 슬라이드의 시연 시나리오와 연결됩니다.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[강사용] AI 시대 마케팅, 누가 살아남을까? — 6주 실무 스터디   |   1회차 · AI가 바꾼 발견의 구조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1499616"/>
          <a:ext cx="11057838" cy="289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9419"/>
                <a:gridCol w="4934903"/>
                <a:gridCol w="4843516"/>
              </a:tblGrid>
              <a:tr h="330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</a:p>
                  </a:txBody>
                  <a:tcPr anchor="ctr" marL="100584" marR="91440" marT="41148" marB="41148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anchor="ctr" marL="100584" marR="91440" marT="41148" marB="41148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시연/활동</a:t>
                      </a:r>
                    </a:p>
                  </a:txBody>
                  <a:tcPr anchor="ctr" marL="100584" marR="91440" marT="41148" marB="41148">
                    <a:solidFill>
                      <a:srgbClr val="C2410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0~10분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오프닝: 순위 1위인데 매출이 안 늘어나는 이유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오프닝 스크립트 (마지막 슬라이드 참고)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10~30분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AI 검색의 변화 (AI Overviews · ChatGPT Search · Perplexity)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D1 웹검색 → D2 사이트 → D3 사이트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30~50분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SEO/AEO/GEO 개념 구분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강의 중심 · D5 뉴스 1건 인용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50~70분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국내 맥락: 네이버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D4 사이트 (네이버 탭 투어)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70~95분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실습: 내 브랜드를 AI에게 물어보기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실습 순회 지도 — 막힌 수강생은 질문 4종 세트부터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95~110분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그룹 리뷰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팀별 1발견 발표, 강사는 공통 패턴 3개 화이트보드 정리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110~120분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과제 안내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미션 슬라이드 + 공유 시트 링크 배포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라이브 시연 시나리오 ① (D1~D3)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42955" y="475488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42955" y="486460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100" b="1" i="0" spc="2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유형 태그로 화면을 구분하고, '검색/링크'는 그대로 입력, '멘트'는 그 자리에서 말할 문장입니다.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[강사용] AI 시대 마케팅, 누가 살아남을까? — 6주 실무 스터디   |   1회차 · AI가 바꾼 발견의 구조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17904"/>
            <a:ext cx="11057839" cy="15118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517904"/>
            <a:ext cx="82296" cy="15118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66420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11927"/>
                </a:solidFill>
                <a:latin typeface="맑은 고딕"/>
                <a:ea typeface="맑은 고딕"/>
              </a:rPr>
              <a:t>D1 · 10~30분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2609088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620060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웹검색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12848" y="1664208"/>
            <a:ext cx="12801" cy="121920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14016" y="1636776"/>
            <a:ext cx="90095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111927"/>
                </a:solidFill>
                <a:latin typeface="맑은 고딕"/>
                <a:ea typeface="맑은 고딕"/>
              </a:rPr>
              <a:t>구글 AI Overviews 실물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14016" y="2002536"/>
            <a:ext cx="9009583" cy="402336"/>
          </a:xfrm>
          <a:prstGeom prst="roundRect">
            <a:avLst>
              <a:gd name="adj" fmla="val 14000"/>
            </a:avLst>
          </a:prstGeom>
          <a:solidFill>
            <a:srgbClr val="FB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2032" y="2020824"/>
            <a:ext cx="87535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 spc="30">
                <a:solidFill>
                  <a:srgbClr val="C2410C"/>
                </a:solidFill>
                <a:latin typeface="맑은 고딕"/>
                <a:ea typeface="맑은 고딕"/>
              </a:rPr>
              <a:t>검색/링크   </a:t>
            </a:r>
            <a:r>
              <a:rPr sz="1000" b="0" i="0">
                <a:solidFill>
                  <a:srgbClr val="374151"/>
                </a:solidFill>
                <a:latin typeface="Consolas"/>
                <a:ea typeface="맑은 고딕"/>
              </a:rPr>
              <a:t>google.com에서 영어 질문:   "best crm for small business"   한국어: "러닝화 입문 추천"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14016" y="2487168"/>
            <a:ext cx="9009583" cy="46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 i="0" spc="30">
                <a:solidFill>
                  <a:srgbClr val="2563EB"/>
                </a:solidFill>
                <a:latin typeface="맑은 고딕"/>
                <a:ea typeface="맑은 고딕"/>
              </a:rPr>
              <a:t>멘트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"답이 링크 위에 먼저 나옵니다. 사용자는 이제 여기서 끝낼 수 있어요." 출처 패널을 펼쳐 인용 사이트를 보여줄 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212592"/>
            <a:ext cx="11057839" cy="15118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212592"/>
            <a:ext cx="82296" cy="15118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358896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11927"/>
                </a:solidFill>
                <a:latin typeface="맑은 고딕"/>
                <a:ea typeface="맑은 고딕"/>
              </a:rPr>
              <a:t>D2 · 10~30분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4303776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314748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사이트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12848" y="3358896"/>
            <a:ext cx="12801" cy="121920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14016" y="3331464"/>
            <a:ext cx="90095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111927"/>
                </a:solidFill>
                <a:latin typeface="맑은 고딕"/>
                <a:ea typeface="맑은 고딕"/>
              </a:rPr>
              <a:t>Perplexity 출처 구조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14016" y="3697224"/>
            <a:ext cx="9009583" cy="402336"/>
          </a:xfrm>
          <a:prstGeom prst="roundRect">
            <a:avLst>
              <a:gd name="adj" fmla="val 14000"/>
            </a:avLst>
          </a:prstGeom>
          <a:solidFill>
            <a:srgbClr val="FB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42032" y="3715512"/>
            <a:ext cx="87535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 spc="30">
                <a:solidFill>
                  <a:srgbClr val="C2410C"/>
                </a:solidFill>
                <a:latin typeface="맑은 고딕"/>
                <a:ea typeface="맑은 고딕"/>
              </a:rPr>
              <a:t>검색/링크   </a:t>
            </a:r>
            <a:r>
              <a:rPr sz="1000" b="0" i="0">
                <a:solidFill>
                  <a:srgbClr val="374151"/>
                </a:solidFill>
                <a:latin typeface="Consolas"/>
                <a:ea typeface="맑은 고딕"/>
              </a:rPr>
              <a:t>perplexity.ai   질문: "국내 [수강생 업종] 서비스 추천해줘"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14016" y="4181856"/>
            <a:ext cx="9009583" cy="469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 i="0" spc="30">
                <a:solidFill>
                  <a:srgbClr val="0F766E"/>
                </a:solidFill>
                <a:latin typeface="맑은 고딕"/>
                <a:ea typeface="맑은 고딕"/>
              </a:rPr>
              <a:t>멘트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답변 말고 출처 번호부터 클릭. "어떤 문서가 뽑혔는지 눈으로 확인 가능한 유일한 도구"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907280"/>
            <a:ext cx="11057839" cy="15118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907280"/>
            <a:ext cx="82296" cy="15118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053584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11927"/>
                </a:solidFill>
                <a:latin typeface="맑은 고딕"/>
                <a:ea typeface="맑은 고딕"/>
              </a:rPr>
              <a:t>D3 · 10~30분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" y="5998464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6009436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사이트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12848" y="5053584"/>
            <a:ext cx="12801" cy="121920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14016" y="5026152"/>
            <a:ext cx="90095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111927"/>
                </a:solidFill>
                <a:latin typeface="맑은 고딕"/>
                <a:ea typeface="맑은 고딕"/>
              </a:rPr>
              <a:t>ChatGPT Search 같은 질문 비교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14016" y="5391912"/>
            <a:ext cx="9009583" cy="402336"/>
          </a:xfrm>
          <a:prstGeom prst="roundRect">
            <a:avLst>
              <a:gd name="adj" fmla="val 14000"/>
            </a:avLst>
          </a:prstGeom>
          <a:solidFill>
            <a:srgbClr val="FB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2032" y="5410200"/>
            <a:ext cx="87535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 spc="30">
                <a:solidFill>
                  <a:srgbClr val="C2410C"/>
                </a:solidFill>
                <a:latin typeface="맑은 고딕"/>
                <a:ea typeface="맑은 고딕"/>
              </a:rPr>
              <a:t>검색/링크   </a:t>
            </a:r>
            <a:r>
              <a:rPr sz="1000" b="0" i="0">
                <a:solidFill>
                  <a:srgbClr val="374151"/>
                </a:solidFill>
                <a:latin typeface="Consolas"/>
                <a:ea typeface="맑은 고딕"/>
              </a:rPr>
              <a:t>chatgpt.com (검색 활성화)   D2와 동일 질문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14016" y="5876544"/>
            <a:ext cx="9009583" cy="469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 i="0" spc="30">
                <a:solidFill>
                  <a:srgbClr val="0F766E"/>
                </a:solidFill>
                <a:latin typeface="맑은 고딕"/>
                <a:ea typeface="맑은 고딕"/>
              </a:rPr>
              <a:t>멘트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Perplexity와 추천 목록이 다름을 대조. "엔진마다 다른 브랜드를 추천합니다 — 그래서 전부 측정해야 합니다"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라이브 시연 시나리오 ② (D4~D5)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42955" y="475488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42955" y="486460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100" b="1" i="0" spc="2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[강사용] AI 시대 마케팅, 누가 살아남을까? — 6주 실무 스터디   |   1회차 · AI가 바꾼 발견의 구조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225295"/>
            <a:ext cx="11057839" cy="22677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225295"/>
            <a:ext cx="82296" cy="22677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37159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11927"/>
                </a:solidFill>
                <a:latin typeface="맑은 고딕"/>
                <a:ea typeface="맑은 고딕"/>
              </a:rPr>
              <a:t>D4 · 50~70분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3072384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083356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사이트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12848" y="1371599"/>
            <a:ext cx="12801" cy="197510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14016" y="1344167"/>
            <a:ext cx="90095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111927"/>
                </a:solidFill>
                <a:latin typeface="맑은 고딕"/>
                <a:ea typeface="맑은 고딕"/>
              </a:rPr>
              <a:t>네이버 발견 경로 투어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14016" y="1709927"/>
            <a:ext cx="9009583" cy="402336"/>
          </a:xfrm>
          <a:prstGeom prst="roundRect">
            <a:avLst>
              <a:gd name="adj" fmla="val 14000"/>
            </a:avLst>
          </a:prstGeom>
          <a:solidFill>
            <a:srgbClr val="FB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42032" y="1728215"/>
            <a:ext cx="87535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 spc="30">
                <a:solidFill>
                  <a:srgbClr val="C2410C"/>
                </a:solidFill>
                <a:latin typeface="맑은 고딕"/>
                <a:ea typeface="맑은 고딕"/>
              </a:rPr>
              <a:t>검색/링크   </a:t>
            </a:r>
            <a:r>
              <a:rPr sz="1000" b="0" i="0">
                <a:solidFill>
                  <a:srgbClr val="374151"/>
                </a:solidFill>
                <a:latin typeface="Consolas"/>
                <a:ea typeface="맑은 고딕"/>
              </a:rPr>
              <a:t>naver.com 동일 키워드 →   통합검색 → 블로그 → 카페 → 쇼핑 탭 순서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4016" y="2194559"/>
            <a:ext cx="9009583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 i="0" spc="30">
                <a:solidFill>
                  <a:srgbClr val="0F766E"/>
                </a:solidFill>
                <a:latin typeface="맑은 고딕"/>
                <a:ea typeface="맑은 고딕"/>
              </a:rPr>
              <a:t>멘트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"국내 구매 여정은 여전히 여기서 시작됩니다. 구글계와 노출 브랜드가 어떻게 다른지 보세요"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675887"/>
            <a:ext cx="11057839" cy="22677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675887"/>
            <a:ext cx="82296" cy="226771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822191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11927"/>
                </a:solidFill>
                <a:latin typeface="맑은 고딕"/>
                <a:ea typeface="맑은 고딕"/>
              </a:rPr>
              <a:t>D5 · 30~50분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5522976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533948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뉴스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12848" y="3822191"/>
            <a:ext cx="12801" cy="197510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14016" y="3794759"/>
            <a:ext cx="90095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111927"/>
                </a:solidFill>
                <a:latin typeface="맑은 고딕"/>
                <a:ea typeface="맑은 고딕"/>
              </a:rPr>
              <a:t>제로클릭/AI 검색 트래픽 기사 1건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14016" y="4160520"/>
            <a:ext cx="9009583" cy="402336"/>
          </a:xfrm>
          <a:prstGeom prst="roundRect">
            <a:avLst>
              <a:gd name="adj" fmla="val 14000"/>
            </a:avLst>
          </a:prstGeom>
          <a:solidFill>
            <a:srgbClr val="FB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42032" y="4178807"/>
            <a:ext cx="87535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 spc="30">
                <a:solidFill>
                  <a:srgbClr val="C2410C"/>
                </a:solidFill>
                <a:latin typeface="맑은 고딕"/>
                <a:ea typeface="맑은 고딕"/>
              </a:rPr>
              <a:t>검색/링크   </a:t>
            </a:r>
            <a:r>
              <a:rPr sz="1000" b="0" i="0">
                <a:solidFill>
                  <a:srgbClr val="374151"/>
                </a:solidFill>
                <a:latin typeface="Consolas"/>
                <a:ea typeface="맑은 고딕"/>
              </a:rPr>
              <a:t>구글 뉴스 검색:   "제로클릭 검색" 또는   "AI Overviews 트래픽 감소"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14016" y="4645152"/>
            <a:ext cx="9009583" cy="12252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 i="0" spc="30">
                <a:solidFill>
                  <a:srgbClr val="B45309"/>
                </a:solidFill>
                <a:latin typeface="맑은 고딕"/>
                <a:ea typeface="맑은 고딕"/>
              </a:rPr>
              <a:t>멘트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기사 헤드라인만 보여주고 "업계 전체의 문제이지 여러분 회사만의 문제가 아닙니다"로 안심+긴장 동시 유발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6035040"/>
            <a:ext cx="11057839" cy="420624"/>
          </a:xfrm>
          <a:prstGeom prst="roundRect">
            <a:avLst>
              <a:gd name="adj" fmla="val 22000"/>
            </a:avLst>
          </a:prstGeom>
          <a:solidFill>
            <a:srgbClr val="FB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6035040"/>
            <a:ext cx="68580" cy="42062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6035040"/>
            <a:ext cx="106737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50">
                <a:solidFill>
                  <a:srgbClr val="C2410C"/>
                </a:solidFill>
                <a:latin typeface="맑은 고딕"/>
                <a:ea typeface="맑은 고딕"/>
              </a:rPr>
              <a:t>TIP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모든 링크·검색어는 수업 전날 접속·노출을 확인하세요. AI 결과는 시점·계정·지역에 따라 달라집니다.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핵심 시연 D1 상세 — 첫 15분에 승부가 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42955" y="475488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42955" y="486460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100" b="1" i="0" spc="2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1회차 몰입도는 D1~D3 연속 시연의 충격에서 나옵니다. 리허설을 권장합니다.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[강사용] AI 시대 마케팅, 누가 살아남을까? — 6주 실무 스터디   |   1회차 · AI가 바꾼 발견의 구조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499616"/>
            <a:ext cx="5419191" cy="4919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99616"/>
            <a:ext cx="64008" cy="49194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" y="1645920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1656892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웹검색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5958" y="1627632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D1. AI Overviews — 진행 순서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048256"/>
            <a:ext cx="5035143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구글에서 일반 키워드("러닝화") 검색 → 익숙한 결과 화면 확인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질문형("발볼 넓은 사람 러닝화 추천")으로 재검색 → AI 답변 등장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출처 펼치기 → "여기 인용된 사이트가 오늘의 승자입니다"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주의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미노출 시 영어 질문 전환 또는 백업 캡처 — 당황 금지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499616"/>
            <a:ext cx="5419191" cy="4919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499616"/>
            <a:ext cx="64008" cy="49194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645920"/>
            <a:ext cx="94366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656892"/>
            <a:ext cx="9436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라이브 시연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6707" y="1627632"/>
            <a:ext cx="39726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D2+D3. 같은 질문, 다른 답 — 진행 순서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031" y="2048256"/>
            <a:ext cx="5035143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수강생에게 업종 하나를 받아 즉석에서 질문 생성 (참여 유도)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Perplexity → ChatGPT 순서로 동일 질문 입력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추천 브랜드 목록을 화이트보드에 나란히 적기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포인트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"두 목록에 다 들어간 브랜드는 뭘 잘했을까요?" → 30~50분 개념 강의로 자연 연결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보조 자료 — 유튜브 · 논문 (여유 시간용)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42955" y="475488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42955" y="486460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100" b="1" i="0" spc="2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[강사용] AI 시대 마케팅, 누가 살아남을까? — 6주 실무 스터디   |   1회차 · AI가 바꾼 발견의 구조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207007"/>
            <a:ext cx="5419191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207007"/>
            <a:ext cx="64008" cy="5212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1353311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364283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유튜브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5958" y="1335023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Google Search Central 채널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1755647"/>
            <a:ext cx="5035143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링크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youtube.com/@GoogleSearchCentral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검색어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채널 내 "AI Overviews" 또는 "AI features"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용도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30~50분 개념 파트에서 '구글 공식 입장' 인용 시 1~2분 클립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팁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영어 영상은 자동 자막 켜고 핵심 구간만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5575" y="1207007"/>
            <a:ext cx="5419191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5575" y="1207007"/>
            <a:ext cx="64008" cy="5212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25031" y="1353311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5031" y="1364283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사이트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4605" y="1335023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GEO 논문 (연구 근거 제시용)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5031" y="1755647"/>
            <a:ext cx="5035143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링크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arxiv.org/abs/2311.09735 — "GEO: Generative Engine Optimization"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용도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"GEO는 마케팅 용어가 아니라 연구 주제입니다" 신뢰 확보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보여줄 것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초록 화면만 10초 — 읽지 말고 존재만 증명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추가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4회차에서 다시 등장한다고 예고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시연 백업 플랜 — 라이브가 실패할 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42955" y="475488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42955" y="486460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100" b="1" i="0" spc="2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AI 시연은 반드시 실패를 전제로 준비합니다. 실패 자체가 최고의 교육 소재입니다.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[강사용] AI 시대 마케팅, 누가 살아남을까? — 6주 실무 스터디   |   1회차 · AI가 바꾼 발견의 구조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499616"/>
            <a:ext cx="5419191" cy="2350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99616"/>
            <a:ext cx="64008" cy="235000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" y="1645920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1656892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백업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5958" y="1627632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수업 전날 스크린샷 세트 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048256"/>
            <a:ext cx="5035143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모든 라이브 시연의 결과 화면을 전날 캡처해 슬라이드 뒤에 붙여둔다.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캡처에는 날짜·도구·질문이 함께 보이게 찍는다.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네트워크/로그인 장애 시 즉시 스크린샷으로 전환.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499616"/>
            <a:ext cx="5419191" cy="2350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499616"/>
            <a:ext cx="64008" cy="235000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645920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656892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백업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4605" y="1627632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결과가 어제와 다르게 나올 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031" y="2048256"/>
            <a:ext cx="5035143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당황하지 말고 그대로 교육 포인트로 전환: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"보세요, 어제는 이렇게 나왔는데 오늘은 다릅니다."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"이래서 AI 검색은 1회 확인이 아니라 반복 측정이 필요합니다."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069080"/>
            <a:ext cx="5419191" cy="2350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069080"/>
            <a:ext cx="64008" cy="235000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6384" y="4215384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226356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백업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5958" y="4197096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AI Overviews가 안 뜰 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4617720"/>
            <a:ext cx="5035143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지역·계정·언어에 따라 미노출이 정상임을 설명.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영어 질문으로 재시도 → 그래도 없으면 준비한 캡처 사용.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"안 뜨는 것 자체가 '노출은 통제 밖'이라는 증거"로 연결.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5575" y="4069080"/>
            <a:ext cx="5419191" cy="2350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5575" y="4069080"/>
            <a:ext cx="64008" cy="235000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25031" y="4215384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5031" y="4226356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백업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4605" y="4197096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수강생 브랜드가 아예 안 나올 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5031" y="4617720"/>
            <a:ext cx="5035143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"언급 0회도 소중한 데이터"라고 먼저 프레이밍.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잘 나오는 공개 브랜드(무신사, 배민 등)로 대조 시연.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차이의 원인(콘텐츠·리뷰·언론 량)을 토론으로 유도.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미션 배포문 — 이대로 공유 시트에 게시하세요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42955" y="475488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42955" y="486460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100" b="1" i="0" spc="2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미션: 우리 브랜드의 AI 검색 질문 20개 만들기 + 결과 기록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[강사용] AI 시대 마케팅, 누가 살아남을까? — 6주 실무 스터디   |   1회차 · AI가 바꾼 발견의 구조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499616"/>
            <a:ext cx="11057839" cy="4407408"/>
          </a:xfrm>
          <a:prstGeom prst="roundRect">
            <a:avLst>
              <a:gd name="adj" fmla="val 2500"/>
            </a:avLst>
          </a:prstGeom>
          <a:solidFill>
            <a:srgbClr val="0E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1499616"/>
            <a:ext cx="11057839" cy="329184"/>
          </a:xfrm>
          <a:prstGeom prst="roundRect">
            <a:avLst>
              <a:gd name="adj" fmla="val 250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1664208"/>
            <a:ext cx="11057839" cy="164592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6384" y="16184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1" y="16184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88720" y="16184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81328" y="1499616"/>
            <a:ext cx="996055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 spc="120">
                <a:solidFill>
                  <a:srgbClr val="7C8AA5"/>
                </a:solidFill>
                <a:latin typeface="맑은 고딕"/>
                <a:ea typeface="맑은 고딕"/>
              </a:rPr>
              <a:t>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1975104"/>
            <a:ext cx="10436047" cy="3803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[1회차 미션] 내 브랜드 AI 검색 가시성 리서치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1. 우리 브랜드/클라이언트에 대한 질문 20개를 만든다.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  - 브랜드 직접 질문 5개 / 카테고리 추천 5개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  - 비교 질문 5개 / 문제 해결 질문 5개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2. ChatGPT, Perplexity, Gemini, 구글, 네이버 중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  3개 이상 도구에서 테스트한다.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3. 수업에서 배포한 진단표 양식에 기록한다.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  (언급 여부 / 경쟁사 / 인용 출처 / 오류·누락 / 다음 액션)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4. 대표 스크린샷 5장을 함께 제출한다.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  - 반드시 날짜와 도구 이름이 보이게 캡처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제출: 다음 수업 전날 23:59까지 공유 시트에 업로드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분량: 진단표 1장 + 스크린샷 5장 (보고서 형식 불필요)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6035040"/>
            <a:ext cx="11057839" cy="420624"/>
          </a:xfrm>
          <a:prstGeom prst="roundRect">
            <a:avLst>
              <a:gd name="adj" fmla="val 22000"/>
            </a:avLst>
          </a:prstGeom>
          <a:solidFill>
            <a:srgbClr val="FB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6035040"/>
            <a:ext cx="68580" cy="42062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6035040"/>
            <a:ext cx="106737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50">
                <a:solidFill>
                  <a:srgbClr val="C2410C"/>
                </a:solidFill>
                <a:latin typeface="맑은 고딕"/>
                <a:ea typeface="맑은 고딕"/>
              </a:rPr>
              <a:t>TIP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강조할 것: '20개를 다 잘 만드는 것'보다 '기록 습관'이 목적. 결과가 처참해도 그게 정상이라고 미리 말해줄 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미션 평가 루브릭 — 피드백 기준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42955" y="475488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42955" y="486460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100" b="1" i="0" spc="2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점수화가 목적이 아니라, 다음 주 첫 15분 과제 리뷰에서 '무엇을 칭찬하고 무엇을 교정할지' 기준입니다.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[강사용] AI 시대 마케팅, 누가 살아남을까? — 6주 실무 스터디   |   1회차 · AI가 바꾼 발견의 구조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1499616"/>
          <a:ext cx="11057837" cy="179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9129"/>
                <a:gridCol w="822483"/>
                <a:gridCol w="4203806"/>
                <a:gridCol w="4112419"/>
              </a:tblGrid>
              <a:tr h="330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평가 항목</a:t>
                      </a:r>
                    </a:p>
                  </a:txBody>
                  <a:tcPr anchor="ctr" marL="100584" marR="91440" marT="41148" marB="41148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배점</a:t>
                      </a:r>
                    </a:p>
                  </a:txBody>
                  <a:tcPr anchor="ctr" marL="100584" marR="91440" marT="41148" marB="41148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우수 (이렇게 하면 칭찬)</a:t>
                      </a:r>
                    </a:p>
                  </a:txBody>
                  <a:tcPr anchor="ctr" marL="100584" marR="91440" marT="41148" marB="41148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미흡 (이렇게 오면 교정)</a:t>
                      </a:r>
                    </a:p>
                  </a:txBody>
                  <a:tcPr anchor="ctr" marL="100584" marR="91440" marT="41148" marB="41148">
                    <a:solidFill>
                      <a:srgbClr val="C2410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질문 품질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30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4개 유형 고르게, 실제 고객 언어로 작성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"OO 어때?"식 동어반복 20개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도구 커버리지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20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3개 이상 도구, 구글계+네이버 모두 포함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ChatGPT 하나로만 테스트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기록 충실도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30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날짜·도구·인용 출처까지 기록, 캡처에 날짜 노출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언급 O/X만 표시하고 출처 없음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다음 액션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20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발견마다 '그래서 뭘 할지' 1줄씩 도출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액션 칸 공란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66928" y="6035040"/>
            <a:ext cx="11057839" cy="420624"/>
          </a:xfrm>
          <a:prstGeom prst="roundRect">
            <a:avLst>
              <a:gd name="adj" fmla="val 22000"/>
            </a:avLst>
          </a:prstGeom>
          <a:solidFill>
            <a:srgbClr val="FB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6035040"/>
            <a:ext cx="68580" cy="42062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6035040"/>
            <a:ext cx="106737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50">
                <a:solidFill>
                  <a:srgbClr val="C2410C"/>
                </a:solidFill>
                <a:latin typeface="맑은 고딕"/>
                <a:ea typeface="맑은 고딕"/>
              </a:rPr>
              <a:t>TIP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다음 주 과제 리뷰(15분)에서: 우수 사례 2개 화면 공유 + 공통 실수 1개 교정. 개별 지적은 시트 코멘트로.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토론 유도 질문 &amp; 예상 질문 대응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42955" y="475488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42955" y="486460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100" b="1" i="0" spc="2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[강사용] AI 시대 마케팅, 누가 살아남을까? — 6주 실무 스터디   |   1회차 · AI가 바꾼 발견의 구조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207007"/>
            <a:ext cx="5400903" cy="5120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207007"/>
            <a:ext cx="5400903" cy="493776"/>
          </a:xfrm>
          <a:prstGeom prst="roundRect">
            <a:avLst>
              <a:gd name="adj" fmla="val 45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53895"/>
            <a:ext cx="5400903" cy="24688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207007"/>
            <a:ext cx="499856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그룹 리뷰에서 던질 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1865375"/>
            <a:ext cx="4961991" cy="4297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700" b="0" i="0">
                <a:solidFill>
                  <a:srgbClr val="C2410C"/>
                </a:solidFill>
                <a:latin typeface="맑은 고딕"/>
                <a:ea typeface="맑은 고딕"/>
              </a:rPr>
              <a:t>■  </a:t>
            </a:r>
            <a:r>
              <a:rPr sz="1300" b="0" i="0">
                <a:solidFill>
                  <a:srgbClr val="111927"/>
                </a:solidFill>
                <a:latin typeface="맑은 고딕"/>
                <a:ea typeface="맑은 고딕"/>
              </a:rPr>
              <a:t>"AI가 우리를 설명한 문장 중 가장 틀린 것은?"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700" b="0" i="0">
                <a:solidFill>
                  <a:srgbClr val="C2410C"/>
                </a:solidFill>
                <a:latin typeface="맑은 고딕"/>
                <a:ea typeface="맑은 고딕"/>
              </a:rPr>
              <a:t>■  </a:t>
            </a:r>
            <a:r>
              <a:rPr sz="1300" b="0" i="0">
                <a:solidFill>
                  <a:srgbClr val="111927"/>
                </a:solidFill>
                <a:latin typeface="맑은 고딕"/>
                <a:ea typeface="맑은 고딕"/>
              </a:rPr>
              <a:t>"경쟁사가 추천된 이유를 출처에서 찾아보면?"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700" b="0" i="0">
                <a:solidFill>
                  <a:srgbClr val="C2410C"/>
                </a:solidFill>
                <a:latin typeface="맑은 고딕"/>
                <a:ea typeface="맑은 고딕"/>
              </a:rPr>
              <a:t>■  </a:t>
            </a:r>
            <a:r>
              <a:rPr sz="1300" b="0" i="0">
                <a:solidFill>
                  <a:srgbClr val="111927"/>
                </a:solidFill>
                <a:latin typeface="맑은 고딕"/>
                <a:ea typeface="맑은 고딕"/>
              </a:rPr>
              <a:t>"AI 답변의 근거는 누가 만든 콘텐츠였나요?"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9AA4B2"/>
                </a:solidFill>
                <a:latin typeface="맑은 고딕"/>
                <a:ea typeface="맑은 고딕"/>
              </a:rPr>
              <a:t>      –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→ 커뮤니티/리뷰가 근거인 경우가 많다는 발견으로 유도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1207007"/>
            <a:ext cx="5400903" cy="5120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3863" y="1207007"/>
            <a:ext cx="5400903" cy="493776"/>
          </a:xfrm>
          <a:prstGeom prst="roundRect">
            <a:avLst>
              <a:gd name="adj" fmla="val 4500"/>
            </a:avLst>
          </a:prstGeom>
          <a:solidFill>
            <a:srgbClr val="9A3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1453895"/>
            <a:ext cx="5400903" cy="246888"/>
          </a:xfrm>
          <a:prstGeom prst="rect">
            <a:avLst/>
          </a:prstGeom>
          <a:solidFill>
            <a:srgbClr val="9A3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5031" y="1207007"/>
            <a:ext cx="499856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예상 질문과 답변 가이드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3319" y="1865375"/>
            <a:ext cx="4961991" cy="4297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700" b="0" i="0">
                <a:solidFill>
                  <a:srgbClr val="9A3412"/>
                </a:solidFill>
                <a:latin typeface="맑은 고딕"/>
                <a:ea typeface="맑은 고딕"/>
              </a:rPr>
              <a:t>■  </a:t>
            </a:r>
            <a:r>
              <a:rPr sz="1300" b="0" i="0">
                <a:solidFill>
                  <a:srgbClr val="111927"/>
                </a:solidFill>
                <a:latin typeface="맑은 고딕"/>
                <a:ea typeface="맑은 고딕"/>
              </a:rPr>
              <a:t>"AI 답변이 매번 다른데 측정이 의미 있나요?"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9AA4B2"/>
                </a:solidFill>
                <a:latin typeface="맑은 고딕"/>
                <a:ea typeface="맑은 고딕"/>
              </a:rPr>
              <a:t>      –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→ "그래서 1회가 아니라 반복 측정입니다. 4회차에서 언급률 개념을 배웁니다"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700" b="0" i="0">
                <a:solidFill>
                  <a:srgbClr val="9A3412"/>
                </a:solidFill>
                <a:latin typeface="맑은 고딕"/>
                <a:ea typeface="맑은 고딕"/>
              </a:rPr>
              <a:t>■  </a:t>
            </a:r>
            <a:r>
              <a:rPr sz="1300" b="0" i="0">
                <a:solidFill>
                  <a:srgbClr val="111927"/>
                </a:solidFill>
                <a:latin typeface="맑은 고딕"/>
                <a:ea typeface="맑은 고딕"/>
              </a:rPr>
              <a:t>"우리 회사는 네이버가 전부인데 구글계를 봐야 하나요?"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9AA4B2"/>
                </a:solidFill>
                <a:latin typeface="맑은 고딕"/>
                <a:ea typeface="맑은 고딕"/>
              </a:rPr>
              <a:t>      –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→ "고객의 정보 탐색은 이미 섞여 있습니다. 비중이 아니라 방향을 보세요"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700" b="0" i="0">
                <a:solidFill>
                  <a:srgbClr val="9A3412"/>
                </a:solidFill>
                <a:latin typeface="맑은 고딕"/>
                <a:ea typeface="맑은 고딕"/>
              </a:rPr>
              <a:t>■  </a:t>
            </a:r>
            <a:r>
              <a:rPr sz="1300" b="0" i="0">
                <a:solidFill>
                  <a:srgbClr val="111927"/>
                </a:solidFill>
                <a:latin typeface="맑은 고딕"/>
                <a:ea typeface="맑은 고딕"/>
              </a:rPr>
              <a:t>"SEO 업체가 GEO 상품을 팔던데 사야 하나요?"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9AA4B2"/>
                </a:solidFill>
                <a:latin typeface="맑은 고딕"/>
                <a:ea typeface="맑은 고딕"/>
              </a:rPr>
              <a:t>      –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→ "이 6주 뒤에 직접 판단할 수 있게 됩니다. 지금은 보류"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수업 전 준비 체크리스트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42955" y="475488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42955" y="486460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100" b="1" i="0" spc="2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[강사용] AI 시대 마케팅, 누가 살아남을까? — 6주 실무 스터디   |   1회차 · AI가 바꾼 발견의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225295"/>
            <a:ext cx="10607040" cy="4709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C2410C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계정/화면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ChatGPT·Perplexity·Gemini 로그인 상태, 시연용 브라우저 프로필 분리(개인 기록 노출 방지)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구글 검색은 시크릿 창 — 개인화 최소화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C2410C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자료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D1~D5 백업 스크린샷 (전날 캡처, 날짜 포함)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진단표 양식 공유 시트 링크, 미션 배포문 게시 준비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C2410C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리허설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D1~D3 연속 시연 1회 리허설 (15분) — 질문 문장 미리 확정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수강생 업종 목록 미리 파악 → 시연 질문을 그 업종으로 준비하면 몰입도 2배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C2410C"/>
                </a:solidFill>
                <a:latin typeface="맑은 고딕"/>
                <a:ea typeface="맑은 고딕"/>
              </a:rPr>
              <a:t>■  </a:t>
            </a:r>
            <a:r>
              <a:rPr sz="1550" b="0" i="0">
                <a:solidFill>
                  <a:srgbClr val="B45309"/>
                </a:solidFill>
                <a:latin typeface="맑은 고딕"/>
                <a:ea typeface="맑은 고딕"/>
              </a:rPr>
              <a:t>오프닝 스크립트 (요지): "AI 시대에 마케터는 사라질까요? 반은 맞고 반은 틀립니다. 카피를 찍어내는 사람은 위험하고, 질문을 정의하고 근거를 만드는 사람은 더 중요해집니다."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