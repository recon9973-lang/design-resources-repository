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1554480"/>
            <a:ext cx="12801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2121408"/>
            <a:ext cx="2194560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688336"/>
            <a:ext cx="17373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3255263"/>
            <a:ext cx="2743200" cy="310896"/>
          </a:xfrm>
          <a:prstGeom prst="rect">
            <a:avLst/>
          </a:prstGeom>
          <a:solidFill>
            <a:srgbClr val="4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3822191"/>
            <a:ext cx="201168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463039"/>
            <a:ext cx="18288" cy="29260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96596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 spc="120">
                <a:solidFill>
                  <a:srgbClr val="4FB2E5"/>
                </a:solidFill>
                <a:latin typeface="Arial"/>
                <a:ea typeface="Noto Sans CJK KR"/>
              </a:rPr>
              <a:t>AI 시대 마케팅, 누가 살아남을까? — 6주 실무 스터디  |  4회차 강사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Noto Sans CJK KR"/>
              </a:rPr>
              <a:t>[강사용] GEO — 생성형 엔진에 인용되는 브랜드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09160"/>
            <a:ext cx="7955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수업 운영 흐름 · 라이브 시연 시나리오 · 수강생 미션 · 평가 기준
핵심 질문: ChatGPT/Perplexity/AI Overviews에 어떻게 등장할까?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144768"/>
            <a:ext cx="11368735" cy="0"/>
          </a:xfrm>
          <a:prstGeom prst="line">
            <a:avLst/>
          </a:prstGeom>
          <a:ln w="9525">
            <a:solidFill>
              <a:srgbClr val="1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236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8DA0BC"/>
                </a:solidFill>
                <a:latin typeface="Arial"/>
                <a:ea typeface="Noto Sans CJK KR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735" y="6236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0" i="0">
                <a:solidFill>
                  <a:srgbClr val="6E82A0"/>
                </a:solidFill>
                <a:latin typeface="Arial"/>
                <a:ea typeface="Noto Sans CJK KR"/>
              </a:rPr>
              <a:t>[강사용]  AI Marketing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운영 타임라인 × 시연 매핑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1463040"/>
          <a:ext cx="11368733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5390"/>
                <a:gridCol w="5073650"/>
                <a:gridCol w="4979693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내용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시연/활동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0~15분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AEO 과제 리뷰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'한 문장 답' 우수 사례 낭독 2건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15~35분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GEO 개념과 연구 흐름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D1 사이트 (논문) + D5 뉴스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35~55분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인용 가능 콘텐츠의 조건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D2 사이트 (Perplexity 인용 추적)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55~75분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LLM의 브랜드 인식 경로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D3 웹검색 (5개 경로 실물 확인)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75~105분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실습: GEO 리라이트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D4 라이브 시연 후 개별 실습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105~120분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검색 재테스트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1회차 진단표와 비교 — 변화 없음도 정상임을 강조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라이브 시연 시나리오 ① (D1~D3)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유형 태그로 화면을 구분하고, '검색/링크'는 그대로 입력, '멘트'는 그 자리에서 말할 문장입니다.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73152" cy="141731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93852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D1 · 15~35분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" y="2788920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799892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사이트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1938528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8568" y="1911096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GEO 연구 존재 증명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8568" y="2276856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68296" y="2295144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arxiv.org/abs/2311.09735 (GEO 논문)   + 구글 공식: developers.google.com/search/   blog/2025/05/succeeding-in-ai-search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34056"/>
            <a:ext cx="9320479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2E9BD6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"업체 마케팅 용어가 아니라 연구·공식 문서가 있는 분야입니다." 논문 초록 10초 + 구글 블로그 제목만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74136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74136"/>
            <a:ext cx="73152" cy="141731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52044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D2 · 35~55분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" y="437083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438180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사이트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5688" y="3520440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8568" y="3493008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Perplexity 인용 역추적 (핵심 시연)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58568" y="3858768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8296" y="3877055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perplexity.ai에 브랜드/카테고리 질문   → 출처 번호 클릭 → 원문 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4315968"/>
            <a:ext cx="932047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2E9BD6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인용된 문서를 열어 7가지 조건(출처·구조·비교표·날짜)이 실제로 있는지 하나씩 확인. "인용되는 글은 이유가 있습니다"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956048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56048"/>
            <a:ext cx="73152" cy="1417319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510235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D3 · 55~75분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" y="5952744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5963716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웹검색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75688" y="5102352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58568" y="5074920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브랜드 인식 5경로 실물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8568" y="5440680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8296" y="5458968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한 브랜드로: ① 자사 사이트 ② 뉴스 검색   ③ 리뷰(스토어) ④ 커뮤니티(카페·레딧) ⑤ 위키/DB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8568" y="5897880"/>
            <a:ext cx="9320479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1F6FA8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5개 탭을 미리 열어두고 순서대로 전환. "AI는 이 다섯을 섞어 배웁니다. 자사 사이트만 고쳐선 부족합니다"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라이브 시연 시나리오 ② (D4~D5)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11368735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73152" cy="209397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0934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D4 · 75~105분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3136392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147364"/>
            <a:ext cx="9052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라이브 시연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1609344"/>
            <a:ext cx="10972" cy="180136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1581912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GEO 진단 프롬프트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8568" y="1947672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1965960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ChatGPT/Claude에 수강생 글 +   수업 자료의 6기준 진단 프롬프트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2404872"/>
            <a:ext cx="93204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0F2A4A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점수보다 '고칠 문장' 제안에 집중하라고 안내. 같은 프롬프트를 2번 돌려 점수가 달라지는 것도 보여주면 금상첨화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21608"/>
            <a:ext cx="11368735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21608"/>
            <a:ext cx="73152" cy="2093976"/>
          </a:xfrm>
          <a:prstGeom prst="rect">
            <a:avLst/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86791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D5 · 15~35분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" y="5394960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5405932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뉴스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75688" y="3867912"/>
            <a:ext cx="10972" cy="180136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58568" y="3840480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AI 검색과 트래픽 변화 기사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58568" y="4206240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8296" y="4224528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구글 뉴스 검색: "AI 검색 트래픽"   "Generative Engine Optimization"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4663440"/>
            <a:ext cx="9320479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E0A44A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"시장이 이 주제를 어떻게 부르는지 보세요. 용어가 난립할수록 원리(인용 가능한 근거)로 판단해야 합니다"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모든 링크·검색어는 수업 전날 접속·노출을 확인하세요. AI 결과는 시점·계정·지역에 따라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핵심 시연 상세 — 변동성 체험 (105~120분 재테스트 도입)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이 시연이 '반복 측정' 원칙을 몸으로 이해시킵니다.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5583783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956816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67788"/>
            <a:ext cx="9052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라이브 시연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1938528"/>
            <a:ext cx="4221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ChatGPT 3회 반복 실험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36311" cy="3959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1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같은 추천 질문을 새 대화 3개에서 연속 실행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2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추천 브랜드 목록을 판서로 3열 비교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3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"3회 중 2회 언급 = 언급률 67%" — 언급률 개념 도입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멘트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"한 번 나왔다고 좋아하고 한 번 빠졌다고 좌절하면 안 됩니다. 추세를 보세요"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1792224"/>
            <a:ext cx="5583783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유튜브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보조: GEO 해설 영상 (여유 시간)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2340864"/>
            <a:ext cx="5236311" cy="3959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검색어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유튜브: "Generative Engine Optimization"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용도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해외 실무자들의 접근을 1~2분 훑기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주의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과장된 '비법' 영상이 많음 — "공식 문서와 교차 검증"이라는 미디어 리터러시 교육 소재로 활용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타이밍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실습이 일찍 끝난 경우에만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시연 백업 플랜 — 라이브가 실패할 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AI 시연은 반드시 실패를 전제로 준비합니다. 실패 자체가 최고의 교육 소재입니다.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444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수업 전날 스크린샷 세트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캡처에는 날짜·도구·질문이 함께 보이게 찍는다.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네트워크/로그인 장애 시 즉시 스크린샷으로 전환.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결과가 어제와 다르게 나올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당황하지 말고 그대로 교육 포인트로 전환: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"보세요, 어제는 이렇게 나왔는데 오늘은 다릅니다."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"이래서 AI 검색은 1회 확인이 아니라 반복 측정이 필요합니다."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183380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444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AI Overviews가 안 뜰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지역·계정·언어에 따라 미노출이 정상임을 설명.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영어 질문으로 재시도 → 그래도 없으면 준비한 캡처 사용.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"안 뜨는 것 자체가 '노출은 통제 밖'이라는 증거"로 연결.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6431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6431" y="4183380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9311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9311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1395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수강생 브랜드가 아예 안 나올 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"언급 0회도 소중한 데이터"라고 먼저 프레이밍.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잘 나오는 공개 브랜드(무신사, 배민 등)로 대조 시연.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미션 배포문 — 이대로 공유 시트에 게시하세요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미션: 리라이트 전후를 AI 검색에 재질문하고 변화 기록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11368735" cy="400507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11368735" cy="31089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1792224"/>
            <a:ext cx="10362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FA8CC"/>
                </a:solidFill>
                <a:latin typeface="Arial"/>
                <a:ea typeface="Noto Sans CJK KR"/>
              </a:rP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49424"/>
            <a:ext cx="10820095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[4회차 미션] GEO 리라이트 전후 측정 리포트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1. 수업에서 리라이트한 콘텐츠를 마무리해 게시/수정한다.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  - 최소 적용: 비교표 1개, 출처 표기 3곳, 작성일 명시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2. 1회차 진단표의 질문 '그대로' 재테스트한다. (질문 변경 금지)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  - ChatGPT · Perplexity 각각, 같은 질문 3회 반복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  - 결과는 '3회 중 몇 회 언급'(언급률)으로 기록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Noto Sans CJK KR"/>
              </a:rPr>
              <a:t>3. 전후 비교표를 작성한다: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  - 바꾼 항목 / 수정 전 / 수정 후 / 관찰된 변화(없으면 '없음')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4. '여전히 남은 오류·누락' 목록과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  다음 리라이트 계획 3줄을 덧붙인다.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제출: 다음 수업 전날 23:59까지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주의: '변화 없음'은 실패가 아닙니다. 측정 조건을 지켰는지가 평가 기준입니다.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강조할 것: 3주 안에 AI 답변이 바뀌는 경우는 드뭅니다. 이 미션의 진짜 목적은 '측정 프로토콜 체화'라고 명확히 말해줄 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미션 평가 루브릭 — 피드백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점수화가 목적이 아니라, 다음 주 첫 15분 과제 리뷰에서 '무엇을 칭찬하고 무엇을 교정할지' 기준입니다.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792224"/>
          <a:ext cx="11368733" cy="179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086"/>
                <a:gridCol w="845608"/>
                <a:gridCol w="4321998"/>
                <a:gridCol w="4228041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평가 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배점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우수 (이렇게 하면 칭찬)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미흡 (이렇게 오면 교정)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측정 프로토콜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35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동일 질문·3회 반복·날짜 기록·언급률 표기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질문을 바꾸거나 1회만 실행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리라이트 실행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25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비교표·출처·날짜 3종 최소 적용 완료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진단만 하고 수정 없음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전후 비교표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20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항목별 전/후/변화가 한눈에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"좋아진 것 같다"류 서술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다음 계획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20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남은 오류 목록 + 구체적 다음 3걸음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계획 없이 종료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토론 유도 질문 &amp; 예상 질문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5565495" cy="4572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수업 중 던질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"Perplexity가 인용한 그 문서, 우리 글과 뭐가 달랐나요?"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"우리 브랜드의 5개 인식 경로 중 가장 약한 곳은?"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"경쟁사가 인용되는 건 콘텐츠 때문일까요, 리뷰·언론 때문일까요?"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4719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719" y="1463040"/>
            <a:ext cx="5565495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예상 질문과 답변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"리라이트했는데 AI 답변이 그대로예요"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"정상입니다. 색인·반영은 수주~수개월. 그래서 주간 로그로 추세를 봅니다"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"커뮤니티의 잘못된 정보는 어떻게 고치나요?"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"직접 수정은 불가. 정확한 공개 근거(공식 FAQ, 보도자료)를 늘려 무게중심을 옮기는 게 GEO적 해법입니다"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"GEO 대행 견적을 받았는데 적정한가요?"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"오늘 배운 7조건을 견적서 항목과 대조해보세요. 측정 계획이 없는 제안은 거르시면 됩니다"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수업 전 준비 체크리스트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시연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D2용 질문 사전 테스트 — 인용 출처가 풍부하게 나오는 질문으로 확정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D3용 브랜드 1개 선정, 5개 경로 탭 미리 열어두기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자료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GEO 진단 프롬프트 복사용 텍스트 배포 준비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1회차 진단표 양식 재배포 (재테스트용 열 추가 버전)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과제 리뷰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3회차 미션 중 '한 문장 답' 우수 블록 2건 선정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이번 주부터 제출물이 누적됨 — 수강생별 포트폴리오 폴더 정리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