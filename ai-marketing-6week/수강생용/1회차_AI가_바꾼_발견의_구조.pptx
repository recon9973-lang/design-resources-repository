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1975104"/>
            <a:ext cx="47548" cy="146304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1168" y="1874520"/>
            <a:ext cx="47548" cy="246888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120" y="1938528"/>
            <a:ext cx="47548" cy="182880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3072" y="1810512"/>
            <a:ext cx="47548" cy="31089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9024" y="1901952"/>
            <a:ext cx="47548" cy="21945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4976" y="1847088"/>
            <a:ext cx="47548" cy="274320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00928" y="1993392"/>
            <a:ext cx="47548" cy="12801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23113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 spc="60">
                <a:solidFill>
                  <a:srgbClr val="A5B4FC"/>
                </a:solidFill>
                <a:latin typeface="맑은 고딕"/>
                <a:ea typeface="맑은 고딕"/>
              </a:rPr>
              <a:t>AI 시대 마케팅, 누가 살아남을까? — 6주 실무 스터디  |  1회차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65176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900" b="1" i="0">
                <a:solidFill>
                  <a:srgbClr val="FFFFFF"/>
                </a:solidFill>
                <a:latin typeface="맑은 고딕"/>
                <a:ea typeface="맑은 고딕"/>
              </a:rPr>
              <a:t>AI가 바꾼 '발견'의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4261104"/>
            <a:ext cx="457200" cy="3200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443984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D5DAE6"/>
                </a:solidFill>
                <a:latin typeface="맑은 고딕"/>
                <a:ea typeface="맑은 고딕"/>
              </a:rPr>
              <a:t>핵심 질문: 검색 순위 1위인데, 왜 트래픽과 매출은 늘지 않을까?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60899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A94B2"/>
                </a:solidFill>
                <a:latin typeface="맑은 고딕"/>
                <a:ea typeface="맑은 고딕"/>
              </a:rPr>
              <a:t>실무 마케터 초중급 · 주 1회 2시간 · 기준일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오늘 수업이 끝나면, 여러분은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1회차 · AI가 바꾼 발견의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검색 → AI 답변으로 바뀐 '발견 경로'의 변화를 설명할 수 있다.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0" i="0">
                <a:solidFill>
                  <a:srgbClr val="374151"/>
                </a:solidFill>
                <a:latin typeface="맑은 고딕"/>
                <a:ea typeface="맑은 고딕"/>
              </a:rPr>
              <a:t>SEO / AEO / GEO 세 개념을 실무 언어로 구분할 수 있다.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0" i="0">
                <a:solidFill>
                  <a:srgbClr val="374151"/>
                </a:solidFill>
                <a:latin typeface="맑은 고딕"/>
                <a:ea typeface="맑은 고딕"/>
              </a:rPr>
              <a:t>ChatGPT · Perplexity · Gemini · 네이버에서 내 브랜드의 AI 검색 가시성을 직접 진단할 수 있다.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B45309"/>
                </a:solidFill>
                <a:latin typeface="맑은 고딕"/>
                <a:ea typeface="맑은 고딕"/>
              </a:rPr>
              <a:t>오늘의 산출물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내 브랜드 AI 검색 가시성 진단표 1장 (실습 시간에 직접 작성)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4338CA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이 과정의 목표는 툴 사용법 암기가 아니라, AI에게 브랜드가 어떻게 보이는지 '측정하고 고치는' 능력입니다.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오늘의 흐름 (120분)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1회차 · AI가 바꾼 발견의 구조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07007"/>
          <a:ext cx="11057838" cy="289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2183"/>
                <a:gridCol w="7088358"/>
                <a:gridCol w="2457297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방식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0~10분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오프닝: 검색 순위 1위인데 매출이 안 늘어나는 이유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강의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10~30분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AI 검색의 변화: Google AI Overviews · AI Mode · ChatGPT Search · Perplexity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강의 + 라이브 시연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30~50분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SEO / AEO / GEO 개념 구분: 순위 · 답변 · 인용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강의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50~70분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국내 시장 맥락: 네이버 검색, 블로그/카페/쇼핑, 서치어드바이저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강의 + 시연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70~95분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실습: 내 브랜드를 AI에게 물어보기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개인 실습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95~110분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그룹 리뷰: AI는 우리를 어떻게 오해하는가?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토론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110~120분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과제 안내 및 정리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안내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42432" y="1883664"/>
            <a:ext cx="47548" cy="12801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28384" y="1792224"/>
            <a:ext cx="47548" cy="21945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14336" y="1847088"/>
            <a:ext cx="47548" cy="164592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288" y="1755648"/>
            <a:ext cx="47548" cy="256032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6240" y="1865376"/>
            <a:ext cx="47548" cy="146304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39696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450" b="1" i="0" spc="60">
                <a:solidFill>
                  <a:srgbClr val="A5B4FC"/>
                </a:solidFill>
                <a:latin typeface="맑은 고딕"/>
                <a:ea typeface="맑은 고딕"/>
              </a:rPr>
              <a:t>OPENING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</a:rPr>
              <a:t>"순위는 그대로인데,
클릭이 사라지고 있다."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736592"/>
            <a:ext cx="9052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6000"/>
              </a:lnSpc>
            </a:pPr>
            <a:r>
              <a:rPr sz="1500" b="0" i="0">
                <a:solidFill>
                  <a:srgbClr val="CBD2E0"/>
                </a:solidFill>
                <a:latin typeface="맑은 고딕"/>
                <a:ea typeface="맑은 고딕"/>
              </a:rPr>
              <a:t>사용자는 이제 링크를 클릭하기 전에 AI에게 먼저 답을 받습니다.
클릭 전 단계에서 브랜드가 언급되지 않으면, 경쟁은 이미 끝난 것입니다.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발견의 구조: Before vs 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1회차 · AI가 바꾼 발견의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07007"/>
            <a:ext cx="5400903" cy="470001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207007"/>
            <a:ext cx="5400903" cy="493776"/>
          </a:xfrm>
          <a:prstGeom prst="roundRect">
            <a:avLst>
              <a:gd name="adj" fmla="val 45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53895"/>
            <a:ext cx="5400903" cy="24688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207007"/>
            <a:ext cx="499856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기존 퍼널 (검색 중심)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1865375"/>
            <a:ext cx="4961991" cy="3877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키워드 검색 → 10개 링크 노출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클릭 → 사이트 방문 → 전환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마케터의 KPI: 노출, 순위, 클릭, CTR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9AA4B2"/>
                </a:solidFill>
                <a:latin typeface="맑은 고딕"/>
                <a:ea typeface="맑은 고딕"/>
              </a:rPr>
              <a:t>      –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순위만 잡으면 트래픽이 따라왔다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1207007"/>
            <a:ext cx="5400903" cy="470001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3863" y="1207007"/>
            <a:ext cx="5400903" cy="493776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3863" y="1453895"/>
            <a:ext cx="5400903" cy="246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5031" y="1207007"/>
            <a:ext cx="499856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AI 이후 퍼널 (답변 중심)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19" y="1865375"/>
            <a:ext cx="4961991" cy="3877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F59E0B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길고 구체적인 질문 → AI가 답을 '조합'해 제공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F59E0B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답변 안에 인용된 브랜드만 다음 단계로 진출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F59E0B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마케터의 KPI: 답변 내 언급, 인용 출처, 추천 여부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9AA4B2"/>
                </a:solidFill>
                <a:latin typeface="맑은 고딕"/>
                <a:ea typeface="맑은 고딕"/>
              </a:rPr>
              <a:t>      –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순위가 높아도 답변에 없으면 존재하지 않는 브랜드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4338CA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AI 검색은 사용자의 질문을 더 길고 구체적으로 만듭니다. '운동화'가 아니라 '발볼 넓은 러너용 운동화 추천'을 묻습니다.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새로 생긴 4개의 관문 — 각 화면에서 무슨 일이 벌어지나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1회차 · AI가 바꾼 발견의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07007"/>
            <a:ext cx="5419191" cy="2496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07007"/>
            <a:ext cx="64008" cy="24963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" y="1353311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364283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사이트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5958" y="1335023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Google AI Overviews / AI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755647"/>
            <a:ext cx="5035143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무엇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검색 결과 최상단에 AI가 요약 답변 + 출처 링크 제시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의미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클릭 없이 끝나는 검색(제로클릭)이 늘어난다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마케터의 과제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요약에 '인용되는 출처'가 되는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575" y="1207007"/>
            <a:ext cx="5419191" cy="2496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575" y="1207007"/>
            <a:ext cx="64008" cy="2496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25031" y="1353311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5031" y="1364283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사이트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4605" y="1335023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ChatGPT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5031" y="1755647"/>
            <a:ext cx="5035143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무엇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대화 흐름 속에서 웹을 검색해 답변 + 출처 제공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의미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브랜드 비교·추천이 대화 안에서 끝난다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마케터의 과제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추천 후보 목록에 들어가는 조건 파악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922775"/>
            <a:ext cx="5419191" cy="2496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922775"/>
            <a:ext cx="64008" cy="249631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4069079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080051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사이트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5958" y="4050791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Perplexity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471415"/>
            <a:ext cx="5035143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무엇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출처 번호를 달아주는 리서치형 답변 엔진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의미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어떤 문서가 인용되는지 눈으로 확인 가능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마케터의 과제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인용 가능한 근거 문서 만들기 — 관찰 도구로도 활용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5575" y="3922775"/>
            <a:ext cx="5419191" cy="2496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5575" y="3922775"/>
            <a:ext cx="64008" cy="24963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25031" y="4069079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5031" y="4080051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사이트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4605" y="4050791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네이버 검색 생태계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5031" y="4471415"/>
            <a:ext cx="5035143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무엇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블로그·카페·쇼핑·지식iN이 결합된 국내 발견 경로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의미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국내 구매 여정은 여전히 네이버 비중이 크다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마케터의 과제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서치어드바이저 기반 노출 관리 + AI 변화 관찰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SEO · AEO · GEO — 한 장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세 가지는 대체 관계가 아니라 누적 관계입니다. SEO가 바닥, AEO가 기둥, GEO가 지붕입니다.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1회차 · AI가 바꾼 발견의 구조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499616"/>
          <a:ext cx="11057836" cy="1427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8636"/>
                <a:gridCol w="2228711"/>
                <a:gridCol w="2485870"/>
                <a:gridCol w="2743029"/>
                <a:gridCol w="2571590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주요 화면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콘텐츠 조건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측정 지표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SEO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검색 결과에서 발견된다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구글/네이버 검색결과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크롤링, 색인, 검색 의도, 품질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노출, 클릭, 순위, CTR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AEO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질문에 대한 '답'으로 뽑힌다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스니펫, Q&amp;A, AI 답변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직접 답변, 구조화, FAQ, 표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답변 노출, 스니펫, 질문 커버리지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GEO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생성형 엔진에 인용·추천된다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AI Overviews, ChatGPT, Perplexity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출처성, 독창성, 엔티티, 비교, 최신성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브랜드 언급률, 인용 URL, 경쟁사 대비 점유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4338CA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GEO = Generative Engine Optimization. 지역 최적화가 아니라 '생성형 엔진 최적화'입니다.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국내 맥락: 네이버를 빼고 이야기할 수 없다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1회차 · AI가 바꾼 발견의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국내 구매 여정의 상당 부분은 여전히 네이버 검색·블로그·카페·쇼핑 안에서 일어난다.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같은 브랜드도 구글과 네이버에서 전혀 다르게 보인다 — 두 생태계를 모두 진단해야 한다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0" i="0">
                <a:solidFill>
                  <a:srgbClr val="374151"/>
                </a:solidFill>
                <a:latin typeface="맑은 고딕"/>
                <a:ea typeface="맑은 고딕"/>
              </a:rPr>
              <a:t>네이버 실무 기본기 3가지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서치어드바이저 등록: 내 사이트가 네이버에 색인되는지 확인하는 출발점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블로그/카페/쇼핑 각 탭에서 내 카테고리가 어떻게 노출되는지 정기 관찰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네이버 AI 검색 변화(큐: 등)도 같은 프레임(언급·인용·추천)으로 관찰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B45309"/>
                </a:solidFill>
                <a:latin typeface="맑은 고딕"/>
                <a:ea typeface="맑은 고딕"/>
              </a:rPr>
              <a:t>오늘 실습에서는 구글계(ChatGPT·Perplexity·Gemini)와 네이버를 반드시 함께 테스트한다.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42432" y="1883664"/>
            <a:ext cx="47548" cy="12801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28384" y="1792224"/>
            <a:ext cx="47548" cy="21945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14336" y="1847088"/>
            <a:ext cx="47548" cy="164592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288" y="1755648"/>
            <a:ext cx="47548" cy="256032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6240" y="1865376"/>
            <a:ext cx="47548" cy="146304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39696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450" b="1" i="0" spc="60">
                <a:solidFill>
                  <a:srgbClr val="A5B4FC"/>
                </a:solidFill>
                <a:latin typeface="맑은 고딕"/>
                <a:ea typeface="맑은 고딕"/>
              </a:rPr>
              <a:t>ROLE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</a:rPr>
              <a:t>키워드 관리자에서
질문 · 근거 · 맥락 설계자로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736592"/>
            <a:ext cx="9052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6000"/>
              </a:lnSpc>
            </a:pPr>
            <a:r>
              <a:rPr sz="1500" b="0" i="0">
                <a:solidFill>
                  <a:srgbClr val="CBD2E0"/>
                </a:solidFill>
                <a:latin typeface="맑은 고딕"/>
                <a:ea typeface="맑은 고딕"/>
              </a:rPr>
              <a:t>AI 시대 마케터의 일은 '키워드 순위 올리기'가 아니라
고객의 질문을 정의하고, AI가 인용할 근거를 만들고, 브랜드의 맥락을 설계하는 것입니다.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오늘의 툴 다루기 — 4개 도구, 같은 질문, 다른 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핵심 원칙: 오늘 AI 툴은 '답을 얻는 도구'가 아니라 '내 브랜드를 측정하는 계측기'로 씁니다.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1회차 · AI가 바꾼 발견의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99616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99616"/>
            <a:ext cx="64008" cy="2350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1645920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656892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5958" y="1627632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ChatGPT — 대화형 질문 시뮬레이터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048256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이렇게 쓴다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고객이 물을 법한 문장을 그대로 입력하고, 검색 모드를 켜서 답변과 출처를 관찰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보는 것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내 브랜드가 언급되는가? 어떤 표현으로 설명되는가?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주의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같은 질문도 실행할 때마다 답이 달라진다 → 반드시 날짜·결과를 기록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499616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5575" y="1499616"/>
            <a:ext cx="64008" cy="2350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5031" y="1645920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5031" y="1656892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4605" y="1627632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Perplexity — 인용 출처 현미경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5031" y="2048256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이렇게 쓴다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같은 질문을 입력하고 답변보다 '출처 번호'를 먼저 클릭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보는 것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어떤 사이트가 인용되나? 우리 사이트·언론·커뮤니티 중 무엇이 뽑히나?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주의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인용이 있어도 원문을 열어 사실 여부를 확인하는 습관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69080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069080"/>
            <a:ext cx="64008" cy="2350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4215384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226356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5958" y="4197096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Gemini — 구글 생태계의 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617720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이렇게 쓴다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구글 검색·유튜브 맥락이 강한 질문(사용법, 리뷰)을 테스트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보는 것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구글 검색 결과와 AI 답변이 서로 어떻게 다른가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주의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계정·지역 설정에 따라 답변이 달라질 수 있음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4069080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4069080"/>
            <a:ext cx="64008" cy="2350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215384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226356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4605" y="4197096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네이버 — 국내 구매 여정의 현장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5031" y="4617720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이렇게 쓴다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같은 키워드로 통합검색 → 블로그·카페·쇼핑 탭 순서로 관찰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보는 것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상위 노출 콘텐츠의 유형(리뷰? 광고? 카페글?)과 우리 위치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주의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구글계 결과와 차이 자체가 인사이트 — 다르면 이유를 메모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실습 (25분): 내 브랜드를 AI에게 물어보기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본인 회사/클라이언트 브랜드로 진행하세요. 민감하면 잘 아는 공개 브랜드로 대체해도 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1회차 · AI가 바꾼 발견의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17904"/>
            <a:ext cx="10607040" cy="4416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STEP 1 — 질문 4종 세트를 만든다 (5분)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브랜드 직접 질문: "OO는 어떤 브랜드야? 믿을 만해?"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카테고리 추천 질문: "OO(카테고리) 추천해줘. 초보자 기준으로."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비교 질문: "OO랑 XX(경쟁사) 중에 뭐가 나아? 기준별로 비교해줘."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문제 해결 질문: "(고객의 고민 문장) 어떻게 해결해?"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STEP 2 — 5개 도구에 같은 질문을 입력한다 (12분)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ChatGPT → Perplexity → Gemini → 구글 검색 → 네이버 순서로 동일 질문 입력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STEP 3 — 진단표에 기록한다 (8분)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언급 여부, 경쟁사 언급, 인용 출처, 오류/누락, 다음 액션을 표에 기록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4338CA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스크린샷을 반드시 저장하세요. 6주 뒤 '전후 비교'가 여러분의 포트폴리오가 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AI 검색 가시성 진단표 — 오늘의 산출물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1회차 · AI가 바꾼 발견의 구조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07007"/>
          <a:ext cx="11057838" cy="252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31988"/>
                <a:gridCol w="1515994"/>
                <a:gridCol w="1515994"/>
                <a:gridCol w="1961874"/>
                <a:gridCol w="1515994"/>
                <a:gridCol w="1515994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프롬프트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 브랜드 언급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경쟁사 언급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인용 출처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오류/누락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다음 액션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"OO 추천해줘"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○ / ✕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누가?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어떤 URL?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"OO와 경쟁사 비교"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"초보자가 OO 고르는 법"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"OO는 믿을 만한 브랜드야?"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(자유 질문 1)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(자유 질문 2)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4338CA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도구별 × 질문별로 기록합니다. 오늘 날짜와 사용 도구를 표 상단에 반드시 적으세요 — AI 답변은 시점에 따라 달라집니다.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그룹 리뷰 (15분): AI는 우리를 어떻게 오해하는가?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1회차 · AI가 바꾼 발견의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3~4명씩 진단 결과를 공유하고, 아래 질문에 답해보세요.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가장 충격적이었던 답변은? (누락, 오류, 경쟁사 추천 등)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AI가 우리 브랜드를 설명할 때 쓴 '근거'는 어디서 온 것 같은가?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경쟁사가 언급됐다면, 그들은 어떤 콘텐츠·출처 덕분인가?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0" i="0">
                <a:solidFill>
                  <a:srgbClr val="374151"/>
                </a:solidFill>
                <a:latin typeface="맑은 고딕"/>
                <a:ea typeface="맑은 고딕"/>
              </a:rPr>
              <a:t>발표: 팀별로 '가장 시급한 발견' 1가지씩 공유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B45309"/>
                </a:solidFill>
                <a:latin typeface="맑은 고딕"/>
                <a:ea typeface="맑은 고딕"/>
              </a:rPr>
              <a:t>기억할 것: AI의 오답은 우리의 실패가 아니라, 이번 6주의 '작업 목록'입니다.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오늘의 핵심 3줄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1회차 · AI가 바꾼 발견의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700" b="1" i="0">
                <a:solidFill>
                  <a:srgbClr val="111927"/>
                </a:solidFill>
                <a:latin typeface="맑은 고딕"/>
                <a:ea typeface="맑은 고딕"/>
              </a:rPr>
              <a:t>① 클릭 전에 답이 제공된다 — 순위보다 '답변 내 존재감'이 중요해졌다.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700" b="1" i="0">
                <a:solidFill>
                  <a:srgbClr val="111927"/>
                </a:solidFill>
                <a:latin typeface="맑은 고딕"/>
                <a:ea typeface="맑은 고딕"/>
              </a:rPr>
              <a:t>② SEO는 죽지 않았다 — SEO 위에 AEO(답변)와 GEO(인용)를 쌓는 것이다.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700" b="1" i="0">
                <a:solidFill>
                  <a:srgbClr val="111927"/>
                </a:solidFill>
                <a:latin typeface="맑은 고딕"/>
                <a:ea typeface="맑은 고딕"/>
              </a:rPr>
              <a:t>③ AI 툴은 답을 주는 기계가 아니라 브랜드를 비추는 거울이다 — 측정하고, 기록하고, 고쳐라.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이번 주 미션 안내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1회차 · AI가 바꾼 발견의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600" b="1" i="0">
                <a:solidFill>
                  <a:srgbClr val="111927"/>
                </a:solidFill>
                <a:latin typeface="맑은 고딕"/>
                <a:ea typeface="맑은 고딕"/>
              </a:rPr>
              <a:t>미션: 우리 브랜드에 대한 'AI 검색 질문 20개'를 만들고, 결과를 기록하라.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질문 유형: 브랜드 직접 / 카테고리 추천 / 비교 / 문제 해결 각각 5개씩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도구: ChatGPT, Perplexity, Gemini, 구글, 네이버 중 3개 이상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기록: 오늘 배포한 진단표 양식 + 대표 스크린샷 5장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제출: 다음 수업 전날까지 공유 시트에 업로드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0" i="0">
                <a:solidFill>
                  <a:srgbClr val="2563EB"/>
                </a:solidFill>
                <a:latin typeface="맑은 고딕"/>
                <a:ea typeface="맑은 고딕"/>
              </a:rPr>
              <a:t>다음 회차 예고: SEO의 재정의 — AI 시대에도 기본기가 이긴다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본인 사이트(또는 회사 사이트) 주소를 알아오세요. 색인 상태를 직접 진단합니다.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