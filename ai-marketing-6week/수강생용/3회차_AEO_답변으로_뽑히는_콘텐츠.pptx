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85216" y="1975104"/>
            <a:ext cx="47548" cy="146304"/>
          </a:xfrm>
          <a:prstGeom prst="roundRect">
            <a:avLst>
              <a:gd name="adj" fmla="val 40000"/>
            </a:avLst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71168" y="1874520"/>
            <a:ext cx="47548" cy="246888"/>
          </a:xfrm>
          <a:prstGeom prst="roundRect">
            <a:avLst>
              <a:gd name="adj" fmla="val 40000"/>
            </a:avLst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120" y="1938528"/>
            <a:ext cx="47548" cy="182880"/>
          </a:xfrm>
          <a:prstGeom prst="roundRect">
            <a:avLst>
              <a:gd name="adj" fmla="val 40000"/>
            </a:avLst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3072" y="1810512"/>
            <a:ext cx="47548" cy="310896"/>
          </a:xfrm>
          <a:prstGeom prst="roundRect">
            <a:avLst>
              <a:gd name="adj" fmla="val 40000"/>
            </a:avLst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29024" y="1901952"/>
            <a:ext cx="47548" cy="219456"/>
          </a:xfrm>
          <a:prstGeom prst="roundRect">
            <a:avLst>
              <a:gd name="adj" fmla="val 40000"/>
            </a:avLst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14976" y="1847088"/>
            <a:ext cx="47548" cy="274320"/>
          </a:xfrm>
          <a:prstGeom prst="roundRect">
            <a:avLst>
              <a:gd name="adj" fmla="val 40000"/>
            </a:avLst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00928" y="1993392"/>
            <a:ext cx="47548" cy="128016"/>
          </a:xfrm>
          <a:prstGeom prst="roundRect">
            <a:avLst>
              <a:gd name="adj" fmla="val 40000"/>
            </a:avLst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2231136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1" i="0" spc="60">
                <a:solidFill>
                  <a:srgbClr val="A5B4FC"/>
                </a:solidFill>
                <a:latin typeface="맑은 고딕"/>
                <a:ea typeface="맑은 고딕"/>
              </a:rPr>
              <a:t>AI 시대 마케팅, 누가 살아남을까? — 6주 실무 스터디  |  3회차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2651760"/>
            <a:ext cx="10972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900" b="1" i="0">
                <a:solidFill>
                  <a:srgbClr val="FFFFFF"/>
                </a:solidFill>
                <a:latin typeface="맑은 고딕"/>
                <a:ea typeface="맑은 고딕"/>
              </a:rPr>
              <a:t>AEO — '답변'으로 뽑히는 콘텐츠 만들기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" y="4261104"/>
            <a:ext cx="457200" cy="32004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4443984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D5DAE6"/>
                </a:solidFill>
                <a:latin typeface="맑은 고딕"/>
                <a:ea typeface="맑은 고딕"/>
              </a:rPr>
              <a:t>핵심 질문: AI와 검색 스니펫은 어떤 글을 '답'으로 선택하는가?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" y="6089904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0" i="0">
                <a:solidFill>
                  <a:srgbClr val="8A94B2"/>
                </a:solidFill>
                <a:latin typeface="맑은 고딕"/>
                <a:ea typeface="맑은 고딕"/>
              </a:rPr>
              <a:t>실무 마케터 초중급 · 주 1회 2시간 · 기준일 2026-07-03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457200"/>
            <a:ext cx="82296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384048"/>
            <a:ext cx="91440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 i="0">
                <a:solidFill>
                  <a:srgbClr val="111927"/>
                </a:solidFill>
                <a:latin typeface="맑은 고딕"/>
                <a:ea typeface="맑은 고딕"/>
              </a:rPr>
              <a:t>오늘 수업이 끝나면, 여러분은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47104"/>
            <a:ext cx="182880" cy="25603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6446520"/>
            <a:ext cx="1105783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AA4B2"/>
                </a:solidFill>
                <a:latin typeface="맑은 고딕"/>
                <a:ea typeface="맑은 고딕"/>
              </a:rPr>
              <a:t>AI 시대 마케팅, 누가 살아남을까? — 6주 실무 스터디   |   3회차 · AEO 답변으로 뽑히는 콘텐츠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5"/>
            <a:ext cx="10607040" cy="47091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500"/>
              </a:spcAft>
            </a:pPr>
            <a:r>
              <a:rPr sz="950" b="0" i="0">
                <a:solidFill>
                  <a:srgbClr val="4338CA"/>
                </a:solidFill>
                <a:latin typeface="맑은 고딕"/>
                <a:ea typeface="맑은 고딕"/>
              </a:rPr>
              <a:t>■  </a:t>
            </a:r>
            <a:r>
              <a:rPr sz="1550" b="0" i="0">
                <a:solidFill>
                  <a:srgbClr val="374151"/>
                </a:solidFill>
                <a:latin typeface="맑은 고딕"/>
                <a:ea typeface="맑은 고딕"/>
              </a:rPr>
              <a:t>Featured Snippet · People Also Ask · AI 답변이 글을 고르는 기준을 이해한다.</a:t>
            </a:r>
          </a:p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500"/>
              </a:spcAft>
            </a:pPr>
            <a:r>
              <a:rPr sz="950" b="0" i="0">
                <a:solidFill>
                  <a:srgbClr val="4338CA"/>
                </a:solidFill>
                <a:latin typeface="맑은 고딕"/>
                <a:ea typeface="맑은 고딕"/>
              </a:rPr>
              <a:t>■  </a:t>
            </a:r>
            <a:r>
              <a:rPr sz="1550" b="1" i="0">
                <a:solidFill>
                  <a:srgbClr val="111927"/>
                </a:solidFill>
                <a:latin typeface="맑은 고딕"/>
                <a:ea typeface="맑은 고딕"/>
              </a:rPr>
              <a:t>'한 문장 결론 + 조건 + 근거 + 다음 행동' 구조의 답변 블록을 직접 쓸 수 있다.</a:t>
            </a:r>
          </a:p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500"/>
              </a:spcAft>
            </a:pPr>
            <a:r>
              <a:rPr sz="950" b="0" i="0">
                <a:solidFill>
                  <a:srgbClr val="4338CA"/>
                </a:solidFill>
                <a:latin typeface="맑은 고딕"/>
                <a:ea typeface="맑은 고딕"/>
              </a:rPr>
              <a:t>■  </a:t>
            </a:r>
            <a:r>
              <a:rPr sz="1550" b="0" i="0">
                <a:solidFill>
                  <a:srgbClr val="374151"/>
                </a:solidFill>
                <a:latin typeface="맑은 고딕"/>
                <a:ea typeface="맑은 고딕"/>
              </a:rPr>
              <a:t>AI 툴로 질문 클러스터를 발굴하고, 기존 글을 답변형으로 재구성할 수 있다.</a:t>
            </a:r>
          </a:p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500"/>
              </a:spcAft>
            </a:pPr>
            <a:r>
              <a:rPr sz="950" b="0" i="0">
                <a:solidFill>
                  <a:srgbClr val="4338CA"/>
                </a:solidFill>
                <a:latin typeface="맑은 고딕"/>
                <a:ea typeface="맑은 고딕"/>
              </a:rPr>
              <a:t>■  </a:t>
            </a:r>
            <a:r>
              <a:rPr sz="1550" b="1" i="0">
                <a:solidFill>
                  <a:srgbClr val="B45309"/>
                </a:solidFill>
                <a:latin typeface="맑은 고딕"/>
                <a:ea typeface="맑은 고딕"/>
              </a:rPr>
              <a:t>오늘의 산출물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 i="0">
                <a:solidFill>
                  <a:srgbClr val="9AA4B2"/>
                </a:solidFill>
                <a:latin typeface="맑은 고딕"/>
                <a:ea typeface="맑은 고딕"/>
              </a:rPr>
              <a:t>      –  </a:t>
            </a:r>
            <a:r>
              <a:rPr sz="1300" b="0" i="0">
                <a:solidFill>
                  <a:srgbClr val="374151"/>
                </a:solidFill>
                <a:latin typeface="맑은 고딕"/>
                <a:ea typeface="맑은 고딕"/>
              </a:rPr>
              <a:t>내 콘텐츠 기반 질문-답변형 블록 3개 이상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457200"/>
            <a:ext cx="82296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384048"/>
            <a:ext cx="91440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 i="0">
                <a:solidFill>
                  <a:srgbClr val="111927"/>
                </a:solidFill>
                <a:latin typeface="맑은 고딕"/>
                <a:ea typeface="맑은 고딕"/>
              </a:rPr>
              <a:t>오늘의 흐름 (120분)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47104"/>
            <a:ext cx="182880" cy="25603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6446520"/>
            <a:ext cx="1105783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AA4B2"/>
                </a:solidFill>
                <a:latin typeface="맑은 고딕"/>
                <a:ea typeface="맑은 고딕"/>
              </a:rPr>
              <a:t>AI 시대 마케팅, 누가 살아남을까? — 6주 실무 스터디   |   3회차 · AEO 답변으로 뽑히는 콘텐츠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207007"/>
          <a:ext cx="11057838" cy="2524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12183"/>
                <a:gridCol w="7088358"/>
                <a:gridCol w="2457297"/>
              </a:tblGrid>
              <a:tr h="3302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시간</a:t>
                      </a:r>
                    </a:p>
                  </a:txBody>
                  <a:tcPr anchor="ctr" marL="100584" marR="91440" marT="41148" marB="41148">
                    <a:solidFill>
                      <a:srgbClr val="4338C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내용</a:t>
                      </a:r>
                    </a:p>
                  </a:txBody>
                  <a:tcPr anchor="ctr" marL="100584" marR="91440" marT="41148" marB="41148">
                    <a:solidFill>
                      <a:srgbClr val="4338C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방식</a:t>
                      </a:r>
                    </a:p>
                  </a:txBody>
                  <a:tcPr anchor="ctr" marL="100584" marR="91440" marT="41148" marB="41148">
                    <a:solidFill>
                      <a:srgbClr val="4338C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111927"/>
                          </a:solidFill>
                          <a:latin typeface="맑은 고딕"/>
                          <a:ea typeface="맑은 고딕"/>
                        </a:rPr>
                        <a:t>0~15분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SEO 진단 과제 공유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발표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111927"/>
                          </a:solidFill>
                          <a:latin typeface="맑은 고딕"/>
                          <a:ea typeface="맑은 고딕"/>
                        </a:rPr>
                        <a:t>15~35분</a:t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AEO 개념: Featured Snippet, People Also Ask, AI 답변</a:t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강의 + 시연</a:t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111927"/>
                          </a:solidFill>
                          <a:latin typeface="맑은 고딕"/>
                          <a:ea typeface="맑은 고딕"/>
                        </a:rPr>
                        <a:t>35~55분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좋은 답변 블록의 구조: 직접 답변, 조건, 예외, 표, 단계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강의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111927"/>
                          </a:solidFill>
                          <a:latin typeface="맑은 고딕"/>
                          <a:ea typeface="맑은 고딕"/>
                        </a:rPr>
                        <a:t>55~75분</a:t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질문 클러스터 만들기: 정의·비교·추천·비용·방법·실패</a:t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강의 + 실습</a:t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111927"/>
                          </a:solidFill>
                          <a:latin typeface="맑은 고딕"/>
                          <a:ea typeface="맑은 고딕"/>
                        </a:rPr>
                        <a:t>75~105분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실습: 기존 글을 AEO형으로 재구성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개인 실습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111927"/>
                          </a:solidFill>
                          <a:latin typeface="맑은 고딕"/>
                          <a:ea typeface="맑은 고딕"/>
                        </a:rPr>
                        <a:t>105~120분</a:t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피드백: 답변이 짧지만 얕지 않은가?</a:t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리뷰</a:t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42432" y="1883664"/>
            <a:ext cx="47548" cy="128016"/>
          </a:xfrm>
          <a:prstGeom prst="roundRect">
            <a:avLst>
              <a:gd name="adj" fmla="val 40000"/>
            </a:avLst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828384" y="1792224"/>
            <a:ext cx="47548" cy="219456"/>
          </a:xfrm>
          <a:prstGeom prst="roundRect">
            <a:avLst>
              <a:gd name="adj" fmla="val 40000"/>
            </a:avLst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14336" y="1847088"/>
            <a:ext cx="47548" cy="164592"/>
          </a:xfrm>
          <a:prstGeom prst="roundRect">
            <a:avLst>
              <a:gd name="adj" fmla="val 40000"/>
            </a:avLst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00288" y="1755648"/>
            <a:ext cx="47548" cy="256032"/>
          </a:xfrm>
          <a:prstGeom prst="roundRect">
            <a:avLst>
              <a:gd name="adj" fmla="val 40000"/>
            </a:avLst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86240" y="1865376"/>
            <a:ext cx="47548" cy="146304"/>
          </a:xfrm>
          <a:prstGeom prst="roundRect">
            <a:avLst>
              <a:gd name="adj" fmla="val 40000"/>
            </a:avLst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39696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450" b="1" i="0" spc="60">
                <a:solidFill>
                  <a:srgbClr val="A5B4FC"/>
                </a:solidFill>
                <a:latin typeface="맑은 고딕"/>
                <a:ea typeface="맑은 고딕"/>
              </a:rPr>
              <a:t>AEO의 본질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70048"/>
            <a:ext cx="103327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3000" b="1" i="0">
                <a:solidFill>
                  <a:srgbClr val="FFFFFF"/>
                </a:solidFill>
                <a:latin typeface="맑은 고딕"/>
                <a:ea typeface="맑은 고딕"/>
              </a:rPr>
              <a:t>AEO는 FAQ를 늘리는 일이 아니라,
검증 가능한 답을 '구조화'하는 일이다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4736592"/>
            <a:ext cx="90525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6000"/>
              </a:lnSpc>
            </a:pPr>
            <a:r>
              <a:rPr sz="1500" b="0" i="0">
                <a:solidFill>
                  <a:srgbClr val="CBD2E0"/>
                </a:solidFill>
                <a:latin typeface="맑은 고딕"/>
                <a:ea typeface="맑은 고딕"/>
              </a:rPr>
              <a:t>사용자의 실제 질문에, 조건과 근거가 붙은 답을, AI가 떼어가기 쉬운 단위로 써두는 것.
이것이 답변 엔진 최적화(Answer Engine Optimization)의 전부입니다.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457200"/>
            <a:ext cx="82296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384048"/>
            <a:ext cx="91440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 i="0">
                <a:solidFill>
                  <a:srgbClr val="111927"/>
                </a:solidFill>
                <a:latin typeface="맑은 고딕"/>
                <a:ea typeface="맑은 고딕"/>
              </a:rPr>
              <a:t>AI와 스니펫은 어떤 글을 '답'으로 고르는가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47104"/>
            <a:ext cx="182880" cy="25603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6446520"/>
            <a:ext cx="1105783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AA4B2"/>
                </a:solidFill>
                <a:latin typeface="맑은 고딕"/>
                <a:ea typeface="맑은 고딕"/>
              </a:rPr>
              <a:t>AI 시대 마케팅, 누가 살아남을까? — 6주 실무 스터디   |   3회차 · AEO 답변으로 뽑히는 콘텐츠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5"/>
            <a:ext cx="10607040" cy="47091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500"/>
              </a:spcAft>
            </a:pPr>
            <a:r>
              <a:rPr sz="950" b="0" i="0">
                <a:solidFill>
                  <a:srgbClr val="4338CA"/>
                </a:solidFill>
                <a:latin typeface="맑은 고딕"/>
                <a:ea typeface="맑은 고딕"/>
              </a:rPr>
              <a:t>■  </a:t>
            </a:r>
            <a:r>
              <a:rPr sz="1550" b="1" i="0">
                <a:solidFill>
                  <a:srgbClr val="111927"/>
                </a:solidFill>
                <a:latin typeface="맑은 고딕"/>
                <a:ea typeface="맑은 고딕"/>
              </a:rPr>
              <a:t>질문 바로 아래에 답이 있는 글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 i="0">
                <a:solidFill>
                  <a:srgbClr val="9AA4B2"/>
                </a:solidFill>
                <a:latin typeface="맑은 고딕"/>
                <a:ea typeface="맑은 고딕"/>
              </a:rPr>
              <a:t>      –  </a:t>
            </a:r>
            <a:r>
              <a:rPr sz="1300" b="0" i="0">
                <a:solidFill>
                  <a:srgbClr val="374151"/>
                </a:solidFill>
                <a:latin typeface="맑은 고딕"/>
                <a:ea typeface="맑은 고딕"/>
              </a:rPr>
              <a:t>서론 3문단 뒤에 답이 나오는 글은 탈락 — 첫 문장이 곧 답이어야 한다</a:t>
            </a:r>
          </a:p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500"/>
              </a:spcAft>
            </a:pPr>
            <a:r>
              <a:rPr sz="950" b="0" i="0">
                <a:solidFill>
                  <a:srgbClr val="4338CA"/>
                </a:solidFill>
                <a:latin typeface="맑은 고딕"/>
                <a:ea typeface="맑은 고딕"/>
              </a:rPr>
              <a:t>■  </a:t>
            </a:r>
            <a:r>
              <a:rPr sz="1550" b="1" i="0">
                <a:solidFill>
                  <a:srgbClr val="111927"/>
                </a:solidFill>
                <a:latin typeface="맑은 고딕"/>
                <a:ea typeface="맑은 고딕"/>
              </a:rPr>
              <a:t>잘 쪼개진 의미 단위로 구성된 글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 i="0">
                <a:solidFill>
                  <a:srgbClr val="9AA4B2"/>
                </a:solidFill>
                <a:latin typeface="맑은 고딕"/>
                <a:ea typeface="맑은 고딕"/>
              </a:rPr>
              <a:t>      –  </a:t>
            </a:r>
            <a:r>
              <a:rPr sz="1300" b="0" i="0">
                <a:solidFill>
                  <a:srgbClr val="374151"/>
                </a:solidFill>
                <a:latin typeface="맑은 고딕"/>
                <a:ea typeface="맑은 고딕"/>
              </a:rPr>
              <a:t>AI는 문서 전체가 아니라 섹션·표·리스트·단계를 떼어 인용한다</a:t>
            </a:r>
          </a:p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500"/>
              </a:spcAft>
            </a:pPr>
            <a:r>
              <a:rPr sz="950" b="0" i="0">
                <a:solidFill>
                  <a:srgbClr val="4338CA"/>
                </a:solidFill>
                <a:latin typeface="맑은 고딕"/>
                <a:ea typeface="맑은 고딕"/>
              </a:rPr>
              <a:t>■  </a:t>
            </a:r>
            <a:r>
              <a:rPr sz="1550" b="1" i="0">
                <a:solidFill>
                  <a:srgbClr val="111927"/>
                </a:solidFill>
                <a:latin typeface="맑은 고딕"/>
                <a:ea typeface="맑은 고딕"/>
              </a:rPr>
              <a:t>조건과 예외가 명시된 글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 i="0">
                <a:solidFill>
                  <a:srgbClr val="9AA4B2"/>
                </a:solidFill>
                <a:latin typeface="맑은 고딕"/>
                <a:ea typeface="맑은 고딕"/>
              </a:rPr>
              <a:t>      –  </a:t>
            </a:r>
            <a:r>
              <a:rPr sz="1300" b="0" i="0">
                <a:solidFill>
                  <a:srgbClr val="374151"/>
                </a:solidFill>
                <a:latin typeface="맑은 고딕"/>
                <a:ea typeface="맑은 고딕"/>
              </a:rPr>
              <a:t>"누구에게 맞고, 언제는 아닌지"가 있는 답이 안전하게 인용된다</a:t>
            </a:r>
          </a:p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500"/>
              </a:spcAft>
            </a:pPr>
            <a:r>
              <a:rPr sz="950" b="0" i="0">
                <a:solidFill>
                  <a:srgbClr val="4338CA"/>
                </a:solidFill>
                <a:latin typeface="맑은 고딕"/>
                <a:ea typeface="맑은 고딕"/>
              </a:rPr>
              <a:t>■  </a:t>
            </a:r>
            <a:r>
              <a:rPr sz="1550" b="1" i="0">
                <a:solidFill>
                  <a:srgbClr val="111927"/>
                </a:solidFill>
                <a:latin typeface="맑은 고딕"/>
                <a:ea typeface="맑은 고딕"/>
              </a:rPr>
              <a:t>비교·수치·단계가 표로 정리된 글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 i="0">
                <a:solidFill>
                  <a:srgbClr val="9AA4B2"/>
                </a:solidFill>
                <a:latin typeface="맑은 고딕"/>
                <a:ea typeface="맑은 고딕"/>
              </a:rPr>
              <a:t>      –  </a:t>
            </a:r>
            <a:r>
              <a:rPr sz="1300" b="0" i="0">
                <a:solidFill>
                  <a:srgbClr val="374151"/>
                </a:solidFill>
                <a:latin typeface="맑은 고딕"/>
                <a:ea typeface="맑은 고딕"/>
              </a:rPr>
              <a:t>표는 사람에게도 AI에게도 가장 인용하기 쉬운 형식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457200"/>
            <a:ext cx="82296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384048"/>
            <a:ext cx="91440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 i="0">
                <a:solidFill>
                  <a:srgbClr val="111927"/>
                </a:solidFill>
                <a:latin typeface="맑은 고딕"/>
                <a:ea typeface="맑은 고딕"/>
              </a:rPr>
              <a:t>좋은 답변 블록의 4요소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47104"/>
            <a:ext cx="182880" cy="25603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6446520"/>
            <a:ext cx="1105783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AA4B2"/>
                </a:solidFill>
                <a:latin typeface="맑은 고딕"/>
                <a:ea typeface="맑은 고딕"/>
              </a:rPr>
              <a:t>AI 시대 마케팅, 누가 살아남을까? — 6주 실무 스터디   |   3회차 · AEO 답변으로 뽑히는 콘텐츠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207007"/>
            <a:ext cx="5419191" cy="24963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207007"/>
            <a:ext cx="64008" cy="249631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86384" y="1353311"/>
            <a:ext cx="581558" cy="2743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364283"/>
            <a:ext cx="58155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 i="0" spc="20">
                <a:solidFill>
                  <a:srgbClr val="FFFFFF"/>
                </a:solidFill>
                <a:latin typeface="맑은 고딕"/>
                <a:ea typeface="맑은 고딕"/>
              </a:rPr>
              <a:t>실습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5958" y="1335023"/>
            <a:ext cx="433471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1" i="0">
                <a:solidFill>
                  <a:srgbClr val="111927"/>
                </a:solidFill>
                <a:latin typeface="맑은 고딕"/>
                <a:ea typeface="맑은 고딕"/>
              </a:rPr>
              <a:t>① 한 문장 결론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1755647"/>
            <a:ext cx="5035143" cy="1856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0" i="0">
                <a:solidFill>
                  <a:srgbClr val="9AA4B2"/>
                </a:solidFill>
                <a:latin typeface="맑은 고딕"/>
                <a:ea typeface="맑은 고딕"/>
              </a:rPr>
              <a:t>·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질문에 대한 답을 첫 문장에서 끝낸다.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0" i="0">
                <a:solidFill>
                  <a:srgbClr val="9AA4B2"/>
                </a:solidFill>
                <a:latin typeface="맑은 고딕"/>
                <a:ea typeface="맑은 고딕"/>
              </a:rPr>
              <a:t>·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"해야 한다 / 하지 마라 / 경우에 따라 다르다"를 명확히.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0" i="0">
                <a:solidFill>
                  <a:srgbClr val="9AA4B2"/>
                </a:solidFill>
                <a:latin typeface="맑은 고딕"/>
                <a:ea typeface="맑은 고딕"/>
              </a:rPr>
              <a:t>·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결론 유보는 답변 엔진에서 탈락 사유다.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5575" y="1207007"/>
            <a:ext cx="5419191" cy="24963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5575" y="1207007"/>
            <a:ext cx="64008" cy="249631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25031" y="1353311"/>
            <a:ext cx="581558" cy="27432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5031" y="1364283"/>
            <a:ext cx="58155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 i="0" spc="20">
                <a:solidFill>
                  <a:srgbClr val="FFFFFF"/>
                </a:solidFill>
                <a:latin typeface="맑은 고딕"/>
                <a:ea typeface="맑은 고딕"/>
              </a:rPr>
              <a:t>실습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4605" y="1335023"/>
            <a:ext cx="433471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1" i="0">
                <a:solidFill>
                  <a:srgbClr val="111927"/>
                </a:solidFill>
                <a:latin typeface="맑은 고딕"/>
                <a:ea typeface="맑은 고딕"/>
              </a:rPr>
              <a:t>② 조건과 예외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5031" y="1755647"/>
            <a:ext cx="5035143" cy="1856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0" i="0">
                <a:solidFill>
                  <a:srgbClr val="9AA4B2"/>
                </a:solidFill>
                <a:latin typeface="맑은 고딕"/>
                <a:ea typeface="맑은 고딕"/>
              </a:rPr>
              <a:t>·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이 답이 맞는 조건을 명시한다.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0" i="0">
                <a:solidFill>
                  <a:srgbClr val="9AA4B2"/>
                </a:solidFill>
                <a:latin typeface="맑은 고딕"/>
                <a:ea typeface="맑은 고딕"/>
              </a:rPr>
              <a:t>·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예외 상황(이럴 땐 아니다)을 함께 쓴다.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0" i="0">
                <a:solidFill>
                  <a:srgbClr val="9AA4B2"/>
                </a:solidFill>
                <a:latin typeface="맑은 고딕"/>
                <a:ea typeface="맑은 고딕"/>
              </a:rPr>
              <a:t>·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조건이 있는 답이 '전문가의 답'으로 보인다.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922775"/>
            <a:ext cx="5419191" cy="24963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922775"/>
            <a:ext cx="64008" cy="249631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86384" y="4069079"/>
            <a:ext cx="581558" cy="27432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4080051"/>
            <a:ext cx="58155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 i="0" spc="20">
                <a:solidFill>
                  <a:srgbClr val="FFFFFF"/>
                </a:solidFill>
                <a:latin typeface="맑은 고딕"/>
                <a:ea typeface="맑은 고딕"/>
              </a:rPr>
              <a:t>실습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5958" y="4050791"/>
            <a:ext cx="433471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1" i="0">
                <a:solidFill>
                  <a:srgbClr val="111927"/>
                </a:solidFill>
                <a:latin typeface="맑은 고딕"/>
                <a:ea typeface="맑은 고딕"/>
              </a:rPr>
              <a:t>③ 근거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" y="4471415"/>
            <a:ext cx="5035143" cy="1856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0" i="0">
                <a:solidFill>
                  <a:srgbClr val="9AA4B2"/>
                </a:solidFill>
                <a:latin typeface="맑은 고딕"/>
                <a:ea typeface="맑은 고딕"/>
              </a:rPr>
              <a:t>·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공식 문서, 통계, 실제 경험, 데이터로 뒷받침.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0" i="0">
                <a:solidFill>
                  <a:srgbClr val="9AA4B2"/>
                </a:solidFill>
                <a:latin typeface="맑은 고딕"/>
                <a:ea typeface="맑은 고딕"/>
              </a:rPr>
              <a:t>·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출처를 문장 안에 자연스럽게 표기.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0" i="0">
                <a:solidFill>
                  <a:srgbClr val="9AA4B2"/>
                </a:solidFill>
                <a:latin typeface="맑은 고딕"/>
                <a:ea typeface="맑은 고딕"/>
              </a:rPr>
              <a:t>·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근거 없는 단정은 AI가 인용을 회피한다.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5575" y="3922775"/>
            <a:ext cx="5419191" cy="24963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05575" y="3922775"/>
            <a:ext cx="64008" cy="249631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25031" y="4069079"/>
            <a:ext cx="581558" cy="27432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25031" y="4080051"/>
            <a:ext cx="58155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 i="0" spc="20">
                <a:solidFill>
                  <a:srgbClr val="FFFFFF"/>
                </a:solidFill>
                <a:latin typeface="맑은 고딕"/>
                <a:ea typeface="맑은 고딕"/>
              </a:rPr>
              <a:t>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4605" y="4050791"/>
            <a:ext cx="433471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1" i="0">
                <a:solidFill>
                  <a:srgbClr val="111927"/>
                </a:solidFill>
                <a:latin typeface="맑은 고딕"/>
                <a:ea typeface="맑은 고딕"/>
              </a:rPr>
              <a:t>④ 다음 행동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5031" y="4471415"/>
            <a:ext cx="5035143" cy="1856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0" i="0">
                <a:solidFill>
                  <a:srgbClr val="9AA4B2"/>
                </a:solidFill>
                <a:latin typeface="맑은 고딕"/>
                <a:ea typeface="맑은 고딕"/>
              </a:rPr>
              <a:t>·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읽은 사람이 바로 할 수 있는 행동 1가지.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0" i="0">
                <a:solidFill>
                  <a:srgbClr val="9AA4B2"/>
                </a:solidFill>
                <a:latin typeface="맑은 고딕"/>
                <a:ea typeface="맑은 고딕"/>
              </a:rPr>
              <a:t>·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체크리스트·다음 글·도구 링크로 연결.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0" i="0">
                <a:solidFill>
                  <a:srgbClr val="9AA4B2"/>
                </a:solidFill>
                <a:latin typeface="맑은 고딕"/>
                <a:ea typeface="맑은 고딕"/>
              </a:rPr>
              <a:t>·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전환(CTA)은 여기서 자연스럽게 발생한다.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457200"/>
            <a:ext cx="82296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384048"/>
            <a:ext cx="91440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 i="0">
                <a:solidFill>
                  <a:srgbClr val="111927"/>
                </a:solidFill>
                <a:latin typeface="맑은 고딕"/>
                <a:ea typeface="맑은 고딕"/>
              </a:rPr>
              <a:t>질문 클러스터 6유형 — 고객 질문의 지도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" y="932688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한 주제를 6가지 질문 유형으로 쪼개면, 커버해야 할 콘텐츠 지도가 나옵니다.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547104"/>
            <a:ext cx="182880" cy="25603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6446520"/>
            <a:ext cx="1105783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AA4B2"/>
                </a:solidFill>
                <a:latin typeface="맑은 고딕"/>
                <a:ea typeface="맑은 고딕"/>
              </a:rPr>
              <a:t>AI 시대 마케팅, 누가 살아남을까? — 6주 실무 스터디   |   3회차 · AEO 답변으로 뽑히는 콘텐츠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499616"/>
          <a:ext cx="11057838" cy="2524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82229"/>
                <a:gridCol w="4344151"/>
                <a:gridCol w="5331458"/>
              </a:tblGrid>
              <a:tr h="3302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유형</a:t>
                      </a:r>
                    </a:p>
                  </a:txBody>
                  <a:tcPr anchor="ctr" marL="100584" marR="91440" marT="41148" marB="41148">
                    <a:solidFill>
                      <a:srgbClr val="4338C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질문 패턴</a:t>
                      </a:r>
                    </a:p>
                  </a:txBody>
                  <a:tcPr anchor="ctr" marL="100584" marR="91440" marT="41148" marB="41148">
                    <a:solidFill>
                      <a:srgbClr val="4338C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예시 (업종: 온라인 클래스)</a:t>
                      </a:r>
                    </a:p>
                  </a:txBody>
                  <a:tcPr anchor="ctr" marL="100584" marR="91440" marT="41148" marB="41148">
                    <a:solidFill>
                      <a:srgbClr val="4338C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111927"/>
                          </a:solidFill>
                          <a:latin typeface="맑은 고딕"/>
                          <a:ea typeface="맑은 고딕"/>
                        </a:rPr>
                        <a:t>정의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OO가 뭐야? OO와 XX의 차이는?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"AEO가 뭐야? SEO랑 뭐가 달라?"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111927"/>
                          </a:solidFill>
                          <a:latin typeface="맑은 고딕"/>
                          <a:ea typeface="맑은 고딕"/>
                        </a:rPr>
                        <a:t>비교</a:t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OO vs XX 뭐가 나아? 기준은?</a:t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"클래스101이랑 인프런 중 뭐가 나아?"</a:t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111927"/>
                          </a:solidFill>
                          <a:latin typeface="맑은 고딕"/>
                          <a:ea typeface="맑은 고딕"/>
                        </a:rPr>
                        <a:t>추천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상황별로 뭘 골라야 해?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"왕초보에게 맞는 마케팅 강의 추천해줘"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111927"/>
                          </a:solidFill>
                          <a:latin typeface="맑은 고딕"/>
                          <a:ea typeface="맑은 고딕"/>
                        </a:rPr>
                        <a:t>비용</a:t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얼마야? 왜 비싸? 아끼는 법은?</a:t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"온라인 강의 평균 가격이 얼마야?"</a:t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111927"/>
                          </a:solidFill>
                          <a:latin typeface="맑은 고딕"/>
                          <a:ea typeface="맑은 고딕"/>
                        </a:rPr>
                        <a:t>방법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어떻게 해? 단계별로 알려줘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"수강 후 환불은 어떻게 해?"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111927"/>
                          </a:solidFill>
                          <a:latin typeface="맑은 고딕"/>
                          <a:ea typeface="맑은 고딕"/>
                        </a:rPr>
                        <a:t>실패</a:t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흔한 실수는? 뭘 조심해야 해?</a:t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"온라인 강의 듣다 포기하는 이유가 뭐야?"</a:t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66928" y="6035040"/>
            <a:ext cx="11057839" cy="420624"/>
          </a:xfrm>
          <a:prstGeom prst="roundRect">
            <a:avLst>
              <a:gd name="adj" fmla="val 22000"/>
            </a:avLst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6035040"/>
            <a:ext cx="68580" cy="420624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6035040"/>
            <a:ext cx="10673791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 spc="50">
                <a:solidFill>
                  <a:srgbClr val="4338CA"/>
                </a:solidFill>
                <a:latin typeface="맑은 고딕"/>
                <a:ea typeface="맑은 고딕"/>
              </a:rPr>
              <a:t>TIP   </a:t>
            </a:r>
            <a:r>
              <a:rPr sz="1100" b="0" i="0">
                <a:solidFill>
                  <a:srgbClr val="374151"/>
                </a:solidFill>
                <a:latin typeface="맑은 고딕"/>
                <a:ea typeface="맑은 고딕"/>
              </a:rPr>
              <a:t>실무 팁: '실패/후기' 유형은 경쟁이 가장 적고 AI 인용률이 높은 블루오션입니다.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457200"/>
            <a:ext cx="82296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384048"/>
            <a:ext cx="91440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 i="0">
                <a:solidFill>
                  <a:srgbClr val="111927"/>
                </a:solidFill>
                <a:latin typeface="맑은 고딕"/>
                <a:ea typeface="맑은 고딕"/>
              </a:rPr>
              <a:t>오늘의 툴 다루기 — 질문 발굴과 재구성, 역할을 나눠라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" y="932688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원칙: AI가 만든 질문은 '후보', 실제 검색 데이터가 '검증'. 두 단계를 반드시 거칩니다.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547104"/>
            <a:ext cx="182880" cy="25603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6446520"/>
            <a:ext cx="1105783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AA4B2"/>
                </a:solidFill>
                <a:latin typeface="맑은 고딕"/>
                <a:ea typeface="맑은 고딕"/>
              </a:rPr>
              <a:t>AI 시대 마케팅, 누가 살아남을까? — 6주 실무 스터디   |   3회차 · AEO 답변으로 뽑히는 콘텐츠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99616"/>
            <a:ext cx="5419191" cy="23500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499616"/>
            <a:ext cx="64008" cy="235000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6384" y="1645920"/>
            <a:ext cx="581558" cy="27432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1656892"/>
            <a:ext cx="58155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 i="0" spc="20">
                <a:solidFill>
                  <a:srgbClr val="FFFFFF"/>
                </a:solidFill>
                <a:latin typeface="맑은 고딕"/>
                <a:ea typeface="맑은 고딕"/>
              </a:rPr>
              <a:t>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5958" y="1627632"/>
            <a:ext cx="433471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1" i="0">
                <a:solidFill>
                  <a:srgbClr val="111927"/>
                </a:solidFill>
                <a:latin typeface="맑은 고딕"/>
                <a:ea typeface="맑은 고딕"/>
              </a:rPr>
              <a:t>ChatGPT — 질문 클러스터 발전기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048256"/>
            <a:ext cx="5035143" cy="1709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1" i="0">
                <a:solidFill>
                  <a:srgbClr val="4338CA"/>
                </a:solidFill>
                <a:latin typeface="맑은 고딕"/>
                <a:ea typeface="맑은 고딕"/>
              </a:rPr>
              <a:t>이렇게 쓴다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"[타깃 고객]이 [주제]에 대해 물을 법한 질문을 6유형(정의·비교·추천·비용·방법·실패)별로 5개씩 만들어줘"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1" i="0">
                <a:solidFill>
                  <a:srgbClr val="4338CA"/>
                </a:solidFill>
                <a:latin typeface="맑은 고딕"/>
                <a:ea typeface="맑은 고딕"/>
              </a:rPr>
              <a:t>보는 것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내가 생각 못 한 질문 각도, 고객 언어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1" i="0">
                <a:solidFill>
                  <a:srgbClr val="4338CA"/>
                </a:solidFill>
                <a:latin typeface="맑은 고딕"/>
                <a:ea typeface="맑은 고딕"/>
              </a:rPr>
              <a:t>주의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생성된 질문은 후보일 뿐 — 다음 단계에서 검증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5575" y="1499616"/>
            <a:ext cx="5419191" cy="23500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05575" y="1499616"/>
            <a:ext cx="64008" cy="235000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25031" y="1645920"/>
            <a:ext cx="581558" cy="27432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5031" y="1656892"/>
            <a:ext cx="58155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 i="0" spc="20">
                <a:solidFill>
                  <a:srgbClr val="FFFFFF"/>
                </a:solidFill>
                <a:latin typeface="맑은 고딕"/>
                <a:ea typeface="맑은 고딕"/>
              </a:rPr>
              <a:t>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4605" y="1627632"/>
            <a:ext cx="433471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1" i="0">
                <a:solidFill>
                  <a:srgbClr val="111927"/>
                </a:solidFill>
                <a:latin typeface="맑은 고딕"/>
                <a:ea typeface="맑은 고딕"/>
              </a:rPr>
              <a:t>구글 PAA · 자동완성 — 질문 검증기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5031" y="2048256"/>
            <a:ext cx="5035143" cy="1709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1" i="0">
                <a:solidFill>
                  <a:srgbClr val="4338CA"/>
                </a:solidFill>
                <a:latin typeface="맑은 고딕"/>
                <a:ea typeface="맑은 고딕"/>
              </a:rPr>
              <a:t>이렇게 쓴다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핵심 키워드 검색 → People Also Ask 펼치기, 자동완성 수집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1" i="0">
                <a:solidFill>
                  <a:srgbClr val="4338CA"/>
                </a:solidFill>
                <a:latin typeface="맑은 고딕"/>
                <a:ea typeface="맑은 고딕"/>
              </a:rPr>
              <a:t>보는 것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실제 사용자가 묻는 질문의 표현 그대로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1" i="0">
                <a:solidFill>
                  <a:srgbClr val="4338CA"/>
                </a:solidFill>
                <a:latin typeface="맑은 고딕"/>
                <a:ea typeface="맑은 고딕"/>
              </a:rPr>
              <a:t>포인트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AI 후보 질문과 겹치는 것부터 우선 작성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069080"/>
            <a:ext cx="5419191" cy="23500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4069080"/>
            <a:ext cx="64008" cy="235000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86384" y="4215384"/>
            <a:ext cx="581558" cy="27432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" y="4226356"/>
            <a:ext cx="58155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 i="0" spc="20">
                <a:solidFill>
                  <a:srgbClr val="FFFFFF"/>
                </a:solidFill>
                <a:latin typeface="맑은 고딕"/>
                <a:ea typeface="맑은 고딕"/>
              </a:rPr>
              <a:t>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95958" y="4197096"/>
            <a:ext cx="433471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1" i="0">
                <a:solidFill>
                  <a:srgbClr val="111927"/>
                </a:solidFill>
                <a:latin typeface="맑은 고딕"/>
                <a:ea typeface="맑은 고딕"/>
              </a:rPr>
              <a:t>네이버 지식iN · 연관검색 — 국내 고객 언어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4617720"/>
            <a:ext cx="5035143" cy="1709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1" i="0">
                <a:solidFill>
                  <a:srgbClr val="4338CA"/>
                </a:solidFill>
                <a:latin typeface="맑은 고딕"/>
                <a:ea typeface="맑은 고딕"/>
              </a:rPr>
              <a:t>이렇게 쓴다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카테고리 키워드로 지식iN 질문 검색, 연관검색어 수집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1" i="0">
                <a:solidFill>
                  <a:srgbClr val="4338CA"/>
                </a:solidFill>
                <a:latin typeface="맑은 고딕"/>
                <a:ea typeface="맑은 고딕"/>
              </a:rPr>
              <a:t>보는 것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한국 고객의 실제 고민 문장, 구어체 표현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1" i="0">
                <a:solidFill>
                  <a:srgbClr val="4338CA"/>
                </a:solidFill>
                <a:latin typeface="맑은 고딕"/>
                <a:ea typeface="맑은 고딕"/>
              </a:rPr>
              <a:t>포인트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질문 제목을 그대로 H2 소제목 후보로 쓴다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4069080"/>
            <a:ext cx="5419191" cy="23500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4069080"/>
            <a:ext cx="64008" cy="235000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215384"/>
            <a:ext cx="581558" cy="27432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226356"/>
            <a:ext cx="58155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 i="0" spc="20">
                <a:solidFill>
                  <a:srgbClr val="FFFFFF"/>
                </a:solidFill>
                <a:latin typeface="맑은 고딕"/>
                <a:ea typeface="맑은 고딕"/>
              </a:rPr>
              <a:t>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4605" y="4197096"/>
            <a:ext cx="433471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1" i="0">
                <a:solidFill>
                  <a:srgbClr val="111927"/>
                </a:solidFill>
                <a:latin typeface="맑은 고딕"/>
                <a:ea typeface="맑은 고딕"/>
              </a:rPr>
              <a:t>ChatGPT/Claude — 리라이트 어시스턴트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5031" y="4617720"/>
            <a:ext cx="5035143" cy="1709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1" i="0">
                <a:solidFill>
                  <a:srgbClr val="4338CA"/>
                </a:solidFill>
                <a:latin typeface="맑은 고딕"/>
                <a:ea typeface="맑은 고딕"/>
              </a:rPr>
              <a:t>이렇게 쓴다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기존 글 붙여넣고 "이 글에서 답할 수 있는 질문을 뽑고, 각 질문을 답변 블록 템플릿으로 재구성해줘"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1" i="0">
                <a:solidFill>
                  <a:srgbClr val="4338CA"/>
                </a:solidFill>
                <a:latin typeface="맑은 고딕"/>
                <a:ea typeface="맑은 고딕"/>
              </a:rPr>
              <a:t>보는 것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초안 블록 — 사실·톤·경험은 사람이 다시 채운다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1" i="0">
                <a:solidFill>
                  <a:srgbClr val="4338CA"/>
                </a:solidFill>
                <a:latin typeface="맑은 고딕"/>
                <a:ea typeface="맑은 고딕"/>
              </a:rPr>
              <a:t>주의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AI 초안을 그대로 발행하면 '평균의 글'이 된다 — 우리 데이터·사례를 넣어야 인용된다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457200"/>
            <a:ext cx="82296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384048"/>
            <a:ext cx="91440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 i="0">
                <a:solidFill>
                  <a:srgbClr val="111927"/>
                </a:solidFill>
                <a:latin typeface="맑은 고딕"/>
                <a:ea typeface="맑은 고딕"/>
              </a:rPr>
              <a:t>AEO 답변 블록 템플릿 — 오늘의 핵심 도구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" y="932688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모든 질문형 콘텐츠는 이 8칸을 채우는 것으로 시작합니다.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547104"/>
            <a:ext cx="182880" cy="25603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6446520"/>
            <a:ext cx="1105783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AA4B2"/>
                </a:solidFill>
                <a:latin typeface="맑은 고딕"/>
                <a:ea typeface="맑은 고딕"/>
              </a:rPr>
              <a:t>AI 시대 마케팅, 누가 살아남을까? — 6주 실무 스터디   |   3회차 · AEO 답변으로 뽑히는 콘텐츠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99616"/>
            <a:ext cx="11057839" cy="4828031"/>
          </a:xfrm>
          <a:prstGeom prst="roundRect">
            <a:avLst>
              <a:gd name="adj" fmla="val 2500"/>
            </a:avLst>
          </a:prstGeom>
          <a:solidFill>
            <a:srgbClr val="0E1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1499616"/>
            <a:ext cx="11057839" cy="329184"/>
          </a:xfrm>
          <a:prstGeom prst="roundRect">
            <a:avLst>
              <a:gd name="adj" fmla="val 2500"/>
            </a:avLst>
          </a:prstGeom>
          <a:solidFill>
            <a:srgbClr val="1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1057839" cy="164592"/>
          </a:xfrm>
          <a:prstGeom prst="rect">
            <a:avLst/>
          </a:prstGeom>
          <a:solidFill>
            <a:srgbClr val="1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86384" y="161848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87551" y="161848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188720" y="1618488"/>
            <a:ext cx="91440" cy="91440"/>
          </a:xfrm>
          <a:prstGeom prst="roundRect">
            <a:avLst>
              <a:gd name="adj" fmla="val 50000"/>
            </a:avLst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81328" y="1499616"/>
            <a:ext cx="9960559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1" i="0" spc="120">
                <a:solidFill>
                  <a:srgbClr val="7C8AA5"/>
                </a:solidFill>
                <a:latin typeface="맑은 고딕"/>
                <a:ea typeface="맑은 고딕"/>
              </a:rPr>
              <a:t>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1975104"/>
            <a:ext cx="10436047" cy="42245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7DD3FC"/>
                </a:solidFill>
                <a:latin typeface="Consolas"/>
                <a:ea typeface="맑은 고딕"/>
              </a:rPr>
              <a:t>질문: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7DD3FC"/>
                </a:solidFill>
                <a:latin typeface="Consolas"/>
                <a:ea typeface="맑은 고딕"/>
              </a:rPr>
              <a:t>한 문장 답: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7DD3FC"/>
                </a:solidFill>
                <a:latin typeface="Consolas"/>
                <a:ea typeface="맑은 고딕"/>
              </a:rPr>
              <a:t>이 답이 맞는 조건: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7DD3FC"/>
                </a:solidFill>
                <a:latin typeface="Consolas"/>
                <a:ea typeface="맑은 고딕"/>
              </a:rPr>
              <a:t>예외/주의: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7DD3FC"/>
                </a:solidFill>
                <a:latin typeface="Consolas"/>
                <a:ea typeface="맑은 고딕"/>
              </a:rPr>
              <a:t>근거: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7DD3FC"/>
                </a:solidFill>
                <a:latin typeface="Consolas"/>
                <a:ea typeface="맑은 고딕"/>
              </a:rPr>
              <a:t>실무 예시: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7DD3FC"/>
                </a:solidFill>
                <a:latin typeface="Consolas"/>
                <a:ea typeface="맑은 고딕"/>
              </a:rPr>
              <a:t>다음 행동: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7DD3FC"/>
                </a:solidFill>
                <a:latin typeface="Consolas"/>
                <a:ea typeface="맑은 고딕"/>
              </a:rPr>
              <a:t>관련 질문: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 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8391A8"/>
                </a:solidFill>
                <a:latin typeface="Consolas"/>
                <a:ea typeface="맑은 고딕"/>
              </a:rPr>
              <a:t># 작성 규칙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8391A8"/>
                </a:solidFill>
                <a:latin typeface="Consolas"/>
                <a:ea typeface="맑은 고딕"/>
              </a:rPr>
              <a:t># 1. '한 문장 답'은 25자~80자. 결론을 유보하지 않는다.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8391A8"/>
                </a:solidFill>
                <a:latin typeface="Consolas"/>
                <a:ea typeface="맑은 고딕"/>
              </a:rPr>
              <a:t># 2. '근거'에는 출처(공식 문서/데이터/직접 경험)를 명시한다.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8391A8"/>
                </a:solidFill>
                <a:latin typeface="Consolas"/>
                <a:ea typeface="맑은 고딕"/>
              </a:rPr>
              <a:t># 3. '실무 예시'에는 우리만 아는 사례·수치를 넣는다. (인용되는 이유가 된다)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8391A8"/>
                </a:solidFill>
                <a:latin typeface="Consolas"/>
                <a:ea typeface="맑은 고딕"/>
              </a:rPr>
              <a:t># 4. '관련 질문'은 다음 블록으로 연결되는 내부링크 후보다.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457200"/>
            <a:ext cx="82296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384048"/>
            <a:ext cx="91440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 i="0">
                <a:solidFill>
                  <a:srgbClr val="111927"/>
                </a:solidFill>
                <a:latin typeface="맑은 고딕"/>
                <a:ea typeface="맑은 고딕"/>
              </a:rPr>
              <a:t>템플릿 작성 예시 — 이렇게 채웁니다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47104"/>
            <a:ext cx="182880" cy="25603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6446520"/>
            <a:ext cx="1105783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AA4B2"/>
                </a:solidFill>
                <a:latin typeface="맑은 고딕"/>
                <a:ea typeface="맑은 고딕"/>
              </a:rPr>
              <a:t>AI 시대 마케팅, 누가 살아남을까? — 6주 실무 스터디   |   3회차 · AEO 답변으로 뽑히는 콘텐츠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207007"/>
            <a:ext cx="11057839" cy="4700016"/>
          </a:xfrm>
          <a:prstGeom prst="roundRect">
            <a:avLst>
              <a:gd name="adj" fmla="val 2500"/>
            </a:avLst>
          </a:prstGeom>
          <a:solidFill>
            <a:srgbClr val="0E1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207007"/>
            <a:ext cx="11057839" cy="329184"/>
          </a:xfrm>
          <a:prstGeom prst="roundRect">
            <a:avLst>
              <a:gd name="adj" fmla="val 2500"/>
            </a:avLst>
          </a:prstGeom>
          <a:solidFill>
            <a:srgbClr val="1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371599"/>
            <a:ext cx="11057839" cy="164592"/>
          </a:xfrm>
          <a:prstGeom prst="rect">
            <a:avLst/>
          </a:prstGeom>
          <a:solidFill>
            <a:srgbClr val="1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6384" y="1325879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87551" y="1325879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88720" y="1325879"/>
            <a:ext cx="91440" cy="91440"/>
          </a:xfrm>
          <a:prstGeom prst="roundRect">
            <a:avLst>
              <a:gd name="adj" fmla="val 50000"/>
            </a:avLst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81328" y="1207007"/>
            <a:ext cx="9960559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1" i="0" spc="120">
                <a:solidFill>
                  <a:srgbClr val="7C8AA5"/>
                </a:solidFill>
                <a:latin typeface="맑은 고딕"/>
                <a:ea typeface="맑은 고딕"/>
              </a:rPr>
              <a:t>PROMPT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1682495"/>
            <a:ext cx="10436047" cy="4096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질문: AI 시대에도 블로그 SEO를 해야 하나?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 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한 문장 답: 해야 한다. 다만 키워드 반복보다 검색 의도,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구조, 원문성, 인용 가능성을 강화해야 한다.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 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이 답이 맞는 조건: 제품/서비스 탐색, 비교, 문제 해결형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검색 수요가 있는 경우.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 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예외: 단기 이벤트성 캠페인처럼 검색 누적 가치가 낮은 경우.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 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근거: Google은 AI 기능에서도 기본 SEO와 접근 가능한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콘텐츠를 강조한다. (Google Search Central 공식 문서)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 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실무 예시: "가격", "비교", "사용법", "실패 사례" 페이지를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질문형 구조로 재작성한다.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 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다음 행동: 기존 상위 10개 콘텐츠를 질문 단위로 쪼개고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누락 질문을 보강한다.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 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관련 질문: AEO와 SEO는 뭐가 다른가? / 질문형 콘텐츠는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몇 개나 필요한가?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6035040"/>
            <a:ext cx="11057839" cy="420624"/>
          </a:xfrm>
          <a:prstGeom prst="roundRect">
            <a:avLst>
              <a:gd name="adj" fmla="val 22000"/>
            </a:avLst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6035040"/>
            <a:ext cx="68580" cy="420624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6035040"/>
            <a:ext cx="10673791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 spc="50">
                <a:solidFill>
                  <a:srgbClr val="4338CA"/>
                </a:solidFill>
                <a:latin typeface="맑은 고딕"/>
                <a:ea typeface="맑은 고딕"/>
              </a:rPr>
              <a:t>TIP   </a:t>
            </a:r>
            <a:r>
              <a:rPr sz="1100" b="0" i="0">
                <a:solidFill>
                  <a:srgbClr val="374151"/>
                </a:solidFill>
                <a:latin typeface="맑은 고딕"/>
                <a:ea typeface="맑은 고딕"/>
              </a:rPr>
              <a:t>첫 문장이 곧 답, 조건과 예외로 신뢰 확보, 근거에 출처, 예시에 우리 것 — 이 4가지가 보이면 합격입니다.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457200"/>
            <a:ext cx="82296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384048"/>
            <a:ext cx="91440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 i="0">
                <a:solidFill>
                  <a:srgbClr val="111927"/>
                </a:solidFill>
                <a:latin typeface="맑은 고딕"/>
                <a:ea typeface="맑은 고딕"/>
              </a:rPr>
              <a:t>실습 (30분): 기존 글을 AEO형으로 재구성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47104"/>
            <a:ext cx="182880" cy="25603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6446520"/>
            <a:ext cx="1105783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AA4B2"/>
                </a:solidFill>
                <a:latin typeface="맑은 고딕"/>
                <a:ea typeface="맑은 고딕"/>
              </a:rPr>
              <a:t>AI 시대 마케팅, 누가 살아남을까? — 6주 실무 스터디   |   3회차 · AEO 답변으로 뽑히는 콘텐츠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5"/>
            <a:ext cx="10607040" cy="47091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500"/>
              </a:spcAft>
            </a:pPr>
            <a:r>
              <a:rPr sz="950" b="0" i="0">
                <a:solidFill>
                  <a:srgbClr val="4338CA"/>
                </a:solidFill>
                <a:latin typeface="맑은 고딕"/>
                <a:ea typeface="맑은 고딕"/>
              </a:rPr>
              <a:t>■  </a:t>
            </a:r>
            <a:r>
              <a:rPr sz="1550" b="1" i="0">
                <a:solidFill>
                  <a:srgbClr val="111927"/>
                </a:solidFill>
                <a:latin typeface="맑은 고딕"/>
                <a:ea typeface="맑은 고딕"/>
              </a:rPr>
              <a:t>STEP 1 — 지난주 진단한 콘텐츠에서 '답할 수 있는 질문' 5개를 뽑는다 (7분)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 i="0">
                <a:solidFill>
                  <a:srgbClr val="9AA4B2"/>
                </a:solidFill>
                <a:latin typeface="맑은 고딕"/>
                <a:ea typeface="맑은 고딕"/>
              </a:rPr>
              <a:t>      –  </a:t>
            </a:r>
            <a:r>
              <a:rPr sz="1300" b="0" i="0">
                <a:solidFill>
                  <a:srgbClr val="374151"/>
                </a:solidFill>
                <a:latin typeface="맑은 고딕"/>
                <a:ea typeface="맑은 고딕"/>
              </a:rPr>
              <a:t>ChatGPT로 후보 생성 → 구글 PAA·네이버로 실제 수요 검증</a:t>
            </a:r>
          </a:p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500"/>
              </a:spcAft>
            </a:pPr>
            <a:r>
              <a:rPr sz="950" b="0" i="0">
                <a:solidFill>
                  <a:srgbClr val="4338CA"/>
                </a:solidFill>
                <a:latin typeface="맑은 고딕"/>
                <a:ea typeface="맑은 고딕"/>
              </a:rPr>
              <a:t>■  </a:t>
            </a:r>
            <a:r>
              <a:rPr sz="1550" b="1" i="0">
                <a:solidFill>
                  <a:srgbClr val="111927"/>
                </a:solidFill>
                <a:latin typeface="맑은 고딕"/>
                <a:ea typeface="맑은 고딕"/>
              </a:rPr>
              <a:t>STEP 2 — 그중 3개를 답변 블록 템플릿으로 작성한다 (15분)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 i="0">
                <a:solidFill>
                  <a:srgbClr val="9AA4B2"/>
                </a:solidFill>
                <a:latin typeface="맑은 고딕"/>
                <a:ea typeface="맑은 고딕"/>
              </a:rPr>
              <a:t>      –  </a:t>
            </a:r>
            <a:r>
              <a:rPr sz="1300" b="0" i="0">
                <a:solidFill>
                  <a:srgbClr val="374151"/>
                </a:solidFill>
                <a:latin typeface="맑은 고딕"/>
                <a:ea typeface="맑은 고딕"/>
              </a:rPr>
              <a:t>AI로 초안을 만들되, '근거'와 '실무 예시'는 반드시 직접 채운다</a:t>
            </a:r>
          </a:p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500"/>
              </a:spcAft>
            </a:pPr>
            <a:r>
              <a:rPr sz="950" b="0" i="0">
                <a:solidFill>
                  <a:srgbClr val="4338CA"/>
                </a:solidFill>
                <a:latin typeface="맑은 고딕"/>
                <a:ea typeface="맑은 고딕"/>
              </a:rPr>
              <a:t>■  </a:t>
            </a:r>
            <a:r>
              <a:rPr sz="1550" b="1" i="0">
                <a:solidFill>
                  <a:srgbClr val="111927"/>
                </a:solidFill>
                <a:latin typeface="맑은 고딕"/>
                <a:ea typeface="맑은 고딕"/>
              </a:rPr>
              <a:t>STEP 3 — 옆 사람과 교환 검증한다 (8분)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 i="0">
                <a:solidFill>
                  <a:srgbClr val="9AA4B2"/>
                </a:solidFill>
                <a:latin typeface="맑은 고딕"/>
                <a:ea typeface="맑은 고딕"/>
              </a:rPr>
              <a:t>      –  </a:t>
            </a:r>
            <a:r>
              <a:rPr sz="1300" b="0" i="0">
                <a:solidFill>
                  <a:srgbClr val="374151"/>
                </a:solidFill>
                <a:latin typeface="맑은 고딕"/>
                <a:ea typeface="맑은 고딕"/>
              </a:rPr>
              <a:t>체크 질문: 첫 문장만 읽어도 답이 되는가? 조건 없이 단정하고 있지 않은가?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 i="0">
                <a:solidFill>
                  <a:srgbClr val="9AA4B2"/>
                </a:solidFill>
                <a:latin typeface="맑은 고딕"/>
                <a:ea typeface="맑은 고딕"/>
              </a:rPr>
              <a:t>      –  </a:t>
            </a:r>
            <a:r>
              <a:rPr sz="1300" b="0" i="0">
                <a:solidFill>
                  <a:srgbClr val="374151"/>
                </a:solidFill>
                <a:latin typeface="맑은 고딕"/>
                <a:ea typeface="맑은 고딕"/>
              </a:rPr>
              <a:t>체크 질문: 이 블록만 떼어 AI가 인용해도 오해가 없는가?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6035040"/>
            <a:ext cx="11057839" cy="420624"/>
          </a:xfrm>
          <a:prstGeom prst="roundRect">
            <a:avLst>
              <a:gd name="adj" fmla="val 22000"/>
            </a:avLst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6035040"/>
            <a:ext cx="68580" cy="420624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6035040"/>
            <a:ext cx="10673791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 spc="50">
                <a:solidFill>
                  <a:srgbClr val="4338CA"/>
                </a:solidFill>
                <a:latin typeface="맑은 고딕"/>
                <a:ea typeface="맑은 고딕"/>
              </a:rPr>
              <a:t>TIP   </a:t>
            </a:r>
            <a:r>
              <a:rPr sz="1100" b="0" i="0">
                <a:solidFill>
                  <a:srgbClr val="374151"/>
                </a:solidFill>
                <a:latin typeface="맑은 고딕"/>
                <a:ea typeface="맑은 고딕"/>
              </a:rPr>
              <a:t>'짧지만 얕지 않게'가 기준입니다. 짧은데 얕으면 광고, 길기만 하면 소음입니다.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457200"/>
            <a:ext cx="82296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384048"/>
            <a:ext cx="91440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 i="0">
                <a:solidFill>
                  <a:srgbClr val="111927"/>
                </a:solidFill>
                <a:latin typeface="맑은 고딕"/>
                <a:ea typeface="맑은 고딕"/>
              </a:rPr>
              <a:t>오늘의 핵심 3줄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47104"/>
            <a:ext cx="182880" cy="25603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6446520"/>
            <a:ext cx="1105783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AA4B2"/>
                </a:solidFill>
                <a:latin typeface="맑은 고딕"/>
                <a:ea typeface="맑은 고딕"/>
              </a:rPr>
              <a:t>AI 시대 마케팅, 누가 살아남을까? — 6주 실무 스터디   |   3회차 · AEO 답변으로 뽑히는 콘텐츠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5"/>
            <a:ext cx="10607040" cy="47091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500"/>
              </a:spcAft>
            </a:pPr>
            <a:r>
              <a:rPr sz="950" b="0" i="0">
                <a:solidFill>
                  <a:srgbClr val="4338CA"/>
                </a:solidFill>
                <a:latin typeface="맑은 고딕"/>
                <a:ea typeface="맑은 고딕"/>
              </a:rPr>
              <a:t>■  </a:t>
            </a:r>
            <a:r>
              <a:rPr sz="1700" b="1" i="0">
                <a:solidFill>
                  <a:srgbClr val="111927"/>
                </a:solidFill>
                <a:latin typeface="맑은 고딕"/>
                <a:ea typeface="맑은 고딕"/>
              </a:rPr>
              <a:t>① 첫 문장이 답이어야 한다 — 서론 뒤에 숨은 답은 선택받지 못한다.</a:t>
            </a:r>
          </a:p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500"/>
              </a:spcAft>
            </a:pPr>
            <a:r>
              <a:rPr sz="950" b="0" i="0">
                <a:solidFill>
                  <a:srgbClr val="4338CA"/>
                </a:solidFill>
                <a:latin typeface="맑은 고딕"/>
                <a:ea typeface="맑은 고딕"/>
              </a:rPr>
              <a:t>■  </a:t>
            </a:r>
            <a:r>
              <a:rPr sz="1700" b="1" i="0">
                <a:solidFill>
                  <a:srgbClr val="111927"/>
                </a:solidFill>
                <a:latin typeface="맑은 고딕"/>
                <a:ea typeface="맑은 고딕"/>
              </a:rPr>
              <a:t>② 답에는 조건·예외·근거를 붙여라 — 그것이 '안전하게 인용 가능한 답'의 조건이다.</a:t>
            </a:r>
          </a:p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500"/>
              </a:spcAft>
            </a:pPr>
            <a:r>
              <a:rPr sz="950" b="0" i="0">
                <a:solidFill>
                  <a:srgbClr val="4338CA"/>
                </a:solidFill>
                <a:latin typeface="맑은 고딕"/>
                <a:ea typeface="맑은 고딕"/>
              </a:rPr>
              <a:t>■  </a:t>
            </a:r>
            <a:r>
              <a:rPr sz="1700" b="1" i="0">
                <a:solidFill>
                  <a:srgbClr val="111927"/>
                </a:solidFill>
                <a:latin typeface="맑은 고딕"/>
                <a:ea typeface="맑은 고딕"/>
              </a:rPr>
              <a:t>③ AI로 질문을 발굴하고 초안을 만들되, 근거와 사례는 사람이 채운다.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457200"/>
            <a:ext cx="82296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384048"/>
            <a:ext cx="91440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 i="0">
                <a:solidFill>
                  <a:srgbClr val="111927"/>
                </a:solidFill>
                <a:latin typeface="맑은 고딕"/>
                <a:ea typeface="맑은 고딕"/>
              </a:rPr>
              <a:t>이번 주 미션 안내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47104"/>
            <a:ext cx="182880" cy="25603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6446520"/>
            <a:ext cx="1105783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AA4B2"/>
                </a:solidFill>
                <a:latin typeface="맑은 고딕"/>
                <a:ea typeface="맑은 고딕"/>
              </a:rPr>
              <a:t>AI 시대 마케팅, 누가 살아남을까? — 6주 실무 스터디   |   3회차 · AEO 답변으로 뽑히는 콘텐츠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5"/>
            <a:ext cx="10607040" cy="47091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500"/>
              </a:spcAft>
            </a:pPr>
            <a:r>
              <a:rPr sz="950" b="0" i="0">
                <a:solidFill>
                  <a:srgbClr val="4338CA"/>
                </a:solidFill>
                <a:latin typeface="맑은 고딕"/>
                <a:ea typeface="맑은 고딕"/>
              </a:rPr>
              <a:t>■  </a:t>
            </a:r>
            <a:r>
              <a:rPr sz="1600" b="1" i="0">
                <a:solidFill>
                  <a:srgbClr val="111927"/>
                </a:solidFill>
                <a:latin typeface="맑은 고딕"/>
                <a:ea typeface="맑은 고딕"/>
              </a:rPr>
              <a:t>미션: 기존 콘텐츠 1개에 '질문형 블록 10개'를 추가하라.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 i="0">
                <a:solidFill>
                  <a:srgbClr val="9AA4B2"/>
                </a:solidFill>
                <a:latin typeface="맑은 고딕"/>
                <a:ea typeface="맑은 고딕"/>
              </a:rPr>
              <a:t>      –  </a:t>
            </a:r>
            <a:r>
              <a:rPr sz="1300" b="0" i="0">
                <a:solidFill>
                  <a:srgbClr val="374151"/>
                </a:solidFill>
                <a:latin typeface="맑은 고딕"/>
                <a:ea typeface="맑은 고딕"/>
              </a:rPr>
              <a:t>6유형(정의·비교·추천·비용·방법·실패)에서 최소 4개 유형 이상 커버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 i="0">
                <a:solidFill>
                  <a:srgbClr val="9AA4B2"/>
                </a:solidFill>
                <a:latin typeface="맑은 고딕"/>
                <a:ea typeface="맑은 고딕"/>
              </a:rPr>
              <a:t>      –  </a:t>
            </a:r>
            <a:r>
              <a:rPr sz="1300" b="0" i="0">
                <a:solidFill>
                  <a:srgbClr val="374151"/>
                </a:solidFill>
                <a:latin typeface="맑은 고딕"/>
                <a:ea typeface="맑은 고딕"/>
              </a:rPr>
              <a:t>각 블록은 오늘 배운 8칸 템플릿 형식으로 작성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 i="0">
                <a:solidFill>
                  <a:srgbClr val="9AA4B2"/>
                </a:solidFill>
                <a:latin typeface="맑은 고딕"/>
                <a:ea typeface="맑은 고딕"/>
              </a:rPr>
              <a:t>      –  </a:t>
            </a:r>
            <a:r>
              <a:rPr sz="1300" b="0" i="0">
                <a:solidFill>
                  <a:srgbClr val="374151"/>
                </a:solidFill>
                <a:latin typeface="맑은 고딕"/>
                <a:ea typeface="맑은 고딕"/>
              </a:rPr>
              <a:t>10개 중 3개 이상에는 '우리만 아는 데이터/사례'를 포함할 것</a:t>
            </a:r>
          </a:p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500"/>
              </a:spcAft>
            </a:pPr>
            <a:r>
              <a:rPr sz="950" b="0" i="0">
                <a:solidFill>
                  <a:srgbClr val="4338CA"/>
                </a:solidFill>
                <a:latin typeface="맑은 고딕"/>
                <a:ea typeface="맑은 고딕"/>
              </a:rPr>
              <a:t>■  </a:t>
            </a:r>
            <a:r>
              <a:rPr sz="1550" b="0" i="0">
                <a:solidFill>
                  <a:srgbClr val="2563EB"/>
                </a:solidFill>
                <a:latin typeface="맑은 고딕"/>
                <a:ea typeface="맑은 고딕"/>
              </a:rPr>
              <a:t>다음 회차 예고: GEO — 생성형 엔진에 '인용'되는 브랜드 만들기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 i="0">
                <a:solidFill>
                  <a:srgbClr val="9AA4B2"/>
                </a:solidFill>
                <a:latin typeface="맑은 고딕"/>
                <a:ea typeface="맑은 고딕"/>
              </a:rPr>
              <a:t>      –  </a:t>
            </a:r>
            <a:r>
              <a:rPr sz="1300" b="0" i="0">
                <a:solidFill>
                  <a:srgbClr val="374151"/>
                </a:solidFill>
                <a:latin typeface="맑은 고딕"/>
                <a:ea typeface="맑은 고딕"/>
              </a:rPr>
              <a:t>1회차 진단표를 다시 가져오세요. 리라이트 후 재측정에 사용합니다.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