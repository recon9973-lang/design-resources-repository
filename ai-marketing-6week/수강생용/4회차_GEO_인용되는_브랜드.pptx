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1554480"/>
            <a:ext cx="12801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2121408"/>
            <a:ext cx="2194560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688336"/>
            <a:ext cx="17373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3255263"/>
            <a:ext cx="2743200" cy="310896"/>
          </a:xfrm>
          <a:prstGeom prst="rect">
            <a:avLst/>
          </a:prstGeom>
          <a:solidFill>
            <a:srgbClr val="4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3822191"/>
            <a:ext cx="201168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463039"/>
            <a:ext cx="18288" cy="29260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96596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 spc="120">
                <a:solidFill>
                  <a:srgbClr val="4FB2E5"/>
                </a:solidFill>
                <a:latin typeface="Arial"/>
                <a:ea typeface="Noto Sans CJK KR"/>
              </a:rPr>
              <a:t>AI 시대 마케팅, 누가 살아남을까? — 6주 실무 스터디  |  4회차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Noto Sans CJK KR"/>
              </a:rPr>
              <a:t>GEO — 생성형 엔진에 '인용'되는 브랜드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09160"/>
            <a:ext cx="7955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핵심 질문: ChatGPT · Perplexity · AI Overviews에 우리 브랜드는 어떻게 등장하는가?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144768"/>
            <a:ext cx="11368735" cy="0"/>
          </a:xfrm>
          <a:prstGeom prst="line">
            <a:avLst/>
          </a:prstGeom>
          <a:ln w="9525">
            <a:solidFill>
              <a:srgbClr val="1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236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8DA0BC"/>
                </a:solidFill>
                <a:latin typeface="Arial"/>
                <a:ea typeface="Noto Sans CJK KR"/>
              </a:rPr>
              <a:t>실무 마케터 초중급 · 주 1회 2시간 · 기준일 2026-07-03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735" y="6236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0" i="0">
                <a:solidFill>
                  <a:srgbClr val="6E82A0"/>
                </a:solidFill>
                <a:latin typeface="Arial"/>
                <a:ea typeface="Noto Sans CJK KR"/>
              </a:rPr>
              <a:t>AI Marketing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 수업이 끝나면, 여러분은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생성형 엔진이 인용할 콘텐츠를 고르는 조건 7가지를 체크리스트로 갖게 된다.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LLM이 우리 브랜드를 학습·인식하는 경로(웹문서·언론·리뷰·커뮤니티)를 파악한다.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GEO 진단 프롬프트로 콘텐츠를 리라이트하고, AI 검색에서 전후를 재측정할 수 있다.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오늘의 산출물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GEO 리라이트 워크시트 + 재테스트 기록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흐름 (120분)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698"/>
                <a:gridCol w="7287650"/>
                <a:gridCol w="2526385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내용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방식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0~15분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AEO 과제 리뷰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발표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15~35분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GEO 개념과 연구 흐름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35~55분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인용 가능 콘텐츠의 조건: 명확성·구조·출처·원문성·비교 가능성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 + 시연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55~75분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LLM이 브랜드를 인식하는 경로: 웹문서, 언론, 리뷰, 커뮤니티, DB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강의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75~105분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실습: GEO 리라이트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개인 실습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105~120분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 검색 재테스트 + 과제 안내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실습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42432" y="201168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 i="0" spc="100">
                <a:solidFill>
                  <a:srgbClr val="4FB2E5"/>
                </a:solidFill>
                <a:latin typeface="Arial"/>
                <a:ea typeface="Noto Sans CJK KR"/>
              </a:rPr>
              <a:t>GEO의 본질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24912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000" b="1" i="0">
                <a:solidFill>
                  <a:srgbClr val="FFFFFF"/>
                </a:solidFill>
                <a:latin typeface="Arial"/>
                <a:ea typeface="Noto Sans CJK KR"/>
              </a:rPr>
              <a:t>GEO는 AI를 속이는 기술이 아니라,
AI가 '안전하게 인용할 근거'를 늘리는 일이다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754880"/>
            <a:ext cx="9052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연구들은 콘텐츠 구조, 출처 명시, 통계, 인용, 명확한 문서 설계가
생성형 엔진 가시성에 영향을 줄 수 있음을 보여줍니다. (GEO, Aggarwal et al.)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6E82A0"/>
                </a:solidFill>
                <a:latin typeface="Arial"/>
                <a:ea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LLM은 우리 브랜드를 어디서 배우는가 — 5개 경로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① 웹문서: 자사 사이트, 블로그 — 우리가 직접 통제 가능한 유일한 경로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② 언론/미디어: 보도자료, 기사, 인터뷰 — 제3자 신뢰 신호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AI는 자사 주장보다 제3자 검증을 더 안전한 인용원으로 취급하는 경향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③ 리뷰 플랫폼: 앱스토어, 스마트스토어 리뷰, G2 등 — 실사용 근거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④ 커뮤니티: 레딧, 네이버 카페, 디시, 블라인드 — '진짜 목소리'로 참조됨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커뮤니티의 오래된 오정보가 AI 답변에 남아있는 경우가 많다 — 1회차 진단에서 확인한 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⑤ 구조화 데이터베이스: 위키, 기업정보 DB, 지도 — 엔티티(개체) 정보의 뼈대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시사점: 자사 콘텐츠만 고쳐서는 부족하다. 5개 경로 전체가 GEO의 작업 범위다.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GEO 리라이트 체크리스트 — 인용되는 콘텐츠의 7가지 조건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68733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5390"/>
                <a:gridCol w="5261563"/>
                <a:gridCol w="4791780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리라이트 방식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자가 점검 질문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원문성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우리만 말할 수 있는 데이터, 사례, 고객 질문, 실패 경험을 넣는다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이 문단은 경쟁사가 못 쓰는 내용인가?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명시성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"누구에게 적합한가/부적합한가"를 분명히 쓴다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타깃과 비타깃이 문장으로 구분되는가?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비교성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대안, 경쟁 옵션, 선택 기준을 표로 정리한다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AI가 비교 답변을 만들 때 쓸 표가 있는가?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출처성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통계, 법규, 인용, 조사 방법을 표시한다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주장마다 출처가 따라붙는가?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구조성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H2/H3, 표, 리스트, 요약문, FAQ를 사용한다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섹션만 떼어 읽어도 의미가 통하는가?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최신성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작성일, 업데이트일, 버전, 변경 이력을 남긴다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이 글이 언제 기준인지 알 수 있는가?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엔티티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브랜드명, 제품명, 인물, 지역, 카테고리를 일관되게 표기한다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같은 대상을 여러 이름으로 부르고 있지 않은가?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툴 다루기 ① — GEO 진단 프롬프트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ChatGPT · Claude · Gemini 어디서든 동일하게 작동합니다. 콘텐츠를 붙여넣고 실행하세요.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11368735" cy="400507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11368735" cy="31089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792224"/>
            <a:ext cx="10362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FA8CC"/>
                </a:solidFill>
                <a:latin typeface="Arial"/>
                <a:ea typeface="Noto Sans CJK KR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49424"/>
            <a:ext cx="10820095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너는 AI 검색 최적화 컨설턴트다.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아래 콘텐츠를 ChatGPT Search, Perplexity, Google AI Overviews에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인용될 가능성이 높도록 진단해줘.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기준은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1) 명확한 답변성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2) 출처/근거성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3) 구조화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4) 독창적 경험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5) 비교 가능성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6) 최신성이다.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각 항목을 5점 만점으로 평가하고,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고칠 문장과 추가해야 할 섹션을 제안해줘.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[콘텐츠 붙여넣기]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점수 자체보다 '고칠 문장' 제안을 보세요. 점수는 실행마다 달라질 수 있지만, 지적된 구조 문제는 대부분 유효합니다.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툴 다루기 ② — 측정 도구로서의 AI, 반복 측정의 원칙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LLM 답변은 같은 질문도 시점·표현·도구·모델에 따라 달라집니다. 1회 측정은 측정이 아닙니다.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444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측정 설계 — 고정할 것과 기록할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고정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질문 문장(토씨까지 동일), 도구 목록, 측정 요일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기록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날짜, 도구, 로그인 계정 여부, 답변 전문, 인용 URL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조건을 고정해야 '변화'가 리라이트 효과인지 알 수 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Perplexity — 인용 변화 관찰 1순위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리라이트 전/후 같은 질문 입력, 출처 목록 비교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우리 URL이 출처에 새로 등장했는가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주의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당장 안 바뀌어도 정상 — 색인·반영에 시간이 걸린다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6444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ChatGPT Search — 변동성 체험 도구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같은 질문을 새 대화에서 3회 반복 실행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3회 중 몇 회 언급되는가 (언급률로 기록)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'한 번 나왔다'가 아니라 'n회 중 몇 회'가 올바른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6431" y="4183380"/>
            <a:ext cx="5583783" cy="4572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79311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1395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로그 시트 — 6주의 자산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9311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이렇게 쓴다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질문 × 도구 × 날짜 매트릭스로 언급/인용/오류 기록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보는 것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주 단위 추세 — 오늘의 스냅샷이 아니라 흐름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포인트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이 시트가 곧 보고서이자 포트폴리오가 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(30분): GEO 리라이트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1 — 지난주 AEO 블록을 넣은 콘텐츠에 GEO 진단 프롬프트 실행 (7분)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2 — 7가지 체크리스트 기준으로 리라이트 (18분)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최소 적용 3종: ① 비교표 1개 추가 ② 출처 표기 3곳 ③ 작성일/기준일 명시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여력이 되면: 우리만의 데이터·사례 1개, 적합/부적합 대상 문단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STEP 3 — 리라이트 '전후 비교표' 작성 (5분)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바꾼 항목 / 수정 전 / 수정 후 / 기대 효과 4열로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실습 (15분): AI 검색 재테스트 — 1회차와 비교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1회차 진단표에서 썼던 질문 그대로 다시 테스트한다 (질문 변경 금지)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ChatGPT · Perplexity 각각 실행, 오늘 날짜로 기록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2B2B2B"/>
                </a:solidFill>
                <a:latin typeface="Arial"/>
                <a:ea typeface="Noto Sans CJK KR"/>
              </a:rPr>
              <a:t>비교 포인트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언급 여부의 변화 (없음→있음이 아니어도, 설명의 정확도 변화를 기록)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인용 출처의 변화 (우리 URL, 제3자 문서)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여전히 남아있는 오류/누락 — 다음 리라이트 대상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F6FA8"/>
                </a:solidFill>
                <a:latin typeface="Arial"/>
                <a:ea typeface="Noto Sans CJK KR"/>
              </a:rPr>
              <a:t>주의: 3주 만에 변화가 없는 것이 보통입니다. 오늘은 '측정 습관'을 만드는 날입니다.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측정을 KPI로 — AI 검색 가시성 지표 맛보기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6회차에 전체 KPI 체계를 다룹니다. 오늘은 세 가지만 기억하세요.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792224"/>
          <a:ext cx="11368733" cy="142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94"/>
                <a:gridCol w="6107171"/>
                <a:gridCol w="2442868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KPI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정의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측정 주기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Brand Mention Rate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핵심 프롬프트 중 브랜드가 언급된 비율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주간/월간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Citation Rate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브랜드 사이트가 출처로 인용된 비율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월간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Competitor Share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경쟁사 대비 언급 점유율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월간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오늘의 핵심 3줄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① GEO는 속임수가 아니다 — AI가 안전하게 인용할 '공개 근거'를 늘리는 일이다.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② 자사 사이트는 5개 인식 경로 중 하나일 뿐 — 언론·리뷰·커뮤니티·DB까지가 작업 범위다.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700" b="1" i="0">
                <a:solidFill>
                  <a:srgbClr val="1A1A1A"/>
                </a:solidFill>
                <a:latin typeface="Arial"/>
                <a:ea typeface="Noto Sans CJK KR"/>
              </a:rPr>
              <a:t>③ AI 답변은 흔들린다 — 1회 확인이 아니라 조건을 고정한 반복 측정이 실무다.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4회차 · GEO 인용되는 브랜드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이번 주 미션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4  GEO 인용되는 브랜드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600" b="1" i="0">
                <a:solidFill>
                  <a:srgbClr val="1A1A1A"/>
                </a:solidFill>
                <a:latin typeface="Arial"/>
                <a:ea typeface="Noto Sans CJK KR"/>
              </a:rPr>
              <a:t>미션: 리라이트 전후 콘텐츠를 AI 검색에 다시 물어보고 변화를 기록하라.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리라이트 전후 비교표 (바꾼 항목/전/후/기대 효과)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ChatGPT·Perplexity 재테스트 로그 — 같은 질문 3회 반복, 언급률로 기록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'여전히 남은 오류 목록'과 다음 리라이트 계획 3줄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1F6FA8"/>
                </a:solidFill>
                <a:latin typeface="Arial"/>
                <a:ea typeface="Noto Sans CJK KR"/>
              </a:rPr>
              <a:t>다음 회차 예고: 실무에 써먹는 AI 마케팅 워크플로우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본인의 '매주 반복하는 업무' 목록을 적어오세요. 그중 하나를 자동화합니다.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