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21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85216" y="1975104"/>
            <a:ext cx="47548" cy="146304"/>
          </a:xfrm>
          <a:prstGeom prst="roundRect">
            <a:avLst>
              <a:gd name="adj" fmla="val 40000"/>
            </a:avLst>
          </a:prstGeom>
          <a:solidFill>
            <a:srgbClr val="FDBA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71168" y="1874520"/>
            <a:ext cx="47548" cy="246888"/>
          </a:xfrm>
          <a:prstGeom prst="roundRect">
            <a:avLst>
              <a:gd name="adj" fmla="val 40000"/>
            </a:avLst>
          </a:prstGeom>
          <a:solidFill>
            <a:srgbClr val="FDBA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57120" y="1938528"/>
            <a:ext cx="47548" cy="182880"/>
          </a:xfrm>
          <a:prstGeom prst="roundRect">
            <a:avLst>
              <a:gd name="adj" fmla="val 40000"/>
            </a:avLst>
          </a:prstGeom>
          <a:solidFill>
            <a:srgbClr val="FDBA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43072" y="1810512"/>
            <a:ext cx="47548" cy="310896"/>
          </a:xfrm>
          <a:prstGeom prst="roundRect">
            <a:avLst>
              <a:gd name="adj" fmla="val 40000"/>
            </a:avLst>
          </a:prstGeom>
          <a:solidFill>
            <a:srgbClr val="FDBA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29024" y="1901952"/>
            <a:ext cx="47548" cy="219456"/>
          </a:xfrm>
          <a:prstGeom prst="roundRect">
            <a:avLst>
              <a:gd name="adj" fmla="val 40000"/>
            </a:avLst>
          </a:prstGeom>
          <a:solidFill>
            <a:srgbClr val="FDBA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14976" y="1847088"/>
            <a:ext cx="47548" cy="274320"/>
          </a:xfrm>
          <a:prstGeom prst="roundRect">
            <a:avLst>
              <a:gd name="adj" fmla="val 40000"/>
            </a:avLst>
          </a:prstGeom>
          <a:solidFill>
            <a:srgbClr val="FDBA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100928" y="1993392"/>
            <a:ext cx="47548" cy="128016"/>
          </a:xfrm>
          <a:prstGeom prst="roundRect">
            <a:avLst>
              <a:gd name="adj" fmla="val 40000"/>
            </a:avLst>
          </a:prstGeom>
          <a:solidFill>
            <a:srgbClr val="FDBA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2231136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450" b="1" i="0" spc="60">
                <a:solidFill>
                  <a:srgbClr val="FDBA74"/>
                </a:solidFill>
                <a:latin typeface="맑은 고딕"/>
                <a:ea typeface="맑은 고딕"/>
              </a:rPr>
              <a:t>AI 시대 마케팅, 누가 살아남을까? — 6주 실무 스터디  |  3회차 강사 가이드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651760"/>
            <a:ext cx="109728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900" b="1" i="0">
                <a:solidFill>
                  <a:srgbClr val="FFFFFF"/>
                </a:solidFill>
                <a:latin typeface="맑은 고딕"/>
                <a:ea typeface="맑은 고딕"/>
              </a:rPr>
              <a:t>[강사용] AEO — 답변으로 뽑히는 콘텐츠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" y="4261104"/>
            <a:ext cx="457200" cy="32004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6" y="4443984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D5DAE6"/>
                </a:solidFill>
                <a:latin typeface="맑은 고딕"/>
                <a:ea typeface="맑은 고딕"/>
              </a:rPr>
              <a:t>수업 운영 흐름 · 라이브 시연 시나리오 · 수강생 미션 · 평가 기준
핵심 질문: AI와 스니펫은 어떤 글을 답으로 선택하나?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" y="6089904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B7A99E"/>
                </a:solidFill>
                <a:latin typeface="맑은 고딕"/>
                <a:ea typeface="맑은 고딕"/>
              </a:rPr>
              <a:t>이 문서는 강사 전용입니다. 수강생 배포 금지 · 기준일 2026-07-03 · 링크는 수업 전날 접속 확인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728655" y="548640"/>
            <a:ext cx="896112" cy="402336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FDB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728655" y="548640"/>
            <a:ext cx="89611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250" b="1" i="0" spc="50">
                <a:solidFill>
                  <a:srgbClr val="FDBA74"/>
                </a:solidFill>
                <a:latin typeface="맑은 고딕"/>
                <a:ea typeface="맑은 고딕"/>
              </a:rPr>
              <a:t>강사용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457200"/>
            <a:ext cx="82296" cy="457200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384048"/>
            <a:ext cx="91440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 i="0">
                <a:solidFill>
                  <a:srgbClr val="111927"/>
                </a:solidFill>
                <a:latin typeface="맑은 고딕"/>
                <a:ea typeface="맑은 고딕"/>
              </a:rPr>
              <a:t>운영 타임라인 × 시연 매핑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842955" y="475488"/>
            <a:ext cx="781812" cy="274320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42955" y="486460"/>
            <a:ext cx="78181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100" b="1" i="0" spc="20">
                <a:solidFill>
                  <a:srgbClr val="FFFFFF"/>
                </a:solidFill>
                <a:latin typeface="맑은 고딕"/>
                <a:ea typeface="맑은 고딕"/>
              </a:rPr>
              <a:t>강사용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6547104"/>
            <a:ext cx="182880" cy="25603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6446520"/>
            <a:ext cx="1105783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 i="0">
                <a:solidFill>
                  <a:srgbClr val="9AA4B2"/>
                </a:solidFill>
                <a:latin typeface="맑은 고딕"/>
                <a:ea typeface="맑은 고딕"/>
              </a:rPr>
              <a:t>[강사용] AI 시대 마케팅, 누가 살아남을까? — 6주 실무 스터디   |   3회차 · AEO 답변으로 뽑히는 콘텐츠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66928" y="1207007"/>
          <a:ext cx="11057838" cy="2524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79419"/>
                <a:gridCol w="4934903"/>
                <a:gridCol w="4843516"/>
              </a:tblGrid>
              <a:tr h="3302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시간</a:t>
                      </a:r>
                    </a:p>
                  </a:txBody>
                  <a:tcPr anchor="ctr" marL="100584" marR="91440" marT="41148" marB="41148">
                    <a:solidFill>
                      <a:srgbClr val="C241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내용</a:t>
                      </a:r>
                    </a:p>
                  </a:txBody>
                  <a:tcPr anchor="ctr" marL="100584" marR="91440" marT="41148" marB="41148">
                    <a:solidFill>
                      <a:srgbClr val="C241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시연/활동</a:t>
                      </a:r>
                    </a:p>
                  </a:txBody>
                  <a:tcPr anchor="ctr" marL="100584" marR="91440" marT="41148" marB="41148">
                    <a:solidFill>
                      <a:srgbClr val="C2410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1" i="0">
                          <a:solidFill>
                            <a:srgbClr val="111927"/>
                          </a:solidFill>
                          <a:latin typeface="맑은 고딕"/>
                          <a:ea typeface="맑은 고딕"/>
                        </a:rPr>
                        <a:t>0~15분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SEO 진단 과제 공유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우수 리포트 2건 — '증거가 좋은 사례' 중심으로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1" i="0">
                          <a:solidFill>
                            <a:srgbClr val="111927"/>
                          </a:solidFill>
                          <a:latin typeface="맑은 고딕"/>
                          <a:ea typeface="맑은 고딕"/>
                        </a:rPr>
                        <a:t>15~35분</a:t>
                      </a:r>
                    </a:p>
                  </a:txBody>
                  <a:tcPr anchor="ctr" marL="100584" marR="91440" marT="41148" marB="41148">
                    <a:solidFill>
                      <a:srgbClr val="FBED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AEO 개념: 스니펫, PAA, AI 답변</a:t>
                      </a:r>
                    </a:p>
                  </a:txBody>
                  <a:tcPr anchor="ctr" marL="100584" marR="91440" marT="41148" marB="41148">
                    <a:solidFill>
                      <a:srgbClr val="FBED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D1 웹검색 + D2 웹검색 (구글/네이버 나란히)</a:t>
                      </a:r>
                    </a:p>
                  </a:txBody>
                  <a:tcPr anchor="ctr" marL="100584" marR="91440" marT="41148" marB="41148">
                    <a:solidFill>
                      <a:srgbClr val="FBEDE4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1" i="0">
                          <a:solidFill>
                            <a:srgbClr val="111927"/>
                          </a:solidFill>
                          <a:latin typeface="맑은 고딕"/>
                          <a:ea typeface="맑은 고딕"/>
                        </a:rPr>
                        <a:t>35~55분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좋은 답변 블록의 구조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D3 사이트 (ChatGPT 답변 해부)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1" i="0">
                          <a:solidFill>
                            <a:srgbClr val="111927"/>
                          </a:solidFill>
                          <a:latin typeface="맑은 고딕"/>
                          <a:ea typeface="맑은 고딕"/>
                        </a:rPr>
                        <a:t>55~75분</a:t>
                      </a:r>
                    </a:p>
                  </a:txBody>
                  <a:tcPr anchor="ctr" marL="100584" marR="91440" marT="41148" marB="41148">
                    <a:solidFill>
                      <a:srgbClr val="FBED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질문 클러스터 만들기</a:t>
                      </a:r>
                    </a:p>
                  </a:txBody>
                  <a:tcPr anchor="ctr" marL="100584" marR="91440" marT="41148" marB="41148">
                    <a:solidFill>
                      <a:srgbClr val="FBED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D4 라이브 시연 (질문 발굴 파이프라인)</a:t>
                      </a:r>
                    </a:p>
                  </a:txBody>
                  <a:tcPr anchor="ctr" marL="100584" marR="91440" marT="41148" marB="41148">
                    <a:solidFill>
                      <a:srgbClr val="FBEDE4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1" i="0">
                          <a:solidFill>
                            <a:srgbClr val="111927"/>
                          </a:solidFill>
                          <a:latin typeface="맑은 고딕"/>
                          <a:ea typeface="맑은 고딕"/>
                        </a:rPr>
                        <a:t>75~105분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실습: AEO형 재구성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개별 실습, 강사는 '한 문장 답' 첨삭 순회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1" i="0">
                          <a:solidFill>
                            <a:srgbClr val="111927"/>
                          </a:solidFill>
                          <a:latin typeface="맑은 고딕"/>
                          <a:ea typeface="맑은 고딕"/>
                        </a:rPr>
                        <a:t>105~120분</a:t>
                      </a:r>
                    </a:p>
                  </a:txBody>
                  <a:tcPr anchor="ctr" marL="100584" marR="91440" marT="41148" marB="41148">
                    <a:solidFill>
                      <a:srgbClr val="FBED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피드백: 짧지만 얕지 않은가</a:t>
                      </a:r>
                    </a:p>
                  </a:txBody>
                  <a:tcPr anchor="ctr" marL="100584" marR="91440" marT="41148" marB="41148">
                    <a:solidFill>
                      <a:srgbClr val="FBED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교환 검증 결과 2건 공개 리뷰 + 미션 배포</a:t>
                      </a:r>
                    </a:p>
                  </a:txBody>
                  <a:tcPr anchor="ctr" marL="100584" marR="91440" marT="41148" marB="41148">
                    <a:solidFill>
                      <a:srgbClr val="FBEDE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457200"/>
            <a:ext cx="82296" cy="457200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384048"/>
            <a:ext cx="91440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 i="0">
                <a:solidFill>
                  <a:srgbClr val="111927"/>
                </a:solidFill>
                <a:latin typeface="맑은 고딕"/>
                <a:ea typeface="맑은 고딕"/>
              </a:rPr>
              <a:t>라이브 시연 시나리오 ① (D1~D3)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842955" y="475488"/>
            <a:ext cx="781812" cy="274320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42955" y="486460"/>
            <a:ext cx="78181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100" b="1" i="0" spc="20">
                <a:solidFill>
                  <a:srgbClr val="FFFFFF"/>
                </a:solidFill>
                <a:latin typeface="맑은 고딕"/>
                <a:ea typeface="맑은 고딕"/>
              </a:rPr>
              <a:t>강사용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" y="932688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6B7280"/>
                </a:solidFill>
                <a:latin typeface="맑은 고딕"/>
                <a:ea typeface="맑은 고딕"/>
              </a:rPr>
              <a:t>유형 태그로 화면을 구분하고, '검색/링크'는 그대로 입력, '멘트'는 그 자리에서 말할 문장입니다.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6547104"/>
            <a:ext cx="182880" cy="25603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6446520"/>
            <a:ext cx="1105783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 i="0">
                <a:solidFill>
                  <a:srgbClr val="9AA4B2"/>
                </a:solidFill>
                <a:latin typeface="맑은 고딕"/>
                <a:ea typeface="맑은 고딕"/>
              </a:rPr>
              <a:t>[강사용] AI 시대 마케팅, 누가 살아남을까? — 6주 실무 스터디   |   3회차 · AEO 답변으로 뽑히는 콘텐츠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1517904"/>
            <a:ext cx="11057839" cy="151180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1517904"/>
            <a:ext cx="82296" cy="151180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664208"/>
            <a:ext cx="1371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11927"/>
                </a:solidFill>
                <a:latin typeface="맑은 고딕"/>
                <a:ea typeface="맑은 고딕"/>
              </a:rPr>
              <a:t>D1 · 15~35분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" y="2609088"/>
            <a:ext cx="581558" cy="27432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2620060"/>
            <a:ext cx="58155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 i="0" spc="20">
                <a:solidFill>
                  <a:srgbClr val="FFFFFF"/>
                </a:solidFill>
                <a:latin typeface="맑은 고딕"/>
                <a:ea typeface="맑은 고딕"/>
              </a:rPr>
              <a:t>웹검색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12848" y="1664208"/>
            <a:ext cx="12801" cy="1219200"/>
          </a:xfrm>
          <a:prstGeom prst="rect">
            <a:avLst/>
          </a:prstGeom>
          <a:solidFill>
            <a:srgbClr val="E3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14016" y="1636776"/>
            <a:ext cx="900958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300" b="1" i="0">
                <a:solidFill>
                  <a:srgbClr val="111927"/>
                </a:solidFill>
                <a:latin typeface="맑은 고딕"/>
                <a:ea typeface="맑은 고딕"/>
              </a:rPr>
              <a:t>Featured Snippet + PAA 실물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414016" y="2002536"/>
            <a:ext cx="9009583" cy="402336"/>
          </a:xfrm>
          <a:prstGeom prst="roundRect">
            <a:avLst>
              <a:gd name="adj" fmla="val 14000"/>
            </a:avLst>
          </a:prstGeom>
          <a:solidFill>
            <a:srgbClr val="FB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42032" y="2020824"/>
            <a:ext cx="8753551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 i="0" spc="30">
                <a:solidFill>
                  <a:srgbClr val="C2410C"/>
                </a:solidFill>
                <a:latin typeface="맑은 고딕"/>
                <a:ea typeface="맑은 고딕"/>
              </a:rPr>
              <a:t>검색/링크   </a:t>
            </a:r>
            <a:r>
              <a:rPr sz="1000" b="0" i="0">
                <a:solidFill>
                  <a:srgbClr val="374151"/>
                </a:solidFill>
                <a:latin typeface="Consolas"/>
                <a:ea typeface="맑은 고딕"/>
              </a:rPr>
              <a:t>구글 검색: "연금저축 irp 차이"   (정의·비교형 키워드면 무엇이든)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14016" y="2487168"/>
            <a:ext cx="9009583" cy="469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000" b="1" i="0" spc="30">
                <a:solidFill>
                  <a:srgbClr val="2563EB"/>
                </a:solidFill>
                <a:latin typeface="맑은 고딕"/>
                <a:ea typeface="맑은 고딕"/>
              </a:rPr>
              <a:t>멘트   </a:t>
            </a:r>
            <a:r>
              <a:rPr sz="1100" b="0" i="0">
                <a:solidFill>
                  <a:srgbClr val="374151"/>
                </a:solidFill>
                <a:latin typeface="맑은 고딕"/>
                <a:ea typeface="맑은 고딕"/>
              </a:rPr>
              <a:t>스니펫에 뽑힌 글의 '첫 문장'을 소리 내어 읽기 → "질문 바로 아래 답이 있죠. 이게 전부입니다". PAA를 펼칠수록 질문이 늘어나는 것도 시연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3212592"/>
            <a:ext cx="11057839" cy="151180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3212592"/>
            <a:ext cx="82296" cy="151180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3358896"/>
            <a:ext cx="1371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11927"/>
                </a:solidFill>
                <a:latin typeface="맑은 고딕"/>
                <a:ea typeface="맑은 고딕"/>
              </a:rPr>
              <a:t>D2 · 15~35분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2" y="4303776"/>
            <a:ext cx="581558" cy="27432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4672" y="4314748"/>
            <a:ext cx="58155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 i="0" spc="20">
                <a:solidFill>
                  <a:srgbClr val="FFFFFF"/>
                </a:solidFill>
                <a:latin typeface="맑은 고딕"/>
                <a:ea typeface="맑은 고딕"/>
              </a:rPr>
              <a:t>웹검색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212848" y="3358896"/>
            <a:ext cx="12801" cy="1219200"/>
          </a:xfrm>
          <a:prstGeom prst="rect">
            <a:avLst/>
          </a:prstGeom>
          <a:solidFill>
            <a:srgbClr val="E3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414016" y="3331464"/>
            <a:ext cx="900958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300" b="1" i="0">
                <a:solidFill>
                  <a:srgbClr val="111927"/>
                </a:solidFill>
                <a:latin typeface="맑은 고딕"/>
                <a:ea typeface="맑은 고딕"/>
              </a:rPr>
              <a:t>네이버 스마트블록/지식스니펫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414016" y="3697224"/>
            <a:ext cx="9009583" cy="402336"/>
          </a:xfrm>
          <a:prstGeom prst="roundRect">
            <a:avLst>
              <a:gd name="adj" fmla="val 14000"/>
            </a:avLst>
          </a:prstGeom>
          <a:solidFill>
            <a:srgbClr val="FB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542032" y="3715512"/>
            <a:ext cx="8753551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 i="0" spc="30">
                <a:solidFill>
                  <a:srgbClr val="C2410C"/>
                </a:solidFill>
                <a:latin typeface="맑은 고딕"/>
                <a:ea typeface="맑은 고딕"/>
              </a:rPr>
              <a:t>검색/링크   </a:t>
            </a:r>
            <a:r>
              <a:rPr sz="1000" b="0" i="0">
                <a:solidFill>
                  <a:srgbClr val="374151"/>
                </a:solidFill>
                <a:latin typeface="Consolas"/>
                <a:ea typeface="맑은 고딕"/>
              </a:rPr>
              <a:t>네이버 검색: 같은 키워드   → 인기주제·지식스니펫 블록 확인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14016" y="4181856"/>
            <a:ext cx="9009583" cy="4693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000" b="1" i="0" spc="30">
                <a:solidFill>
                  <a:srgbClr val="2563EB"/>
                </a:solidFill>
                <a:latin typeface="맑은 고딕"/>
                <a:ea typeface="맑은 고딕"/>
              </a:rPr>
              <a:t>멘트   </a:t>
            </a:r>
            <a:r>
              <a:rPr sz="1100" b="0" i="0">
                <a:solidFill>
                  <a:srgbClr val="374151"/>
                </a:solidFill>
                <a:latin typeface="맑은 고딕"/>
                <a:ea typeface="맑은 고딕"/>
              </a:rPr>
              <a:t>"네이버도 이미 '답 단위'로 재편 중입니다. 질문형 구조는 양쪽 모두에 통합니다"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4907280"/>
            <a:ext cx="11057839" cy="151180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4907280"/>
            <a:ext cx="82296" cy="151180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4672" y="5053584"/>
            <a:ext cx="1371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11927"/>
                </a:solidFill>
                <a:latin typeface="맑은 고딕"/>
                <a:ea typeface="맑은 고딕"/>
              </a:rPr>
              <a:t>D3 · 35~55분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4672" y="5998464"/>
            <a:ext cx="581558" cy="27432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4672" y="6009436"/>
            <a:ext cx="58155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 i="0" spc="20">
                <a:solidFill>
                  <a:srgbClr val="FFFFFF"/>
                </a:solidFill>
                <a:latin typeface="맑은 고딕"/>
                <a:ea typeface="맑은 고딕"/>
              </a:rPr>
              <a:t>사이트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12848" y="5053584"/>
            <a:ext cx="12801" cy="1219200"/>
          </a:xfrm>
          <a:prstGeom prst="rect">
            <a:avLst/>
          </a:prstGeom>
          <a:solidFill>
            <a:srgbClr val="E3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14016" y="5026152"/>
            <a:ext cx="900958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300" b="1" i="0">
                <a:solidFill>
                  <a:srgbClr val="111927"/>
                </a:solidFill>
                <a:latin typeface="맑은 고딕"/>
                <a:ea typeface="맑은 고딕"/>
              </a:rPr>
              <a:t>ChatGPT 답변 해부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414016" y="5391912"/>
            <a:ext cx="9009583" cy="402336"/>
          </a:xfrm>
          <a:prstGeom prst="roundRect">
            <a:avLst>
              <a:gd name="adj" fmla="val 14000"/>
            </a:avLst>
          </a:prstGeom>
          <a:solidFill>
            <a:srgbClr val="FB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542032" y="5410200"/>
            <a:ext cx="8753551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 i="0" spc="30">
                <a:solidFill>
                  <a:srgbClr val="C2410C"/>
                </a:solidFill>
                <a:latin typeface="맑은 고딕"/>
                <a:ea typeface="맑은 고딕"/>
              </a:rPr>
              <a:t>검색/링크   </a:t>
            </a:r>
            <a:r>
              <a:rPr sz="1000" b="0" i="0">
                <a:solidFill>
                  <a:srgbClr val="374151"/>
                </a:solidFill>
                <a:latin typeface="Consolas"/>
                <a:ea typeface="맑은 고딕"/>
              </a:rPr>
              <a:t>chatgpt.com에 같은 질문 입력   → 답변 구조 관찰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14016" y="5876544"/>
            <a:ext cx="9009583" cy="4693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000" b="1" i="0" spc="30">
                <a:solidFill>
                  <a:srgbClr val="0F766E"/>
                </a:solidFill>
                <a:latin typeface="맑은 고딕"/>
                <a:ea typeface="맑은 고딕"/>
              </a:rPr>
              <a:t>멘트   </a:t>
            </a:r>
            <a:r>
              <a:rPr sz="1100" b="0" i="0">
                <a:solidFill>
                  <a:srgbClr val="374151"/>
                </a:solidFill>
                <a:latin typeface="맑은 고딕"/>
                <a:ea typeface="맑은 고딕"/>
              </a:rPr>
              <a:t>답변을 보며 "결론→조건→나열" 구조를 판서로 분해. "AI가 쓰는 구조가 곧 AI가 좋아하는 구조입니다"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457200"/>
            <a:ext cx="82296" cy="457200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384048"/>
            <a:ext cx="91440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 i="0">
                <a:solidFill>
                  <a:srgbClr val="111927"/>
                </a:solidFill>
                <a:latin typeface="맑은 고딕"/>
                <a:ea typeface="맑은 고딕"/>
              </a:rPr>
              <a:t>라이브 시연 시나리오 ② (D4~D5)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842955" y="475488"/>
            <a:ext cx="781812" cy="274320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42955" y="486460"/>
            <a:ext cx="78181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100" b="1" i="0" spc="20">
                <a:solidFill>
                  <a:srgbClr val="FFFFFF"/>
                </a:solidFill>
                <a:latin typeface="맑은 고딕"/>
                <a:ea typeface="맑은 고딕"/>
              </a:rPr>
              <a:t>강사용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6547104"/>
            <a:ext cx="182880" cy="25603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6446520"/>
            <a:ext cx="1105783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 i="0">
                <a:solidFill>
                  <a:srgbClr val="9AA4B2"/>
                </a:solidFill>
                <a:latin typeface="맑은 고딕"/>
                <a:ea typeface="맑은 고딕"/>
              </a:rPr>
              <a:t>[강사용] AI 시대 마케팅, 누가 살아남을까? — 6주 실무 스터디   |   3회차 · AEO 답변으로 뽑히는 콘텐츠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225295"/>
            <a:ext cx="11057839" cy="2267712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225295"/>
            <a:ext cx="82296" cy="22677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371599"/>
            <a:ext cx="1371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11927"/>
                </a:solidFill>
                <a:latin typeface="맑은 고딕"/>
                <a:ea typeface="맑은 고딕"/>
              </a:rPr>
              <a:t>D4 · 55~75분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" y="3072384"/>
            <a:ext cx="943660" cy="27432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3083356"/>
            <a:ext cx="9436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 i="0" spc="20">
                <a:solidFill>
                  <a:srgbClr val="FFFFFF"/>
                </a:solidFill>
                <a:latin typeface="맑은 고딕"/>
                <a:ea typeface="맑은 고딕"/>
              </a:rPr>
              <a:t>라이브 시연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12848" y="1371599"/>
            <a:ext cx="12801" cy="1975104"/>
          </a:xfrm>
          <a:prstGeom prst="rect">
            <a:avLst/>
          </a:prstGeom>
          <a:solidFill>
            <a:srgbClr val="E3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14016" y="1344167"/>
            <a:ext cx="900958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300" b="1" i="0">
                <a:solidFill>
                  <a:srgbClr val="111927"/>
                </a:solidFill>
                <a:latin typeface="맑은 고딕"/>
                <a:ea typeface="맑은 고딕"/>
              </a:rPr>
              <a:t>질문 발굴 파이프라인 (핵심 시연)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414016" y="1709927"/>
            <a:ext cx="9009583" cy="402336"/>
          </a:xfrm>
          <a:prstGeom prst="roundRect">
            <a:avLst>
              <a:gd name="adj" fmla="val 14000"/>
            </a:avLst>
          </a:prstGeom>
          <a:solidFill>
            <a:srgbClr val="FB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42032" y="1728215"/>
            <a:ext cx="8753551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 i="0" spc="30">
                <a:solidFill>
                  <a:srgbClr val="C2410C"/>
                </a:solidFill>
                <a:latin typeface="맑은 고딕"/>
                <a:ea typeface="맑은 고딕"/>
              </a:rPr>
              <a:t>검색/링크   </a:t>
            </a:r>
            <a:r>
              <a:rPr sz="1000" b="0" i="0">
                <a:solidFill>
                  <a:srgbClr val="374151"/>
                </a:solidFill>
                <a:latin typeface="Consolas"/>
                <a:ea typeface="맑은 고딕"/>
              </a:rPr>
              <a:t>① ChatGPT: 6유형×5개 질문 생성   ② 구글 PAA·자동완성으로 검증   ③ 네이버 지식iN 검색으로 국내 검증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14016" y="2194559"/>
            <a:ext cx="9009583" cy="12252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000" b="1" i="0" spc="30">
                <a:solidFill>
                  <a:srgbClr val="7C3AED"/>
                </a:solidFill>
                <a:latin typeface="맑은 고딕"/>
                <a:ea typeface="맑은 고딕"/>
              </a:rPr>
              <a:t>멘트   </a:t>
            </a:r>
            <a:r>
              <a:rPr sz="1100" b="0" i="0">
                <a:solidFill>
                  <a:srgbClr val="374151"/>
                </a:solidFill>
                <a:latin typeface="맑은 고딕"/>
                <a:ea typeface="맑은 고딕"/>
              </a:rPr>
              <a:t>"AI가 만든 질문은 후보, 검색 데이터가 검증" — 3단계를 8분 안에 압축 시연. 겹치는 질문에 동그라미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3675887"/>
            <a:ext cx="11057839" cy="2267712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3675887"/>
            <a:ext cx="82296" cy="2267712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" y="3822191"/>
            <a:ext cx="1371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11927"/>
                </a:solidFill>
                <a:latin typeface="맑은 고딕"/>
                <a:ea typeface="맑은 고딕"/>
              </a:rPr>
              <a:t>D5 · 여유시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4672" y="5522976"/>
            <a:ext cx="581558" cy="274320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" y="5533948"/>
            <a:ext cx="58155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 i="0" spc="20">
                <a:solidFill>
                  <a:srgbClr val="FFFFFF"/>
                </a:solidFill>
                <a:latin typeface="맑은 고딕"/>
                <a:ea typeface="맑은 고딕"/>
              </a:rPr>
              <a:t>유튜브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12848" y="3822191"/>
            <a:ext cx="12801" cy="1975104"/>
          </a:xfrm>
          <a:prstGeom prst="rect">
            <a:avLst/>
          </a:prstGeom>
          <a:solidFill>
            <a:srgbClr val="E3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414016" y="3794759"/>
            <a:ext cx="900958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300" b="1" i="0">
                <a:solidFill>
                  <a:srgbClr val="111927"/>
                </a:solidFill>
                <a:latin typeface="맑은 고딕"/>
                <a:ea typeface="맑은 고딕"/>
              </a:rPr>
              <a:t>스니펫 최적화 사례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414016" y="4160520"/>
            <a:ext cx="9009583" cy="402336"/>
          </a:xfrm>
          <a:prstGeom prst="roundRect">
            <a:avLst>
              <a:gd name="adj" fmla="val 14000"/>
            </a:avLst>
          </a:prstGeom>
          <a:solidFill>
            <a:srgbClr val="FB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542032" y="4178807"/>
            <a:ext cx="8753551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 i="0" spc="30">
                <a:solidFill>
                  <a:srgbClr val="C2410C"/>
                </a:solidFill>
                <a:latin typeface="맑은 고딕"/>
                <a:ea typeface="맑은 고딕"/>
              </a:rPr>
              <a:t>검색/링크   </a:t>
            </a:r>
            <a:r>
              <a:rPr sz="1000" b="0" i="0">
                <a:solidFill>
                  <a:srgbClr val="374151"/>
                </a:solidFill>
                <a:latin typeface="Consolas"/>
                <a:ea typeface="맑은 고딕"/>
              </a:rPr>
              <a:t>유튜브 검색:   "featured snippet optimization"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14016" y="4645152"/>
            <a:ext cx="9009583" cy="12252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000" b="1" i="0" spc="30">
                <a:solidFill>
                  <a:srgbClr val="DC2626"/>
                </a:solidFill>
                <a:latin typeface="맑은 고딕"/>
                <a:ea typeface="맑은 고딕"/>
              </a:rPr>
              <a:t>멘트   </a:t>
            </a:r>
            <a:r>
              <a:rPr sz="1100" b="0" i="0">
                <a:solidFill>
                  <a:srgbClr val="374151"/>
                </a:solidFill>
                <a:latin typeface="맑은 고딕"/>
                <a:ea typeface="맑은 고딕"/>
              </a:rPr>
              <a:t>영어 자료가 많음을 보여주며 "이 분야는 영어로 검색하면 자료가 10배"라는 검색 팁 전달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6035040"/>
            <a:ext cx="11057839" cy="420624"/>
          </a:xfrm>
          <a:prstGeom prst="roundRect">
            <a:avLst>
              <a:gd name="adj" fmla="val 22000"/>
            </a:avLst>
          </a:prstGeom>
          <a:solidFill>
            <a:srgbClr val="FB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66928" y="6035040"/>
            <a:ext cx="68580" cy="420624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86384" y="6035040"/>
            <a:ext cx="10673791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 i="0" spc="50">
                <a:solidFill>
                  <a:srgbClr val="C2410C"/>
                </a:solidFill>
                <a:latin typeface="맑은 고딕"/>
                <a:ea typeface="맑은 고딕"/>
              </a:rPr>
              <a:t>TIP   </a:t>
            </a:r>
            <a:r>
              <a:rPr sz="1100" b="0" i="0">
                <a:solidFill>
                  <a:srgbClr val="374151"/>
                </a:solidFill>
                <a:latin typeface="맑은 고딕"/>
                <a:ea typeface="맑은 고딕"/>
              </a:rPr>
              <a:t>모든 링크·검색어는 수업 전날 접속·노출을 확인하세요. AI 결과는 시점·계정·지역에 따라 달라집니다.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457200"/>
            <a:ext cx="82296" cy="457200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384048"/>
            <a:ext cx="91440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 i="0">
                <a:solidFill>
                  <a:srgbClr val="111927"/>
                </a:solidFill>
                <a:latin typeface="맑은 고딕"/>
                <a:ea typeface="맑은 고딕"/>
              </a:rPr>
              <a:t>핵심 시연 — 라이브 리라이트 (75~105분 실습 도입)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842955" y="475488"/>
            <a:ext cx="781812" cy="274320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42955" y="486460"/>
            <a:ext cx="78181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100" b="1" i="0" spc="20">
                <a:solidFill>
                  <a:srgbClr val="FFFFFF"/>
                </a:solidFill>
                <a:latin typeface="맑은 고딕"/>
                <a:ea typeface="맑은 고딕"/>
              </a:rPr>
              <a:t>강사용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" y="932688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6B7280"/>
                </a:solidFill>
                <a:latin typeface="맑은 고딕"/>
                <a:ea typeface="맑은 고딕"/>
              </a:rPr>
              <a:t>이 회차의 하이라이트. 수강생 글 하나를 받아 눈앞에서 AEO 블록으로 바꿉니다.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6547104"/>
            <a:ext cx="182880" cy="25603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6446520"/>
            <a:ext cx="1105783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 i="0">
                <a:solidFill>
                  <a:srgbClr val="9AA4B2"/>
                </a:solidFill>
                <a:latin typeface="맑은 고딕"/>
                <a:ea typeface="맑은 고딕"/>
              </a:rPr>
              <a:t>[강사용] AI 시대 마케팅, 누가 살아남을까? — 6주 실무 스터디   |   3회차 · AEO 답변으로 뽑히는 콘텐츠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1499616"/>
            <a:ext cx="5419191" cy="491947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1499616"/>
            <a:ext cx="64008" cy="491947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86384" y="1645920"/>
            <a:ext cx="943660" cy="27432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" y="1656892"/>
            <a:ext cx="9436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 i="0" spc="20">
                <a:solidFill>
                  <a:srgbClr val="FFFFFF"/>
                </a:solidFill>
                <a:latin typeface="맑은 고딕"/>
                <a:ea typeface="맑은 고딕"/>
              </a:rPr>
              <a:t>라이브 시연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58060" y="1627632"/>
            <a:ext cx="397261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450" b="1" i="0">
                <a:solidFill>
                  <a:srgbClr val="111927"/>
                </a:solidFill>
                <a:latin typeface="맑은 고딕"/>
                <a:ea typeface="맑은 고딕"/>
              </a:rPr>
              <a:t>진행 순서 (10분)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2048256"/>
            <a:ext cx="5035143" cy="4279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1150" b="1" i="0">
                <a:solidFill>
                  <a:srgbClr val="C2410C"/>
                </a:solidFill>
                <a:latin typeface="맑은 고딕"/>
                <a:ea typeface="맑은 고딕"/>
              </a:rPr>
              <a:t>1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지원자의 글 한 단락을 화면에 띄운다 (사전 섭외 권장)</a:t>
            </a:r>
          </a:p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1150" b="1" i="0">
                <a:solidFill>
                  <a:srgbClr val="C2410C"/>
                </a:solidFill>
                <a:latin typeface="맑은 고딕"/>
                <a:ea typeface="맑은 고딕"/>
              </a:rPr>
              <a:t>2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"이 단락이 답하는 질문이 뭘까요?" 수강생에게 먼저 묻기</a:t>
            </a:r>
          </a:p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1150" b="1" i="0">
                <a:solidFill>
                  <a:srgbClr val="C2410C"/>
                </a:solidFill>
                <a:latin typeface="맑은 고딕"/>
                <a:ea typeface="맑은 고딕"/>
              </a:rPr>
              <a:t>3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8칸 템플릿을 옆에 띄우고 위에서부터 같이 채우기</a:t>
            </a:r>
          </a:p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1150" b="1" i="0">
                <a:solidFill>
                  <a:srgbClr val="C2410C"/>
                </a:solidFill>
                <a:latin typeface="맑은 고딕"/>
                <a:ea typeface="맑은 고딕"/>
              </a:rPr>
              <a:t>4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'한 문장 답'을 3번 고쳐 쓰는 과정을 그대로 보여주기 — 완성본보다 수정 과정이 교육적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499616"/>
            <a:ext cx="5419191" cy="491947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499616"/>
            <a:ext cx="64008" cy="491947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645920"/>
            <a:ext cx="943660" cy="27432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656892"/>
            <a:ext cx="9436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 i="0" spc="20">
                <a:solidFill>
                  <a:srgbClr val="FFFFFF"/>
                </a:solidFill>
                <a:latin typeface="맑은 고딕"/>
                <a:ea typeface="맑은 고딕"/>
              </a:rPr>
              <a:t>라이브 시연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6707" y="1627632"/>
            <a:ext cx="397261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450" b="1" i="0">
                <a:solidFill>
                  <a:srgbClr val="111927"/>
                </a:solidFill>
                <a:latin typeface="맑은 고딕"/>
                <a:ea typeface="맑은 고딕"/>
              </a:rPr>
              <a:t>AI 보조 버전 (시간 없을 때 5분)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25031" y="2048256"/>
            <a:ext cx="5035143" cy="4279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1150" b="1" i="0">
                <a:solidFill>
                  <a:srgbClr val="C2410C"/>
                </a:solidFill>
                <a:latin typeface="맑은 고딕"/>
                <a:ea typeface="맑은 고딕"/>
              </a:rPr>
              <a:t>1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ChatGPT에 글+템플릿을 주고 초안 블록 생성</a:t>
            </a:r>
          </a:p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1150" b="1" i="0">
                <a:solidFill>
                  <a:srgbClr val="C2410C"/>
                </a:solidFill>
                <a:latin typeface="맑은 고딕"/>
                <a:ea typeface="맑은 고딕"/>
              </a:rPr>
              <a:t>2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초안에서 '근거 없음'·'평균적 표현'을 즉석에서 지적</a:t>
            </a:r>
          </a:p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1150" b="1" i="0">
                <a:solidFill>
                  <a:srgbClr val="C2410C"/>
                </a:solidFill>
                <a:latin typeface="맑은 고딕"/>
                <a:ea typeface="맑은 고딕"/>
              </a:rPr>
              <a:t>3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우리 데이터·사례를 넣어 문장이 살아나는 순간을 시연</a:t>
            </a:r>
          </a:p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1150" b="1" i="0">
                <a:solidFill>
                  <a:srgbClr val="C2410C"/>
                </a:solidFill>
                <a:latin typeface="맑은 고딕"/>
                <a:ea typeface="맑은 고딕"/>
              </a:rPr>
              <a:t>멘트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"AI 초안 그대로면 남들과 같은 글, 우리 사례가 들어가면 인용되는 글"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457200"/>
            <a:ext cx="82296" cy="457200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384048"/>
            <a:ext cx="91440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 i="0">
                <a:solidFill>
                  <a:srgbClr val="111927"/>
                </a:solidFill>
                <a:latin typeface="맑은 고딕"/>
                <a:ea typeface="맑은 고딕"/>
              </a:rPr>
              <a:t>시연 백업 플랜 — 라이브가 실패할 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842955" y="475488"/>
            <a:ext cx="781812" cy="274320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42955" y="486460"/>
            <a:ext cx="78181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100" b="1" i="0" spc="20">
                <a:solidFill>
                  <a:srgbClr val="FFFFFF"/>
                </a:solidFill>
                <a:latin typeface="맑은 고딕"/>
                <a:ea typeface="맑은 고딕"/>
              </a:rPr>
              <a:t>강사용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" y="932688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6B7280"/>
                </a:solidFill>
                <a:latin typeface="맑은 고딕"/>
                <a:ea typeface="맑은 고딕"/>
              </a:rPr>
              <a:t>AI 시연은 반드시 실패를 전제로 준비합니다. 실패 자체가 최고의 교육 소재입니다.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6547104"/>
            <a:ext cx="182880" cy="25603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6446520"/>
            <a:ext cx="1105783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 i="0">
                <a:solidFill>
                  <a:srgbClr val="9AA4B2"/>
                </a:solidFill>
                <a:latin typeface="맑은 고딕"/>
                <a:ea typeface="맑은 고딕"/>
              </a:rPr>
              <a:t>[강사용] AI 시대 마케팅, 누가 살아남을까? — 6주 실무 스터디   |   3회차 · AEO 답변으로 뽑히는 콘텐츠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1499616"/>
            <a:ext cx="5419191" cy="23500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1499616"/>
            <a:ext cx="64008" cy="2350008"/>
          </a:xfrm>
          <a:prstGeom prst="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86384" y="1645920"/>
            <a:ext cx="581558" cy="274320"/>
          </a:xfrm>
          <a:prstGeom prst="roundRect">
            <a:avLst>
              <a:gd name="adj" fmla="val 50000"/>
            </a:avLst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" y="1656892"/>
            <a:ext cx="58155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 i="0" spc="20">
                <a:solidFill>
                  <a:srgbClr val="FFFFFF"/>
                </a:solidFill>
                <a:latin typeface="맑은 고딕"/>
                <a:ea typeface="맑은 고딕"/>
              </a:rPr>
              <a:t>백업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95958" y="1627632"/>
            <a:ext cx="433471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450" b="1" i="0">
                <a:solidFill>
                  <a:srgbClr val="111927"/>
                </a:solidFill>
                <a:latin typeface="맑은 고딕"/>
                <a:ea typeface="맑은 고딕"/>
              </a:rPr>
              <a:t>수업 전날 스크린샷 세트 준비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2048256"/>
            <a:ext cx="5035143" cy="1709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1150" b="0" i="0">
                <a:solidFill>
                  <a:srgbClr val="9AA4B2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모든 라이브 시연의 결과 화면을 전날 캡처해 슬라이드 뒤에 붙여둔다.</a:t>
            </a:r>
          </a:p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1150" b="0" i="0">
                <a:solidFill>
                  <a:srgbClr val="9AA4B2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캡처에는 날짜·도구·질문이 함께 보이게 찍는다.</a:t>
            </a:r>
          </a:p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1150" b="0" i="0">
                <a:solidFill>
                  <a:srgbClr val="9AA4B2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네트워크/로그인 장애 시 즉시 스크린샷으로 전환.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499616"/>
            <a:ext cx="5419191" cy="23500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499616"/>
            <a:ext cx="64008" cy="2350008"/>
          </a:xfrm>
          <a:prstGeom prst="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645920"/>
            <a:ext cx="581558" cy="274320"/>
          </a:xfrm>
          <a:prstGeom prst="roundRect">
            <a:avLst>
              <a:gd name="adj" fmla="val 50000"/>
            </a:avLst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656892"/>
            <a:ext cx="58155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 i="0" spc="20">
                <a:solidFill>
                  <a:srgbClr val="FFFFFF"/>
                </a:solidFill>
                <a:latin typeface="맑은 고딕"/>
                <a:ea typeface="맑은 고딕"/>
              </a:rPr>
              <a:t>백업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4605" y="1627632"/>
            <a:ext cx="433471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450" b="1" i="0">
                <a:solidFill>
                  <a:srgbClr val="111927"/>
                </a:solidFill>
                <a:latin typeface="맑은 고딕"/>
                <a:ea typeface="맑은 고딕"/>
              </a:rPr>
              <a:t>결과가 어제와 다르게 나올 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25031" y="2048256"/>
            <a:ext cx="5035143" cy="1709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1150" b="0" i="0">
                <a:solidFill>
                  <a:srgbClr val="9AA4B2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당황하지 말고 그대로 교육 포인트로 전환:</a:t>
            </a:r>
          </a:p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1150" b="0" i="0">
                <a:solidFill>
                  <a:srgbClr val="9AA4B2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"보세요, 어제는 이렇게 나왔는데 오늘은 다릅니다."</a:t>
            </a:r>
          </a:p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1150" b="0" i="0">
                <a:solidFill>
                  <a:srgbClr val="9AA4B2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"이래서 AI 검색은 1회 확인이 아니라 반복 측정이 필요합니다."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069080"/>
            <a:ext cx="5419191" cy="23500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66928" y="4069080"/>
            <a:ext cx="64008" cy="2350008"/>
          </a:xfrm>
          <a:prstGeom prst="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86384" y="4215384"/>
            <a:ext cx="581558" cy="274320"/>
          </a:xfrm>
          <a:prstGeom prst="roundRect">
            <a:avLst>
              <a:gd name="adj" fmla="val 50000"/>
            </a:avLst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6384" y="4226356"/>
            <a:ext cx="58155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 i="0" spc="20">
                <a:solidFill>
                  <a:srgbClr val="FFFFFF"/>
                </a:solidFill>
                <a:latin typeface="맑은 고딕"/>
                <a:ea typeface="맑은 고딕"/>
              </a:rPr>
              <a:t>백업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95958" y="4197096"/>
            <a:ext cx="433471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450" b="1" i="0">
                <a:solidFill>
                  <a:srgbClr val="111927"/>
                </a:solidFill>
                <a:latin typeface="맑은 고딕"/>
                <a:ea typeface="맑은 고딕"/>
              </a:rPr>
              <a:t>AI Overviews가 안 뜰 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4617720"/>
            <a:ext cx="5035143" cy="1709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1150" b="0" i="0">
                <a:solidFill>
                  <a:srgbClr val="9AA4B2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지역·계정·언어에 따라 미노출이 정상임을 설명.</a:t>
            </a:r>
          </a:p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1150" b="0" i="0">
                <a:solidFill>
                  <a:srgbClr val="9AA4B2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영어 질문으로 재시도 → 그래도 없으면 준비한 캡처 사용.</a:t>
            </a:r>
          </a:p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1150" b="0" i="0">
                <a:solidFill>
                  <a:srgbClr val="9AA4B2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"안 뜨는 것 자체가 '노출은 통제 밖'이라는 증거"로 연결.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05575" y="4069080"/>
            <a:ext cx="5419191" cy="23500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05575" y="4069080"/>
            <a:ext cx="64008" cy="2350008"/>
          </a:xfrm>
          <a:prstGeom prst="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425031" y="4215384"/>
            <a:ext cx="581558" cy="274320"/>
          </a:xfrm>
          <a:prstGeom prst="roundRect">
            <a:avLst>
              <a:gd name="adj" fmla="val 50000"/>
            </a:avLst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25031" y="4226356"/>
            <a:ext cx="58155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 i="0" spc="20">
                <a:solidFill>
                  <a:srgbClr val="FFFFFF"/>
                </a:solidFill>
                <a:latin typeface="맑은 고딕"/>
                <a:ea typeface="맑은 고딕"/>
              </a:rPr>
              <a:t>백업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34605" y="4197096"/>
            <a:ext cx="433471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450" b="1" i="0">
                <a:solidFill>
                  <a:srgbClr val="111927"/>
                </a:solidFill>
                <a:latin typeface="맑은 고딕"/>
                <a:ea typeface="맑은 고딕"/>
              </a:rPr>
              <a:t>수강생 브랜드가 아예 안 나올 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25031" y="4617720"/>
            <a:ext cx="5035143" cy="1709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1150" b="0" i="0">
                <a:solidFill>
                  <a:srgbClr val="9AA4B2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"언급 0회도 소중한 데이터"라고 먼저 프레이밍.</a:t>
            </a:r>
          </a:p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1150" b="0" i="0">
                <a:solidFill>
                  <a:srgbClr val="9AA4B2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잘 나오는 공개 브랜드(무신사, 배민 등)로 대조 시연.</a:t>
            </a:r>
          </a:p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1150" b="0" i="0">
                <a:solidFill>
                  <a:srgbClr val="9AA4B2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차이의 원인(콘텐츠·리뷰·언론 량)을 토론으로 유도.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457200"/>
            <a:ext cx="82296" cy="457200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384048"/>
            <a:ext cx="91440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 i="0">
                <a:solidFill>
                  <a:srgbClr val="111927"/>
                </a:solidFill>
                <a:latin typeface="맑은 고딕"/>
                <a:ea typeface="맑은 고딕"/>
              </a:rPr>
              <a:t>미션 배포문 — 이대로 공유 시트에 게시하세요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842955" y="475488"/>
            <a:ext cx="781812" cy="274320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42955" y="486460"/>
            <a:ext cx="78181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100" b="1" i="0" spc="20">
                <a:solidFill>
                  <a:srgbClr val="FFFFFF"/>
                </a:solidFill>
                <a:latin typeface="맑은 고딕"/>
                <a:ea typeface="맑은 고딕"/>
              </a:rPr>
              <a:t>강사용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" y="932688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6B7280"/>
                </a:solidFill>
                <a:latin typeface="맑은 고딕"/>
                <a:ea typeface="맑은 고딕"/>
              </a:rPr>
              <a:t>미션: 기존 콘텐츠 1개에 질문형 블록 10개 추가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6547104"/>
            <a:ext cx="182880" cy="25603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6446520"/>
            <a:ext cx="1105783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 i="0">
                <a:solidFill>
                  <a:srgbClr val="9AA4B2"/>
                </a:solidFill>
                <a:latin typeface="맑은 고딕"/>
                <a:ea typeface="맑은 고딕"/>
              </a:rPr>
              <a:t>[강사용] AI 시대 마케팅, 누가 살아남을까? — 6주 실무 스터디   |   3회차 · AEO 답변으로 뽑히는 콘텐츠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1499616"/>
            <a:ext cx="11057839" cy="4407408"/>
          </a:xfrm>
          <a:prstGeom prst="roundRect">
            <a:avLst>
              <a:gd name="adj" fmla="val 2500"/>
            </a:avLst>
          </a:prstGeom>
          <a:solidFill>
            <a:srgbClr val="0E1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66928" y="1499616"/>
            <a:ext cx="11057839" cy="329184"/>
          </a:xfrm>
          <a:prstGeom prst="roundRect">
            <a:avLst>
              <a:gd name="adj" fmla="val 2500"/>
            </a:avLst>
          </a:prstGeom>
          <a:solidFill>
            <a:srgbClr val="1B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66928" y="1664208"/>
            <a:ext cx="11057839" cy="164592"/>
          </a:xfrm>
          <a:prstGeom prst="rect">
            <a:avLst/>
          </a:prstGeom>
          <a:solidFill>
            <a:srgbClr val="1B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86384" y="1618488"/>
            <a:ext cx="91440" cy="91440"/>
          </a:xfrm>
          <a:prstGeom prst="roundRect">
            <a:avLst>
              <a:gd name="adj" fmla="val 50000"/>
            </a:avLst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87551" y="1618488"/>
            <a:ext cx="91440" cy="91440"/>
          </a:xfrm>
          <a:prstGeom prst="roundRect">
            <a:avLst>
              <a:gd name="adj" fmla="val 50000"/>
            </a:avLst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88720" y="1618488"/>
            <a:ext cx="91440" cy="91440"/>
          </a:xfrm>
          <a:prstGeom prst="roundRect">
            <a:avLst>
              <a:gd name="adj" fmla="val 50000"/>
            </a:avLst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81328" y="1499616"/>
            <a:ext cx="9960559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1" i="0" spc="120">
                <a:solidFill>
                  <a:srgbClr val="7C8AA5"/>
                </a:solidFill>
                <a:latin typeface="맑은 고딕"/>
                <a:ea typeface="맑은 고딕"/>
              </a:rPr>
              <a:t>PROMPT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" y="1975104"/>
            <a:ext cx="10436047" cy="38039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9F0"/>
                </a:solidFill>
                <a:latin typeface="Consolas"/>
                <a:ea typeface="맑은 고딕"/>
              </a:rPr>
              <a:t>[3회차 미션] 질문형 블록 10개 만들기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9F0"/>
                </a:solidFill>
                <a:latin typeface="Consolas"/>
                <a:ea typeface="맑은 고딕"/>
              </a:rPr>
              <a:t> 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9F0"/>
                </a:solidFill>
                <a:latin typeface="Consolas"/>
                <a:ea typeface="맑은 고딕"/>
              </a:rPr>
              <a:t>1. 2회차에 진단한 콘텐츠(또는 다른 글 1개)를 고른다.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9F0"/>
                </a:solidFill>
                <a:latin typeface="Consolas"/>
                <a:ea typeface="맑은 고딕"/>
              </a:rPr>
              <a:t>2. 그 글이 답할 수 있는/답해야 하는 질문 10개를 확정한다.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9F0"/>
                </a:solidFill>
                <a:latin typeface="Consolas"/>
                <a:ea typeface="맑은 고딕"/>
              </a:rPr>
              <a:t>   - 6유형(정의·비교·추천·비용·방법·실패) 중 4유형 이상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9F0"/>
                </a:solidFill>
                <a:latin typeface="Consolas"/>
                <a:ea typeface="맑은 고딕"/>
              </a:rPr>
              <a:t>   - AI로 후보 생성 → 구글 PAA/네이버로 검증한 흔적 남기기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9F0"/>
                </a:solidFill>
                <a:latin typeface="Consolas"/>
                <a:ea typeface="맑은 고딕"/>
              </a:rPr>
              <a:t>3. 각 질문을 8칸 템플릿으로 작성한다.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9F0"/>
                </a:solidFill>
                <a:latin typeface="Consolas"/>
                <a:ea typeface="맑은 고딕"/>
              </a:rPr>
              <a:t>   (질문/한 문장 답/조건/예외/근거/실무 예시/다음 행동/관련 질문)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9F0"/>
                </a:solidFill>
                <a:latin typeface="Consolas"/>
                <a:ea typeface="맑은 고딕"/>
              </a:rPr>
              <a:t>4. 10개 중 3개 이상에는 우리만 아는 데이터·사례를 넣는다.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9F0"/>
                </a:solidFill>
                <a:latin typeface="Consolas"/>
                <a:ea typeface="맑은 고딕"/>
              </a:rPr>
              <a:t>5. 가능하면 실제 글에 반영해 발행/수정까지 진행한다. (가산점)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9F0"/>
                </a:solidFill>
                <a:latin typeface="Consolas"/>
                <a:ea typeface="맑은 고딕"/>
              </a:rPr>
              <a:t> 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9F0"/>
                </a:solidFill>
                <a:latin typeface="Consolas"/>
                <a:ea typeface="맑은 고딕"/>
              </a:rPr>
              <a:t>제출: 다음 수업 전날 23:59까지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150" b="0" i="0">
                <a:solidFill>
                  <a:srgbClr val="E5E9F0"/>
                </a:solidFill>
                <a:latin typeface="Consolas"/>
                <a:ea typeface="맑은 고딕"/>
              </a:rPr>
              <a:t>형식: 템플릿 10블록 + 질문 검증 캡처(PAA/지식iN 등) 2장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6035040"/>
            <a:ext cx="11057839" cy="420624"/>
          </a:xfrm>
          <a:prstGeom prst="roundRect">
            <a:avLst>
              <a:gd name="adj" fmla="val 22000"/>
            </a:avLst>
          </a:prstGeom>
          <a:solidFill>
            <a:srgbClr val="FB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6928" y="6035040"/>
            <a:ext cx="68580" cy="420624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6384" y="6035040"/>
            <a:ext cx="10673791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 i="0" spc="50">
                <a:solidFill>
                  <a:srgbClr val="C2410C"/>
                </a:solidFill>
                <a:latin typeface="맑은 고딕"/>
                <a:ea typeface="맑은 고딕"/>
              </a:rPr>
              <a:t>TIP   </a:t>
            </a:r>
            <a:r>
              <a:rPr sz="1100" b="0" i="0">
                <a:solidFill>
                  <a:srgbClr val="374151"/>
                </a:solidFill>
                <a:latin typeface="맑은 고딕"/>
                <a:ea typeface="맑은 고딕"/>
              </a:rPr>
              <a:t>강조할 것: 10개를 채우려 얕아지는 것 경계 — '한 문장 답'이 결론을 유보하면 그 블록은 0점 처리 기준.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457200"/>
            <a:ext cx="82296" cy="457200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384048"/>
            <a:ext cx="91440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 i="0">
                <a:solidFill>
                  <a:srgbClr val="111927"/>
                </a:solidFill>
                <a:latin typeface="맑은 고딕"/>
                <a:ea typeface="맑은 고딕"/>
              </a:rPr>
              <a:t>미션 평가 루브릭 — 피드백 기준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842955" y="475488"/>
            <a:ext cx="781812" cy="274320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42955" y="486460"/>
            <a:ext cx="78181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100" b="1" i="0" spc="20">
                <a:solidFill>
                  <a:srgbClr val="FFFFFF"/>
                </a:solidFill>
                <a:latin typeface="맑은 고딕"/>
                <a:ea typeface="맑은 고딕"/>
              </a:rPr>
              <a:t>강사용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" y="932688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6B7280"/>
                </a:solidFill>
                <a:latin typeface="맑은 고딕"/>
                <a:ea typeface="맑은 고딕"/>
              </a:rPr>
              <a:t>점수화가 목적이 아니라, 다음 주 첫 15분 과제 리뷰에서 '무엇을 칭찬하고 무엇을 교정할지' 기준입니다.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6547104"/>
            <a:ext cx="182880" cy="25603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6446520"/>
            <a:ext cx="1105783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 i="0">
                <a:solidFill>
                  <a:srgbClr val="9AA4B2"/>
                </a:solidFill>
                <a:latin typeface="맑은 고딕"/>
                <a:ea typeface="맑은 고딕"/>
              </a:rPr>
              <a:t>[강사용] AI 시대 마케팅, 누가 살아남을까? — 6주 실무 스터디   |   3회차 · AEO 답변으로 뽑히는 콘텐츠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66928" y="1499616"/>
          <a:ext cx="11057837" cy="2159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19129"/>
                <a:gridCol w="822483"/>
                <a:gridCol w="4203806"/>
                <a:gridCol w="4112419"/>
              </a:tblGrid>
              <a:tr h="3302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평가 항목</a:t>
                      </a:r>
                    </a:p>
                  </a:txBody>
                  <a:tcPr anchor="ctr" marL="100584" marR="91440" marT="41148" marB="41148">
                    <a:solidFill>
                      <a:srgbClr val="C241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배점</a:t>
                      </a:r>
                    </a:p>
                  </a:txBody>
                  <a:tcPr anchor="ctr" marL="100584" marR="91440" marT="41148" marB="41148">
                    <a:solidFill>
                      <a:srgbClr val="C241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우수 (이렇게 하면 칭찬)</a:t>
                      </a:r>
                    </a:p>
                  </a:txBody>
                  <a:tcPr anchor="ctr" marL="100584" marR="91440" marT="41148" marB="41148">
                    <a:solidFill>
                      <a:srgbClr val="C241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미흡 (이렇게 오면 교정)</a:t>
                      </a:r>
                    </a:p>
                  </a:txBody>
                  <a:tcPr anchor="ctr" marL="100584" marR="91440" marT="41148" marB="41148">
                    <a:solidFill>
                      <a:srgbClr val="C2410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1" i="0">
                          <a:solidFill>
                            <a:srgbClr val="111927"/>
                          </a:solidFill>
                          <a:latin typeface="맑은 고딕"/>
                          <a:ea typeface="맑은 고딕"/>
                        </a:rPr>
                        <a:t>답의 명확성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30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모든 블록의 첫 문장이 그 자체로 답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"경우에 따라 다르다"로 도망가는 답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1" i="0">
                          <a:solidFill>
                            <a:srgbClr val="111927"/>
                          </a:solidFill>
                          <a:latin typeface="맑은 고딕"/>
                          <a:ea typeface="맑은 고딕"/>
                        </a:rPr>
                        <a:t>유형 커버리지</a:t>
                      </a:r>
                    </a:p>
                  </a:txBody>
                  <a:tcPr anchor="ctr" marL="100584" marR="91440" marT="41148" marB="41148">
                    <a:solidFill>
                      <a:srgbClr val="FBED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15</a:t>
                      </a:r>
                    </a:p>
                  </a:txBody>
                  <a:tcPr anchor="ctr" marL="100584" marR="91440" marT="41148" marB="41148">
                    <a:solidFill>
                      <a:srgbClr val="FBED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4유형 이상, 실패/비용 등 어려운 유형 포함</a:t>
                      </a:r>
                    </a:p>
                  </a:txBody>
                  <a:tcPr anchor="ctr" marL="100584" marR="91440" marT="41148" marB="41148">
                    <a:solidFill>
                      <a:srgbClr val="FBED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정의형만 10개</a:t>
                      </a:r>
                    </a:p>
                  </a:txBody>
                  <a:tcPr anchor="ctr" marL="100584" marR="91440" marT="41148" marB="41148">
                    <a:solidFill>
                      <a:srgbClr val="FBEDE4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1" i="0">
                          <a:solidFill>
                            <a:srgbClr val="111927"/>
                          </a:solidFill>
                          <a:latin typeface="맑은 고딕"/>
                          <a:ea typeface="맑은 고딕"/>
                        </a:rPr>
                        <a:t>검증 흔적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20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PAA/지식iN 등 실수요 검증 캡처 첨부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AI 생성 질문을 그대로 사용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1" i="0">
                          <a:solidFill>
                            <a:srgbClr val="111927"/>
                          </a:solidFill>
                          <a:latin typeface="맑은 고딕"/>
                          <a:ea typeface="맑은 고딕"/>
                        </a:rPr>
                        <a:t>원문성</a:t>
                      </a:r>
                    </a:p>
                  </a:txBody>
                  <a:tcPr anchor="ctr" marL="100584" marR="91440" marT="41148" marB="41148">
                    <a:solidFill>
                      <a:srgbClr val="FBED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25</a:t>
                      </a:r>
                    </a:p>
                  </a:txBody>
                  <a:tcPr anchor="ctr" marL="100584" marR="91440" marT="41148" marB="41148">
                    <a:solidFill>
                      <a:srgbClr val="FBED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3개 이상 블록에 자사 데이터·사례</a:t>
                      </a:r>
                    </a:p>
                  </a:txBody>
                  <a:tcPr anchor="ctr" marL="100584" marR="91440" marT="41148" marB="41148">
                    <a:solidFill>
                      <a:srgbClr val="FBED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어느 회사가 써도 되는 일반론 10개</a:t>
                      </a:r>
                    </a:p>
                  </a:txBody>
                  <a:tcPr anchor="ctr" marL="100584" marR="91440" marT="41148" marB="41148">
                    <a:solidFill>
                      <a:srgbClr val="FBEDE4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1" i="0">
                          <a:solidFill>
                            <a:srgbClr val="111927"/>
                          </a:solidFill>
                          <a:latin typeface="맑은 고딕"/>
                          <a:ea typeface="맑은 고딕"/>
                        </a:rPr>
                        <a:t>실행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10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실제 글에 반영·발행까지 완료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문서로만 존재</a:t>
                      </a:r>
                    </a:p>
                  </a:txBody>
                  <a:tcPr anchor="ctr" marL="100584" marR="91440" marT="41148" marB="4114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457200"/>
            <a:ext cx="82296" cy="457200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384048"/>
            <a:ext cx="91440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 i="0">
                <a:solidFill>
                  <a:srgbClr val="111927"/>
                </a:solidFill>
                <a:latin typeface="맑은 고딕"/>
                <a:ea typeface="맑은 고딕"/>
              </a:rPr>
              <a:t>토론 유도 질문 &amp; 예상 질문 대응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842955" y="475488"/>
            <a:ext cx="781812" cy="274320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42955" y="486460"/>
            <a:ext cx="78181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100" b="1" i="0" spc="20">
                <a:solidFill>
                  <a:srgbClr val="FFFFFF"/>
                </a:solidFill>
                <a:latin typeface="맑은 고딕"/>
                <a:ea typeface="맑은 고딕"/>
              </a:rPr>
              <a:t>강사용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6547104"/>
            <a:ext cx="182880" cy="25603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6446520"/>
            <a:ext cx="1105783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 i="0">
                <a:solidFill>
                  <a:srgbClr val="9AA4B2"/>
                </a:solidFill>
                <a:latin typeface="맑은 고딕"/>
                <a:ea typeface="맑은 고딕"/>
              </a:rPr>
              <a:t>[강사용] AI 시대 마케팅, 누가 살아남을까? — 6주 실무 스터디   |   3회차 · AEO 답변으로 뽑히는 콘텐츠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207007"/>
            <a:ext cx="5400903" cy="51206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1207007"/>
            <a:ext cx="5400903" cy="493776"/>
          </a:xfrm>
          <a:prstGeom prst="roundRect">
            <a:avLst>
              <a:gd name="adj" fmla="val 45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1453895"/>
            <a:ext cx="5400903" cy="246888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1207007"/>
            <a:ext cx="4998567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</a:rPr>
              <a:t>피드백 세션에서 쓸 체크 질문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1865375"/>
            <a:ext cx="4961991" cy="42976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300"/>
              </a:spcAft>
            </a:pPr>
            <a:r>
              <a:rPr sz="700" b="0" i="0">
                <a:solidFill>
                  <a:srgbClr val="C2410C"/>
                </a:solidFill>
                <a:latin typeface="맑은 고딕"/>
                <a:ea typeface="맑은 고딕"/>
              </a:rPr>
              <a:t>■  </a:t>
            </a:r>
            <a:r>
              <a:rPr sz="1300" b="0" i="0">
                <a:solidFill>
                  <a:srgbClr val="111927"/>
                </a:solidFill>
                <a:latin typeface="맑은 고딕"/>
                <a:ea typeface="맑은 고딕"/>
              </a:rPr>
              <a:t>"첫 문장만 읽어주세요. 그것만으로 답이 되나요?"</a:t>
            </a:r>
          </a:p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300"/>
              </a:spcAft>
            </a:pPr>
            <a:r>
              <a:rPr sz="700" b="0" i="0">
                <a:solidFill>
                  <a:srgbClr val="C2410C"/>
                </a:solidFill>
                <a:latin typeface="맑은 고딕"/>
                <a:ea typeface="맑은 고딕"/>
              </a:rPr>
              <a:t>■  </a:t>
            </a:r>
            <a:r>
              <a:rPr sz="1300" b="0" i="0">
                <a:solidFill>
                  <a:srgbClr val="111927"/>
                </a:solidFill>
                <a:latin typeface="맑은 고딕"/>
                <a:ea typeface="맑은 고딕"/>
              </a:rPr>
              <a:t>"이 블록만 떼어 AI가 인용하면 오해의 소지가 없나요?"</a:t>
            </a:r>
          </a:p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300"/>
              </a:spcAft>
            </a:pPr>
            <a:r>
              <a:rPr sz="700" b="0" i="0">
                <a:solidFill>
                  <a:srgbClr val="C2410C"/>
                </a:solidFill>
                <a:latin typeface="맑은 고딕"/>
                <a:ea typeface="맑은 고딕"/>
              </a:rPr>
              <a:t>■  </a:t>
            </a:r>
            <a:r>
              <a:rPr sz="1300" b="0" i="0">
                <a:solidFill>
                  <a:srgbClr val="111927"/>
                </a:solidFill>
                <a:latin typeface="맑은 고딕"/>
                <a:ea typeface="맑은 고딕"/>
              </a:rPr>
              <a:t>"이 답의 근거는 누가 물어봐도 댈 수 있나요?"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23863" y="1207007"/>
            <a:ext cx="5400903" cy="51206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3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23863" y="1207007"/>
            <a:ext cx="5400903" cy="493776"/>
          </a:xfrm>
          <a:prstGeom prst="roundRect">
            <a:avLst>
              <a:gd name="adj" fmla="val 4500"/>
            </a:avLst>
          </a:prstGeom>
          <a:solidFill>
            <a:srgbClr val="9A3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23863" y="1453895"/>
            <a:ext cx="5400903" cy="246888"/>
          </a:xfrm>
          <a:prstGeom prst="rect">
            <a:avLst/>
          </a:prstGeom>
          <a:solidFill>
            <a:srgbClr val="9A3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25031" y="1207007"/>
            <a:ext cx="4998567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</a:rPr>
              <a:t>예상 질문과 답변 가이드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3319" y="1865375"/>
            <a:ext cx="4961991" cy="42976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300"/>
              </a:spcAft>
            </a:pPr>
            <a:r>
              <a:rPr sz="700" b="0" i="0">
                <a:solidFill>
                  <a:srgbClr val="9A3412"/>
                </a:solidFill>
                <a:latin typeface="맑은 고딕"/>
                <a:ea typeface="맑은 고딕"/>
              </a:rPr>
              <a:t>■  </a:t>
            </a:r>
            <a:r>
              <a:rPr sz="1300" b="0" i="0">
                <a:solidFill>
                  <a:srgbClr val="111927"/>
                </a:solidFill>
                <a:latin typeface="맑은 고딕"/>
                <a:ea typeface="맑은 고딕"/>
              </a:rPr>
              <a:t>"FAQ 페이지 만들면 되는 것 아닌가요?"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 i="0">
                <a:solidFill>
                  <a:srgbClr val="9AA4B2"/>
                </a:solidFill>
                <a:latin typeface="맑은 고딕"/>
                <a:ea typeface="맑은 고딕"/>
              </a:rPr>
              <a:t>      –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→ "형식이 아니라 구조가 핵심입니다. 본문 자체가 답변 블록의 연결이어야 합니다"</a:t>
            </a:r>
          </a:p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300"/>
              </a:spcAft>
            </a:pPr>
            <a:r>
              <a:rPr sz="700" b="0" i="0">
                <a:solidFill>
                  <a:srgbClr val="9A3412"/>
                </a:solidFill>
                <a:latin typeface="맑은 고딕"/>
                <a:ea typeface="맑은 고딕"/>
              </a:rPr>
              <a:t>■  </a:t>
            </a:r>
            <a:r>
              <a:rPr sz="1300" b="0" i="0">
                <a:solidFill>
                  <a:srgbClr val="111927"/>
                </a:solidFill>
                <a:latin typeface="맑은 고딕"/>
                <a:ea typeface="맑은 고딕"/>
              </a:rPr>
              <a:t>"답을 다 알려주면 클릭할 이유가 없어지지 않나요?"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 i="0">
                <a:solidFill>
                  <a:srgbClr val="9AA4B2"/>
                </a:solidFill>
                <a:latin typeface="맑은 고딕"/>
                <a:ea typeface="맑은 고딕"/>
              </a:rPr>
              <a:t>      –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→ "답을 감추면 인용에서 탈락합니다. 답을 주고 '다음 행동'으로 전환을 설계하는 겁니다"</a:t>
            </a:r>
          </a:p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300"/>
              </a:spcAft>
            </a:pPr>
            <a:r>
              <a:rPr sz="700" b="0" i="0">
                <a:solidFill>
                  <a:srgbClr val="9A3412"/>
                </a:solidFill>
                <a:latin typeface="맑은 고딕"/>
                <a:ea typeface="맑은 고딕"/>
              </a:rPr>
              <a:t>■  </a:t>
            </a:r>
            <a:r>
              <a:rPr sz="1300" b="0" i="0">
                <a:solidFill>
                  <a:srgbClr val="111927"/>
                </a:solidFill>
                <a:latin typeface="맑은 고딕"/>
                <a:ea typeface="맑은 고딕"/>
              </a:rPr>
              <a:t>"짧은 답과 얕은 답의 차이가 뭔가요?"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 i="0">
                <a:solidFill>
                  <a:srgbClr val="9AA4B2"/>
                </a:solidFill>
                <a:latin typeface="맑은 고딕"/>
                <a:ea typeface="맑은 고딕"/>
              </a:rPr>
              <a:t>      –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→ "조건·예외·근거의 유무입니다. 짧아도 그 세 개가 있으면 깊은 답입니다"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457200"/>
            <a:ext cx="82296" cy="457200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384048"/>
            <a:ext cx="91440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 i="0">
                <a:solidFill>
                  <a:srgbClr val="111927"/>
                </a:solidFill>
                <a:latin typeface="맑은 고딕"/>
                <a:ea typeface="맑은 고딕"/>
              </a:rPr>
              <a:t>수업 전 준비 체크리스트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842955" y="475488"/>
            <a:ext cx="781812" cy="274320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42955" y="486460"/>
            <a:ext cx="78181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100" b="1" i="0" spc="20">
                <a:solidFill>
                  <a:srgbClr val="FFFFFF"/>
                </a:solidFill>
                <a:latin typeface="맑은 고딕"/>
                <a:ea typeface="맑은 고딕"/>
              </a:rPr>
              <a:t>강사용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6547104"/>
            <a:ext cx="182880" cy="25603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6446520"/>
            <a:ext cx="11057839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 i="0">
                <a:solidFill>
                  <a:srgbClr val="9AA4B2"/>
                </a:solidFill>
                <a:latin typeface="맑은 고딕"/>
                <a:ea typeface="맑은 고딕"/>
              </a:rPr>
              <a:t>[강사용] AI 시대 마케팅, 누가 살아남을까? — 6주 실무 스터디   |   3회차 · AEO 답변으로 뽑히는 콘텐츠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1225295"/>
            <a:ext cx="10607040" cy="47091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700"/>
              </a:spcBef>
              <a:spcAft>
                <a:spcPts val="500"/>
              </a:spcAft>
            </a:pPr>
            <a:r>
              <a:rPr sz="950" b="0" i="0">
                <a:solidFill>
                  <a:srgbClr val="C2410C"/>
                </a:solidFill>
                <a:latin typeface="맑은 고딕"/>
                <a:ea typeface="맑은 고딕"/>
              </a:rPr>
              <a:t>■  </a:t>
            </a:r>
            <a:r>
              <a:rPr sz="1550" b="1" i="0">
                <a:solidFill>
                  <a:srgbClr val="111927"/>
                </a:solidFill>
                <a:latin typeface="맑은 고딕"/>
                <a:ea typeface="맑은 고딕"/>
              </a:rPr>
              <a:t>시연</a:t>
            </a:r>
          </a:p>
          <a:p>
            <a:pPr algn="l">
              <a:lnSpc>
                <a:spcPct val="116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AA4B2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374151"/>
                </a:solidFill>
                <a:latin typeface="맑은 고딕"/>
                <a:ea typeface="맑은 고딕"/>
              </a:rPr>
              <a:t>D1 키워드 사전 테스트 — 스니펫·PAA가 실제로 뜨는 키워드로 확정</a:t>
            </a:r>
          </a:p>
          <a:p>
            <a:pPr algn="l">
              <a:lnSpc>
                <a:spcPct val="116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AA4B2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374151"/>
                </a:solidFill>
                <a:latin typeface="맑은 고딕"/>
                <a:ea typeface="맑은 고딕"/>
              </a:rPr>
              <a:t>라이브 리라이트 지원자 1명 섭외 + 글 미리 받아 읽어두기</a:t>
            </a:r>
          </a:p>
          <a:p>
            <a:pPr algn="l">
              <a:lnSpc>
                <a:spcPct val="120000"/>
              </a:lnSpc>
              <a:spcBef>
                <a:spcPts val="700"/>
              </a:spcBef>
              <a:spcAft>
                <a:spcPts val="500"/>
              </a:spcAft>
            </a:pPr>
            <a:r>
              <a:rPr sz="950" b="0" i="0">
                <a:solidFill>
                  <a:srgbClr val="C2410C"/>
                </a:solidFill>
                <a:latin typeface="맑은 고딕"/>
                <a:ea typeface="맑은 고딕"/>
              </a:rPr>
              <a:t>■  </a:t>
            </a:r>
            <a:r>
              <a:rPr sz="1550" b="1" i="0">
                <a:solidFill>
                  <a:srgbClr val="111927"/>
                </a:solidFill>
                <a:latin typeface="맑은 고딕"/>
                <a:ea typeface="맑은 고딕"/>
              </a:rPr>
              <a:t>자료</a:t>
            </a:r>
          </a:p>
          <a:p>
            <a:pPr algn="l">
              <a:lnSpc>
                <a:spcPct val="116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AA4B2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374151"/>
                </a:solidFill>
                <a:latin typeface="맑은 고딕"/>
                <a:ea typeface="맑은 고딕"/>
              </a:rPr>
              <a:t>8칸 템플릿 문서(복사 가능한 시트/문서) 배포 준비</a:t>
            </a:r>
          </a:p>
          <a:p>
            <a:pPr algn="l">
              <a:lnSpc>
                <a:spcPct val="116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AA4B2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374151"/>
                </a:solidFill>
                <a:latin typeface="맑은 고딕"/>
                <a:ea typeface="맑은 고딕"/>
              </a:rPr>
              <a:t>질문 발굴 파이프라인 시연용 업종 1개 선정</a:t>
            </a:r>
          </a:p>
          <a:p>
            <a:pPr algn="l">
              <a:lnSpc>
                <a:spcPct val="120000"/>
              </a:lnSpc>
              <a:spcBef>
                <a:spcPts val="700"/>
              </a:spcBef>
              <a:spcAft>
                <a:spcPts val="500"/>
              </a:spcAft>
            </a:pPr>
            <a:r>
              <a:rPr sz="950" b="0" i="0">
                <a:solidFill>
                  <a:srgbClr val="C2410C"/>
                </a:solidFill>
                <a:latin typeface="맑은 고딕"/>
                <a:ea typeface="맑은 고딕"/>
              </a:rPr>
              <a:t>■  </a:t>
            </a:r>
            <a:r>
              <a:rPr sz="1550" b="1" i="0">
                <a:solidFill>
                  <a:srgbClr val="111927"/>
                </a:solidFill>
                <a:latin typeface="맑은 고딕"/>
                <a:ea typeface="맑은 고딕"/>
              </a:rPr>
              <a:t>과제 리뷰</a:t>
            </a:r>
          </a:p>
          <a:p>
            <a:pPr algn="l">
              <a:lnSpc>
                <a:spcPct val="116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AA4B2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374151"/>
                </a:solidFill>
                <a:latin typeface="맑은 고딕"/>
                <a:ea typeface="맑은 고딕"/>
              </a:rPr>
              <a:t>2회차 미션 중 '증거가 좋은' 우수 사례 2건 선정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