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69680" y="1554480"/>
            <a:ext cx="1280160" cy="310896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69680" y="2121408"/>
            <a:ext cx="2194560" cy="310896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0" y="2688336"/>
            <a:ext cx="1737360" cy="310896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69680" y="3255263"/>
            <a:ext cx="2743200" cy="310896"/>
          </a:xfrm>
          <a:prstGeom prst="rect">
            <a:avLst/>
          </a:prstGeom>
          <a:solidFill>
            <a:srgbClr val="4FB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0" y="3822191"/>
            <a:ext cx="2011680" cy="310896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51392" y="1463039"/>
            <a:ext cx="18288" cy="292608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" y="1965960"/>
            <a:ext cx="566928" cy="5486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2157984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1" i="0" spc="120">
                <a:solidFill>
                  <a:srgbClr val="4FB2E5"/>
                </a:solidFill>
                <a:latin typeface="Arial"/>
                <a:ea typeface="Noto Sans CJK KR"/>
              </a:rPr>
              <a:t>AI 시대 마케팅, 누가 살아남을까? — 6주 실무 스터디  |  2회차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8138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FFFFFF"/>
                </a:solidFill>
                <a:latin typeface="Arial"/>
                <a:ea typeface="Noto Sans CJK KR"/>
              </a:rPr>
              <a:t>SEO의 재정의 — AI 시대에도 기본기가 이긴다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709160"/>
            <a:ext cx="79552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7D3E4"/>
                </a:solidFill>
                <a:latin typeface="Arial"/>
                <a:ea typeface="Noto Sans CJK KR"/>
              </a:rPr>
              <a:t>핵심 질문: AI 검색 시대에 왜 '기본 SEO'가 오히려 더 중요해졌는가?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1480" y="6144768"/>
            <a:ext cx="11368735" cy="0"/>
          </a:xfrm>
          <a:prstGeom prst="line">
            <a:avLst/>
          </a:prstGeom>
          <a:ln w="9525">
            <a:solidFill>
              <a:srgbClr val="1F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623620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8DA0BC"/>
                </a:solidFill>
                <a:latin typeface="Arial"/>
                <a:ea typeface="Noto Sans CJK KR"/>
              </a:rPr>
              <a:t>실무 마케터 초중급 · 주 1회 2시간 · 기준일 2026-07-03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9735" y="623620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50" b="0" i="0">
                <a:solidFill>
                  <a:srgbClr val="6E82A0"/>
                </a:solidFill>
                <a:latin typeface="Arial"/>
                <a:ea typeface="Noto Sans CJK KR"/>
              </a:rPr>
              <a:t>AI Marketing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2회차 · SEO의 재정의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오늘 수업이 끝나면, 여러분은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2  SEO의 재정의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0" i="0">
                <a:solidFill>
                  <a:srgbClr val="2B2B2B"/>
                </a:solidFill>
                <a:latin typeface="Arial"/>
                <a:ea typeface="Noto Sans CJK KR"/>
              </a:rPr>
              <a:t>검색엔진이 콘텐츠를 발견 → 크롤링 → 색인 → 이해하는 구조를 설명할 수 있다.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site: 검색, robots.txt, 사이트맵 등으로 내 사이트를 5분 안에 응급 진단할 수 있다.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0" i="0">
                <a:solidFill>
                  <a:srgbClr val="2B2B2B"/>
                </a:solidFill>
                <a:latin typeface="Arial"/>
                <a:ea typeface="Noto Sans CJK KR"/>
              </a:rPr>
              <a:t>AI 툴을 'SEO 진단 파트너'로 쓰는 프롬프트를 갖게 된다.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F6FA8"/>
                </a:solidFill>
                <a:latin typeface="Arial"/>
                <a:ea typeface="Noto Sans CJK KR"/>
              </a:rPr>
              <a:t>오늘의 산출물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내 콘텐츠 기술/콘텐츠 SEO 체크리스트 1장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2회차 · SEO의 재정의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오늘의 흐름 (120분)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2  SEO의 재정의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463040"/>
          <a:ext cx="11368733" cy="2524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698"/>
                <a:gridCol w="7287650"/>
                <a:gridCol w="2526385"/>
              </a:tblGrid>
              <a:tr h="330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시간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내용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방식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0~15분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과제 리뷰: AI가 우리 브랜드를 말하는 방식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발표 + 토론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15~35분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Google / 네이버 검색엔진의 기본 구조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강의 + 시연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35~55분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기술 SEO: 색인, robots.txt, 사이트맵, 내부링크, JS 콘텐츠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강의 + 라이브 시연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55~75분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콘텐츠 SEO: 제목, 구조, 중복, 검색 의도, 신뢰 신호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강의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75~105분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실습: 내 콘텐츠 SEO 응급 진단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개인 실습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105~120분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리라이트 방향 정리 + 과제 안내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정리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42432" y="2011680"/>
            <a:ext cx="566928" cy="5486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350" b="1" i="0" spc="100">
                <a:solidFill>
                  <a:srgbClr val="4FB2E5"/>
                </a:solidFill>
                <a:latin typeface="Arial"/>
                <a:ea typeface="Noto Sans CJK KR"/>
              </a:rPr>
              <a:t>WHY SEO STILL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24912"/>
            <a:ext cx="10332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3000" b="1" i="0">
                <a:solidFill>
                  <a:srgbClr val="FFFFFF"/>
                </a:solidFill>
                <a:latin typeface="Arial"/>
                <a:ea typeface="Noto Sans CJK KR"/>
              </a:rPr>
              <a:t>AI도 '읽을 수 있는 문서'만
인용할 수 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4754880"/>
            <a:ext cx="9052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4000"/>
              </a:lnSpc>
            </a:pPr>
            <a:r>
              <a:rPr sz="1500" b="0" i="0">
                <a:solidFill>
                  <a:srgbClr val="C7D3E4"/>
                </a:solidFill>
                <a:latin typeface="Arial"/>
                <a:ea typeface="Noto Sans CJK KR"/>
              </a:rPr>
              <a:t>크롤링되지 않으면 색인되지 않고, 색인되지 않으면 검색에도 AI 답변에도 존재하지 않습니다.
접근 불가 = 인용 불가. AI 검색의 출발선은 여전히 기본 SEO입니다.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6E82A0"/>
                </a:solidFill>
                <a:latin typeface="Arial"/>
                <a:ea typeface="Noto Sans CJK K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2회차 · SEO의 재정의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검색엔진의 4단계 — 구글과 네이버 공통 구조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2  SEO의 재정의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① 발견/크롤링: 크롤러(Googlebot, 네이버 Yeti)가 링크를 따라 문서를 수집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robots.txt가 크롤러를 막고 있으면 여기서 게임 종료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② 색인: 수집된 문서를 이해하고 데이터베이스에 저장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site:도메인 검색으로 색인 여부를 즉시 확인할 수 있다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③ 랭킹: 검색 의도와의 적합성·품질·신뢰로 순서 결정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F6FA8"/>
                </a:solidFill>
                <a:latin typeface="Arial"/>
                <a:ea typeface="Noto Sans CJK KR"/>
              </a:rPr>
              <a:t>④ (신규) AI 생성: 색인·랭킹된 문서 중에서 답변 재료를 선택·인용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구글 공식 입장: AI 기능을 위한 '비밀 최적화'는 없다 — 기본 SEO와 도움되는 콘텐츠가 답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네이버: Yeti 크롤러 허용, 웹마스터도구 등록, 사이트맵/RSS 제출, 표준 HTML 링크가 기본기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2회차 · SEO의 재정의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기술 SEO 5대 점검 — 응급실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2  SEO의 재정의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463040"/>
          <a:ext cx="11368733" cy="215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7042"/>
                <a:gridCol w="5073650"/>
                <a:gridCol w="4228041"/>
              </a:tblGrid>
              <a:tr h="330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점검 항목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점검 방법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문제 시 증상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색인 여부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구글/네이버에서 site:내도메인 검색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검색 결과 0건 = 어떤 최적화도 무의미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robots.txt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내도메인/robots.txt 직접 열어 Googlebot·Yeti 차단 여부 확인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크롤러 차단 → 신규 콘텐츠가 영원히 미색인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사이트맵/RSS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서치콘솔·서치어드바이저에 XML 사이트맵/RSS 제출 여부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새 글 발견이 느려지고 누락 발생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내부링크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중요 페이지가 표준 HTML 링크(&lt;a href&gt;)로 연결되는가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버튼/JS로만 연결된 페이지는 고아 페이지가 됨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JS 콘텐츠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핵심 텍스트가 JS 렌더링 후에만 보이는가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크롤러가 본문을 빈 페이지로 읽을 수 있음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11480" y="5870448"/>
            <a:ext cx="11368735" cy="40233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5870448"/>
            <a:ext cx="54864" cy="402336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70448"/>
            <a:ext cx="1103955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1" i="0" spc="50">
                <a:solidFill>
                  <a:srgbClr val="1F6FA8"/>
                </a:solidFill>
                <a:latin typeface="Arial"/>
                <a:ea typeface="Noto Sans CJK KR"/>
              </a:rPr>
              <a:t>TIP   </a:t>
            </a:r>
            <a:r>
              <a:rPr sz="1050" b="0" i="0">
                <a:solidFill>
                  <a:srgbClr val="1A1A1A"/>
                </a:solidFill>
                <a:latin typeface="Arial"/>
                <a:ea typeface="Noto Sans CJK KR"/>
              </a:rPr>
              <a:t>이 5가지는 마케터가 개발자 없이도 '확인'까지는 할 수 있습니다. 수정은 개발팀과 협업하되, 진단은 우리의 일입니다.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2회차 · SEO의 재정의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콘텐츠 SEO 5대 점검 — AI 답변 재료가 되는 조건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2  SEO의 재정의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463040"/>
          <a:ext cx="11368733" cy="215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216"/>
                <a:gridCol w="4885737"/>
                <a:gridCol w="4791780"/>
              </a:tblGrid>
              <a:tr h="330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점검 항목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점검 질문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AI 검색 관점의 의미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제목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페이지 제목이 중복 없이 검색 의도를 담는가?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AI가 문서 주제를 판단하는 1차 신호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구조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H1/H2/H3가 논리적이고 답변 추출이 쉬운가?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AI는 잘 쪼개진 의미 단위를 인용하기 쉽다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중복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같은 주제의 글이 여러 개로 흩어져 있지 않은가?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신호 분산 → 어떤 문서도 대표가 못 됨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검색 의도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이 글은 어떤 질문에 대한 답인가를 말할 수 있는가?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질문이 불명확한 글은 답변으로 뽑히지 않음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신뢰 신호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작성자, 날짜, 출처, 실제 경험이 드러나는가?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AI가 '안전하게 인용할 수 있는' 문서의 조건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2회차 · SEO의 재정의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오늘의 툴 다루기 — 진단 도구 4종 세트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2  SEO의 재정의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98448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888888"/>
                </a:solidFill>
                <a:latin typeface="Arial"/>
                <a:ea typeface="Noto Sans CJK KR"/>
              </a:rPr>
              <a:t>원칙: 데이터 도구(콘솔)로 사실을 확인하고, AI 도구로 해석과 개선안을 얻는다. 순서를 바꾸면 안 됩니다.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5583783" cy="21899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792224"/>
            <a:ext cx="5583783" cy="4572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1956816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967788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6444" y="1938528"/>
            <a:ext cx="45642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1A1A1A"/>
                </a:solidFill>
                <a:latin typeface="Arial"/>
                <a:ea typeface="Noto Sans CJK KR"/>
              </a:rPr>
              <a:t>site: 검색 — 30초 색인 진단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340864"/>
            <a:ext cx="5236311" cy="1568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이렇게 쓴다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구글·네이버 검색창에 site:내도메인 입력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보는 것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색인된 페이지 수, 제목이 이상한 페이지, 누락된 핵심 페이지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포인트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가장 빠르고 공짜인 SEO 건강검진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6431" y="1792224"/>
            <a:ext cx="5583783" cy="21899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6431" y="1792224"/>
            <a:ext cx="5583783" cy="4572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9311" y="1956816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9311" y="1967788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1395" y="1938528"/>
            <a:ext cx="45642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1A1A1A"/>
                </a:solidFill>
                <a:latin typeface="Arial"/>
                <a:ea typeface="Noto Sans CJK KR"/>
              </a:rPr>
              <a:t>Google Search Console · 네이버 서치어드바이저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9311" y="2340864"/>
            <a:ext cx="5236311" cy="1568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이렇게 쓴다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색인 현황, 검색 노출 쿼리, 크롤링 오류를 주 1회 확인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보는 것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어떤 질문(쿼리)으로 유입되는가 — AEO 재료가 된다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포인트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둘 다 무료. 오늘 계정이 없다면 이번 주 안에 등록이 과제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183380"/>
            <a:ext cx="5583783" cy="21899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183380"/>
            <a:ext cx="5583783" cy="4572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4347972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358944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6444" y="4329684"/>
            <a:ext cx="45642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1A1A1A"/>
                </a:solidFill>
                <a:latin typeface="Arial"/>
                <a:ea typeface="Noto Sans CJK KR"/>
              </a:rPr>
              <a:t>ChatGPT / Claude — 크롤러 관점 시뮬레이터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732020"/>
            <a:ext cx="5236311" cy="1568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이렇게 쓴다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본문을 붙여넣고 "검색엔진 크롤러 관점에서 이 글의 주제·구조·문제를 진단해줘"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보는 것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사람 눈에는 안 보이던 구조 문제, 제목-본문 불일치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주의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AI 진단은 '가설'이다 — 콘솔 데이터로 교차 확인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6431" y="4183380"/>
            <a:ext cx="5583783" cy="21899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6431" y="4183380"/>
            <a:ext cx="5583783" cy="4572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79311" y="4347972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9311" y="4358944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1395" y="4329684"/>
            <a:ext cx="45642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1A1A1A"/>
                </a:solidFill>
                <a:latin typeface="Arial"/>
                <a:ea typeface="Noto Sans CJK KR"/>
              </a:rPr>
              <a:t>robots.txt 열람 — 개발 지식 없이 가능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9311" y="4732020"/>
            <a:ext cx="5236311" cy="1568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이렇게 쓴다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브라우저 주소창에 내도메인/robots.txt 입력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보는 것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Disallow 항목에 핵심 경로가 들어있지 않은지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포인트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대형 사고의 절반은 여기서 발견된다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2회차 · SEO의 재정의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실습 프롬프트 — AI를 SEO 진단 파트너로 쓰기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2  SEO의 재정의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98448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888888"/>
                </a:solidFill>
                <a:latin typeface="Arial"/>
                <a:ea typeface="Noto Sans CJK KR"/>
              </a:rPr>
              <a:t>본문을 통째로 붙여넣고 실행하세요. 결과는 체크리스트와 교차 확인합니다.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11368735" cy="4005072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792224"/>
            <a:ext cx="11368735" cy="310896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4360" y="1901952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5528" y="1901952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96696" y="1901952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1792224"/>
            <a:ext cx="1036289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 spc="120">
                <a:solidFill>
                  <a:srgbClr val="7FA8CC"/>
                </a:solidFill>
                <a:latin typeface="Arial"/>
                <a:ea typeface="Noto Sans CJK KR"/>
              </a:rPr>
              <a:t>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249424"/>
            <a:ext cx="10820095" cy="3438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너는 기술 SEO와 콘텐츠 SEO를 모두 아는 검색 컨설턴트다.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아래 콘텐츠를 '검색엔진과 AI 답변 엔진이 읽는 관점'에서 진단해줘.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7DD3FC"/>
                </a:solidFill>
                <a:latin typeface="Consolas"/>
                <a:ea typeface="Noto Sans CJK KR"/>
              </a:rPr>
              <a:t>진단 기준: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1) 이 글이 답하려는 검색 질문이 한 문장으로 명확한가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2) 제목(H1)과 본문 내용이 일치하는가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3) H2/H3 구조가 논리적이고, 각 섹션이 독립적으로 인용 가능한가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4) 작성자/날짜/출처/실제 경험 같은 신뢰 신호가 있는가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5) 같은 사이트의 다른 글과 주제가 중복될 위험이 있는가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7DD3FC"/>
                </a:solidFill>
                <a:latin typeface="Consolas"/>
                <a:ea typeface="Noto Sans CJK KR"/>
              </a:rPr>
              <a:t>출력 형식: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- 이 글이 답하는 핵심 질문 (한 문장)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- 항목별 점수(5점 만점)와 근거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- 가장 심각한 문제 3개와 수정 방향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- 지금 바로 고칠 수 있는 문장 수정 예시 3개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[여기에 콘텐츠 붙여넣기]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870448"/>
            <a:ext cx="11368735" cy="40233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5870448"/>
            <a:ext cx="54864" cy="402336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870448"/>
            <a:ext cx="1103955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1" i="0" spc="50">
                <a:solidFill>
                  <a:srgbClr val="1F6FA8"/>
                </a:solidFill>
                <a:latin typeface="Arial"/>
                <a:ea typeface="Noto Sans CJK KR"/>
              </a:rPr>
              <a:t>TIP   </a:t>
            </a:r>
            <a:r>
              <a:rPr sz="1050" b="0" i="0">
                <a:solidFill>
                  <a:srgbClr val="1A1A1A"/>
                </a:solidFill>
                <a:latin typeface="Arial"/>
                <a:ea typeface="Noto Sans CJK KR"/>
              </a:rPr>
              <a:t>AI의 진단 중 '사실 주장'(색인 여부 등)은 반드시 콘솔·site: 검색으로 검증하세요. AI는 구조를 잘 보지만, 사실은 자주 틀립니다.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2회차 · SEO의 재정의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실습 (30분): 내 콘텐츠 SEO 응급 진단 체크리스트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2  SEO의 재정의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98448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888888"/>
                </a:solidFill>
                <a:latin typeface="Arial"/>
                <a:ea typeface="Noto Sans CJK KR"/>
              </a:rPr>
              <a:t>본인 사이트의 대표 콘텐츠 1개를 골라 8개 항목을 직접 점검하고 상태를 기록하세요.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10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792224"/>
          <a:ext cx="11368733" cy="325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9347"/>
                <a:gridCol w="5825302"/>
                <a:gridCol w="1503303"/>
                <a:gridCol w="2630781"/>
              </a:tblGrid>
              <a:tr h="330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항목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점검 질문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상태(○△✕)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메모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색인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Google/Naver에서 site:도메인 검색 결과가 있는가?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/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/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크롤링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robots.txt가 Googlebot/Yeti를 막고 있지 않은가?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/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/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사이트맵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XML 사이트맵과 RSS가 제출되어 있는가?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/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/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내부링크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중요한 페이지가 HTML 링크로 연결되어 있는가?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/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/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제목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각 페이지 제목이 중복되지 않고 검색 의도를 담는가?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/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/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구조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H1/H2/H3가 논리적이고 답변 추출이 쉬운가?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/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/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신뢰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작성자, 날짜, 출처, 근거, 실제 경험이 드러나는가?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/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/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전환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방문자가 다음 행동(CTA)을 이해할 수 있는가?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/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/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2회차 · SEO의 재정의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리라이트 우선순위 정하기 — 다 고칠 수 없다면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2  SEO의 재정의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63040"/>
            <a:ext cx="556549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463040"/>
            <a:ext cx="5565495" cy="4572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63040"/>
            <a:ext cx="51997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FFFFFF"/>
                </a:solidFill>
                <a:latin typeface="Arial"/>
                <a:ea typeface="Noto Sans CJK KR"/>
              </a:rPr>
              <a:t>먼저 고친다 (영향 큼 × 수정 쉬움)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066544"/>
            <a:ext cx="5163159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300"/>
              </a:spcAft>
            </a:pPr>
            <a:r>
              <a:rPr sz="8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300" b="0" i="0">
                <a:solidFill>
                  <a:srgbClr val="1A1A1A"/>
                </a:solidFill>
                <a:latin typeface="Arial"/>
                <a:ea typeface="Noto Sans CJK KR"/>
              </a:rPr>
              <a:t>색인/크롤링 차단 문제 — 발견 즉시 최우선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300"/>
              </a:spcAft>
            </a:pPr>
            <a:r>
              <a:rPr sz="8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300" b="0" i="0">
                <a:solidFill>
                  <a:srgbClr val="1A1A1A"/>
                </a:solidFill>
                <a:latin typeface="Arial"/>
                <a:ea typeface="Noto Sans CJK KR"/>
              </a:rPr>
              <a:t>제목-검색의도 불일치 — 제목만 바꿔도 효과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300"/>
              </a:spcAft>
            </a:pPr>
            <a:r>
              <a:rPr sz="8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300" b="0" i="0">
                <a:solidFill>
                  <a:srgbClr val="1A1A1A"/>
                </a:solidFill>
                <a:latin typeface="Arial"/>
                <a:ea typeface="Noto Sans CJK KR"/>
              </a:rPr>
              <a:t>H 구조 붕괴 — 소제목 재배치는 반나절 작업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300"/>
              </a:spcAft>
            </a:pPr>
            <a:r>
              <a:rPr sz="8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300" b="0" i="0">
                <a:solidFill>
                  <a:srgbClr val="1A1A1A"/>
                </a:solidFill>
                <a:latin typeface="Arial"/>
                <a:ea typeface="Noto Sans CJK KR"/>
              </a:rPr>
              <a:t>날짜·작성자 등 신뢰 신호 누락 — 템플릿으로 일괄 추가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4719" y="1463040"/>
            <a:ext cx="556549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4719" y="1463040"/>
            <a:ext cx="5565495" cy="457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7599" y="1463040"/>
            <a:ext cx="51997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FFFFFF"/>
                </a:solidFill>
                <a:latin typeface="Arial"/>
                <a:ea typeface="Noto Sans CJK KR"/>
              </a:rPr>
              <a:t>계획 세워 고친다 (영향 큼 × 수정 어려움)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2066544"/>
            <a:ext cx="5163159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300"/>
              </a:spcAft>
            </a:pPr>
            <a:r>
              <a:rPr sz="800" b="0" i="0">
                <a:solidFill>
                  <a:srgbClr val="0F2A4A"/>
                </a:solidFill>
                <a:latin typeface="Arial"/>
                <a:ea typeface="Noto Sans CJK KR"/>
              </a:rPr>
              <a:t>▪  </a:t>
            </a:r>
            <a:r>
              <a:rPr sz="1300" b="0" i="0">
                <a:solidFill>
                  <a:srgbClr val="1A1A1A"/>
                </a:solidFill>
                <a:latin typeface="Arial"/>
                <a:ea typeface="Noto Sans CJK KR"/>
              </a:rPr>
              <a:t>JS 렌더링 의존 구조 — 개발팀 협업 필요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300"/>
              </a:spcAft>
            </a:pPr>
            <a:r>
              <a:rPr sz="800" b="0" i="0">
                <a:solidFill>
                  <a:srgbClr val="0F2A4A"/>
                </a:solidFill>
                <a:latin typeface="Arial"/>
                <a:ea typeface="Noto Sans CJK KR"/>
              </a:rPr>
              <a:t>▪  </a:t>
            </a:r>
            <a:r>
              <a:rPr sz="1300" b="0" i="0">
                <a:solidFill>
                  <a:srgbClr val="1A1A1A"/>
                </a:solidFill>
                <a:latin typeface="Arial"/>
                <a:ea typeface="Noto Sans CJK KR"/>
              </a:rPr>
              <a:t>중복 콘텐츠 통합 — 리다이렉트 설계 필요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300"/>
              </a:spcAft>
            </a:pPr>
            <a:r>
              <a:rPr sz="800" b="0" i="0">
                <a:solidFill>
                  <a:srgbClr val="0F2A4A"/>
                </a:solidFill>
                <a:latin typeface="Arial"/>
                <a:ea typeface="Noto Sans CJK KR"/>
              </a:rPr>
              <a:t>▪  </a:t>
            </a:r>
            <a:r>
              <a:rPr sz="1300" b="0" i="0">
                <a:solidFill>
                  <a:srgbClr val="1A1A1A"/>
                </a:solidFill>
                <a:latin typeface="Arial"/>
                <a:ea typeface="Noto Sans CJK KR"/>
              </a:rPr>
              <a:t>사이트 전체 내부링크 재설계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00" b="0" i="0">
                <a:solidFill>
                  <a:srgbClr val="BFBFBF"/>
                </a:solidFill>
                <a:latin typeface="Arial"/>
                <a:ea typeface="Noto Sans CJK KR"/>
              </a:rPr>
              <a:t>      –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이런 항목은 '문제 정의서'로 만들어 개발팀에 전달하는 것까지가 마케터의 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2회차 · SEO의 재정의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오늘의 핵심 3줄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2  SEO의 재정의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  <a:ea typeface="Noto Sans CJK KR"/>
              </a:rPr>
              <a:t>① AI 답변의 재료는 색인된 문서다 — 접근 불가면 인용도 불가.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  <a:ea typeface="Noto Sans CJK KR"/>
              </a:rPr>
              <a:t>② 진단은 마케터의 일이다 — site:, robots.txt, 콘솔은 개발 지식 없이도 볼 수 있다.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  <a:ea typeface="Noto Sans CJK KR"/>
              </a:rPr>
              <a:t>③ AI는 진단 파트너, 콘솔은 판사 — AI의 가설을 데이터로 검증하는 순서를 지켜라.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2회차 · SEO의 재정의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이번 주 미션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2  SEO의 재정의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600" b="1" i="0">
                <a:solidFill>
                  <a:srgbClr val="1A1A1A"/>
                </a:solidFill>
                <a:latin typeface="Arial"/>
                <a:ea typeface="Noto Sans CJK KR"/>
              </a:rPr>
              <a:t>미션: 기존 콘텐츠 1개를 골라 'SEO 문제 5개 + 각각의 수정안'을 작성하라.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오늘 체크리스트 8항목 기준으로 문제를 특정할 것 (막연한 '품질 낮음' 금지)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문제마다 '증거'(스크린샷, site: 결과, AI 진단 내용)를 붙일 것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수정안은 '수정 전 문장 → 수정 후 문장' 형태로 구체적으로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0" i="0">
                <a:solidFill>
                  <a:srgbClr val="1F6FA8"/>
                </a:solidFill>
                <a:latin typeface="Arial"/>
                <a:ea typeface="Noto Sans CJK KR"/>
              </a:rPr>
              <a:t>다음 회차 예고: AEO — 답변으로 뽑히는 콘텐츠 만들기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본인 업종의 '고객 질문' 5개를 미리 생각해오세요.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