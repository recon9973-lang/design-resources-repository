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847088"/>
            <a:ext cx="566928" cy="685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CD34D"/>
                </a:solidFill>
                <a:latin typeface="맑은 고딕"/>
                <a:ea typeface="맑은 고딕"/>
              </a:rPr>
              <a:t>AI 시대 마케팅, 누가 살아남을까? — 6주 실무 스터디  |  2회차 강사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87168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FFFFF"/>
                </a:solidFill>
                <a:latin typeface="맑은 고딕"/>
                <a:ea typeface="맑은 고딕"/>
              </a:rPr>
              <a:t>[강사용] SEO의 재정의 — 기본기가 이긴다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 i="0">
                <a:solidFill>
                  <a:srgbClr val="CBD5E1"/>
                </a:solidFill>
                <a:latin typeface="맑은 고딕"/>
                <a:ea typeface="맑은 고딕"/>
              </a:rPr>
              <a:t>수업 운영 흐름 · 라이브 시연 시나리오 · 수강생 미션 · 평가 기준
핵심 질문: AI 시대에도 왜 기본 SEO가 더 중요해졌나?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DA2C0"/>
                </a:solidFill>
                <a:latin typeface="맑은 고딕"/>
                <a:ea typeface="맑은 고딕"/>
              </a:rPr>
              <a:t>이 문서는 강사 전용입니다. 수강생 배포 금지 · 기준일 2026-07-03 · 링크는 수업 전날 접속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46943" y="502920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6943" y="502920"/>
            <a:ext cx="89611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91440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92524"/>
                </a:solidFill>
                <a:latin typeface="맑은 고딕"/>
                <a:ea typeface="맑은 고딕"/>
              </a:rPr>
              <a:t>운영 타임라인 × 시연 매핑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91495" y="4754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91495" y="4892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>[강사용] AI 시대 마케팅, 누가 살아남을까? — 6주 실무 스터디   |   2회차 · SEO의 재정의</a:t>
            </a: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/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4414" cy="260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651"/>
                <a:gridCol w="4951226"/>
                <a:gridCol w="4859537"/>
              </a:tblGrid>
              <a:tr h="304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시연/활동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0~15분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과제 리뷰: AI가 우리 브랜드를 말하는 방식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우수 진단표 2개 화면 공유, 공통 패턴 정리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15~35분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Google/네이버 검색엔진 기본 구조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D1 사이트 (공식 문서) + D5 유튜브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35~55분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기술 SEO: 색인·robots.txt·사이트맵·내부링크·JS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D2 웹검색 + D3 사이트 (라이브 진단)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55~75분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콘텐츠 SEO: 제목·구조·중복·의도·신뢰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D4 라이브 시연 (AI 진단 프롬프트)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75~105분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실습: SEO 응급 진단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수강생 사이트로 각자 진행, 강사 순회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105~120분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리라이트 방향 정리 + 과제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우선순위 매트릭스 판서, 미션 배포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91440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92524"/>
                </a:solidFill>
                <a:latin typeface="맑은 고딕"/>
                <a:ea typeface="맑은 고딕"/>
              </a:rPr>
              <a:t>시연 시나리오 D1~D5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91495" y="4754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91495" y="4892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>[강사용] AI 시대 마케팅, 누가 살아남을까? — 6주 실무 스터디   |   2회차 · SEO의 재정의</a:t>
            </a: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/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441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329"/>
                <a:gridCol w="1065063"/>
                <a:gridCol w="2662659"/>
                <a:gridCol w="2928925"/>
                <a:gridCol w="3106436"/>
              </a:tblGrid>
              <a:tr h="304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수업 시점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유형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무엇을 보여주나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링크 / 검색어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시연 포인트 (이 말을 하세요)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D1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15~35분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사이트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구글 공식 문서 — 'AI 비밀 최적화는 없다'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developers.google.com/search/docs/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appearance/ai-features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+ SEO Starter Guide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"구글이 직접 말합니다 — AI 기능을 위한 별도 비법은 없고, 기본 SEO가 답이라고요." 원문 한 단락만 하이라이트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D2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35~55분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웹검색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site: 검색 라이브 진단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구글/네이버 검색창에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site:수강생도메인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(지원자 1명 사이트로)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색인 수·이상한 제목·누락 페이지를 그 자리에서 발견. "30초 만에 이만큼 보입니다"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D3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35~55분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사이트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robots.txt 실물 열람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지원자도메인/robots.txt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비교: naver.com/robots.txt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"개발 지식 없이 주소창만으로 확인 가능합니다." Disallow에 핵심 경로가 있으면 최고의 라이브 순간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D4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55~75분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라이브 시연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AI 크롤러 관점 진단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ChatGPT/Claude에 수강생 글 붙여넣고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수업 자료의 진단 프롬프트 실행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"AI는 구조를 잘 봅니다. 단, 색인 여부 같은 '사실'은 AI 말고 콘솔로 확인 — 역할 분담을 기억하세요"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D5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15~35분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유튜브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구글 공식 채널의 SEO 기본기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youtube.com/@GoogleSearchCentral</a:t>
                      </a:r>
                    </a:p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재생목록 "SEO Office Hours"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5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"궁금한 건 업체 블로그보다 여기서 먼저 확인하는 습관" — 채널 구독을 그 자리에서 시키기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91440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92524"/>
                </a:solidFill>
                <a:latin typeface="맑은 고딕"/>
                <a:ea typeface="맑은 고딕"/>
              </a:rPr>
              <a:t>보조 시연 — 네이버 &amp; 뉴스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91495" y="4754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91495" y="4892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>[강사용] AI 시대 마케팅, 누가 살아남을까? — 6주 실무 스터디   |   2회차 · SEO의 재정의</a:t>
            </a: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446623" cy="5212080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316736"/>
            <a:ext cx="57150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330452"/>
            <a:ext cx="5715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사이트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2748" y="1303020"/>
            <a:ext cx="44179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92524"/>
                </a:solidFill>
                <a:latin typeface="맑은 고딕"/>
                <a:ea typeface="맑은 고딕"/>
              </a:rPr>
              <a:t>네이버 서치어드바이저 투어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0784"/>
            <a:ext cx="5117439" cy="4626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링크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searchadvisor.naver.com → 웹마스터 가이드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보여줄 것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사이트 등록 화면, Yeti 크롤러/사이트맵·RSS 문서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멘트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"네이버 유입이 중요한 회사인데 여기 등록이 안 돼 있다면, 오늘 밤에 하세요"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타이밍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15~35분 구조 설명 직후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1188720"/>
            <a:ext cx="5446623" cy="5212080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61023" y="1316736"/>
            <a:ext cx="57150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1023" y="1330452"/>
            <a:ext cx="5715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뉴스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0539" y="1303020"/>
            <a:ext cx="44179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92524"/>
                </a:solidFill>
                <a:latin typeface="맑은 고딕"/>
                <a:ea typeface="맑은 고딕"/>
              </a:rPr>
              <a:t>코어 업데이트 뉴스 검색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1023" y="1700784"/>
            <a:ext cx="5117439" cy="4626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검색어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구글 뉴스: "구글 코어 업데이트" / "검색 알고리즘 업데이트"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보여줄 것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순위 급변 사례 기사 헤드라인 1~2건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멘트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"알고리즘은 계속 바뀝니다. 그래서 테크닉이 아니라 기본기에 투자하는 겁니다"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타이밍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55~75분 콘텐츠 SEO 도입부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91440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92524"/>
                </a:solidFill>
                <a:latin typeface="맑은 고딕"/>
                <a:ea typeface="맑은 고딕"/>
              </a:rPr>
              <a:t>시연 백업 플랜 — 라이브가 실패할 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91495" y="4754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91495" y="4892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00584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AI 시연은 반드시 실패를 전제로 준비합니다. 실패 자체가 최고의 교육 소재입니다.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>[강사용] AI 시대 마케팅, 누가 살아남을까? — 6주 실무 스터디   |   2회차 · SEO의 재정의</a:t>
            </a: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17904"/>
            <a:ext cx="5446623" cy="234086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645920"/>
            <a:ext cx="571500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59636"/>
            <a:ext cx="5715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백업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2748" y="1632204"/>
            <a:ext cx="44179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92524"/>
                </a:solidFill>
                <a:latin typeface="맑은 고딕"/>
                <a:ea typeface="맑은 고딕"/>
              </a:rPr>
              <a:t>수업 전날 스크린샷 세트 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29968"/>
            <a:ext cx="5117439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모든 라이브 시연의 결과 화면을 전날 캡처해 슬라이드 뒤에 붙여둔다.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캡처에는 날짜·도구·질문이 함께 보이게 찍는다.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네트워크/로그인 장애 시 즉시 스크린샷으로 전환.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1517904"/>
            <a:ext cx="5446623" cy="234086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61023" y="1645920"/>
            <a:ext cx="571500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1023" y="1659636"/>
            <a:ext cx="5715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백업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0539" y="1632204"/>
            <a:ext cx="44179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92524"/>
                </a:solidFill>
                <a:latin typeface="맑은 고딕"/>
                <a:ea typeface="맑은 고딕"/>
              </a:rPr>
              <a:t>결과가 어제와 다르게 나올 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1023" y="2029968"/>
            <a:ext cx="5117439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당황하지 말고 그대로 교육 포인트로 전환: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"보세요, 어제는 이렇게 나왔는데 오늘은 다릅니다."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"이래서 AI 검색은 1회 확인이 아니라 반복 측정이 필요합니다."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59936"/>
            <a:ext cx="5446623" cy="234086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4187952"/>
            <a:ext cx="571500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201668"/>
            <a:ext cx="5715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백업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2748" y="4174236"/>
            <a:ext cx="44179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92524"/>
                </a:solidFill>
                <a:latin typeface="맑은 고딕"/>
                <a:ea typeface="맑은 고딕"/>
              </a:rPr>
              <a:t>AI Overviews가 안 뜰 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572000"/>
            <a:ext cx="5117439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지역·계정·언어에 따라 미노출이 정상임을 설명.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영어 질문으로 재시도 → 그래도 없으면 준비한 캡처 사용.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"안 뜨는 것 자체가 '노출은 통제 밖'이라는 증거"로 연결.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6431" y="4059936"/>
            <a:ext cx="5446623" cy="234086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61023" y="4187952"/>
            <a:ext cx="571500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1023" y="4201668"/>
            <a:ext cx="5715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백업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0539" y="4174236"/>
            <a:ext cx="44179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92524"/>
                </a:solidFill>
                <a:latin typeface="맑은 고딕"/>
                <a:ea typeface="맑은 고딕"/>
              </a:rPr>
              <a:t>수강생 브랜드가 아예 안 나올 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1023" y="4572000"/>
            <a:ext cx="5117439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"언급 0회도 소중한 데이터"라고 먼저 프레이밍.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잘 나오는 공개 브랜드(무신사, 배민 등)로 대조 시연.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150" b="0" i="0">
                <a:solidFill>
                  <a:srgbClr val="9CA3AF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차이의 원인(콘텐츠·리뷰·언론 량)을 토론으로 유도.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91440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92524"/>
                </a:solidFill>
                <a:latin typeface="맑은 고딕"/>
                <a:ea typeface="맑은 고딕"/>
              </a:rPr>
              <a:t>미션 배포문 — 이대로 공유 시트에 게시하세요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91495" y="4754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91495" y="4892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00584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미션: 기존 콘텐츠 1개 → SEO 문제 5개 + 수정안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>[강사용] AI 시대 마케팅, 누가 살아남을까? — 6주 실무 스터디   |   2회차 · SEO의 재정의</a:t>
            </a: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99616"/>
            <a:ext cx="11094415" cy="4443984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00784"/>
            <a:ext cx="10545775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[2회차 미션] 내 콘텐츠 SEO 응급 진단 리포트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1. 우리 사이트(또는 블로그)의 기존 콘텐츠 1개를 고른다.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   - 추천: 트래픽이 중요한데 성과가 아쉬운 글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2. 수업에서 배운 8항목 체크리스트로 진단한다.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3. 'SEO 문제 5개'를 특정하고, 각각에 대해 작성한다: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   - 문제: 무엇이 왜 문제인가 (체크리스트 항목 명시)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   - 증거: site: 결과, robots.txt, AI 진단 등 스크린샷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   - 수정안: 수정 전 문장 → 수정 후 문장 (구체적으로)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4. 문제 5개 중 1개 이상은 '기술 SEO' 항목일 것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제출: 다음 수업 전날 23:59까지 공유 시트에 업로드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Consolas"/>
                <a:ea typeface="맑은 고딕"/>
              </a:rPr>
              <a:t>형식: 자유 (표 권장), A4 1~2장 분량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053328"/>
            <a:ext cx="11094415" cy="402336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6053328"/>
            <a:ext cx="1076523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D97706"/>
                </a:solidFill>
                <a:latin typeface="맑은 고딕"/>
                <a:ea typeface="맑은 고딕"/>
              </a:rPr>
              <a:t>TIP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강조할 것: '품질이 낮다' 같은 막연한 진단 금지. 증거 스크린샷 없는 문제 제기는 반려한다고 미리 공지.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91440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92524"/>
                </a:solidFill>
                <a:latin typeface="맑은 고딕"/>
                <a:ea typeface="맑은 고딕"/>
              </a:rPr>
              <a:t>미션 평가 루브릭 — 피드백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91495" y="4754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91495" y="4892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00584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점수화가 목적이 아니라, 다음 주 첫 15분 과제 리뷰에서 '무엇을 칭찬하고 무엇을 교정할지' 기준입니다.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>[강사용] AI 시대 마케팅, 누가 살아남을까? — 6주 실무 스터디   |   2회차 · SEO의 재정의</a:t>
            </a: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/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17904"/>
          <a:ext cx="11094413" cy="1840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476"/>
                <a:gridCol w="825204"/>
                <a:gridCol w="4217711"/>
                <a:gridCol w="4126022"/>
              </a:tblGrid>
              <a:tr h="304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 항목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배점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우수 (이렇게 하면 칭찬)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미흡 (이렇게 오면 교정)</a:t>
                      </a:r>
                    </a:p>
                  </a:txBody>
                  <a:tcPr anchor="ctr" marL="73152" marR="73152" marT="27432" marB="27432">
                    <a:solidFill>
                      <a:srgbClr val="29252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문제 특정력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체크리스트 항목으로 문제를 정확히 명명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"글이 별로다"류의 인상 비평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증거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25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항목마다 스크린샷/데이터 첨부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증거 없이 주장만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수정안 구체성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수정 전→후 문장이 그대로 실행 가능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"제목을 개선한다" 수준의 선언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292524"/>
                          </a:solidFill>
                          <a:latin typeface="맑은 고딕"/>
                          <a:ea typeface="맑은 고딕"/>
                        </a:rPr>
                        <a:t>기술 SEO 포함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색인/크롤링/사이트맵 중 1개 이상 진단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콘텐츠 항목만 5개</a:t>
                      </a:r>
                    </a:p>
                  </a:txBody>
                  <a:tcPr anchor="ctr" marL="73152" marR="73152" marT="27432" marB="27432">
                    <a:solidFill>
                      <a:srgbClr val="FDF3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91440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92524"/>
                </a:solidFill>
                <a:latin typeface="맑은 고딕"/>
                <a:ea typeface="맑은 고딕"/>
              </a:rPr>
              <a:t>토론 유도 질문 &amp; 예상 질문 대응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91495" y="4754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91495" y="4892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>[강사용] AI 시대 마케팅, 누가 살아남을까? — 6주 실무 스터디   |   2회차 · SEO의 재정의</a:t>
            </a: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70432"/>
            <a:ext cx="5428335" cy="51846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170432"/>
            <a:ext cx="5428335" cy="475488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08176"/>
            <a:ext cx="5428335" cy="2377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70432"/>
            <a:ext cx="50625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수업 중 던질 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92224"/>
            <a:ext cx="5025999" cy="4407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500"/>
              </a:spcBef>
              <a:spcAft>
                <a:spcPts val="300"/>
              </a:spcAft>
            </a:pPr>
            <a:r>
              <a:rPr sz="900" b="0" i="0">
                <a:solidFill>
                  <a:srgbClr val="D97706"/>
                </a:solidFill>
                <a:latin typeface="맑은 고딕"/>
                <a:ea typeface="맑은 고딕"/>
              </a:rPr>
              <a:t>●  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"이 페이지가 답하려는 검색 질문을 한 문장으로 말할 수 있나요?"</a:t>
            </a:r>
          </a:p>
          <a:p>
            <a:pPr algn="l">
              <a:lnSpc>
                <a:spcPct val="116000"/>
              </a:lnSpc>
              <a:spcBef>
                <a:spcPts val="500"/>
              </a:spcBef>
              <a:spcAft>
                <a:spcPts val="300"/>
              </a:spcAft>
            </a:pPr>
            <a:r>
              <a:rPr sz="900" b="0" i="0">
                <a:solidFill>
                  <a:srgbClr val="D97706"/>
                </a:solidFill>
                <a:latin typeface="맑은 고딕"/>
                <a:ea typeface="맑은 고딕"/>
              </a:rPr>
              <a:t>●  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"우리 사이트에서 가장 중요한 페이지 3개는 내부링크 몇 개를 받고 있나요?"</a:t>
            </a:r>
          </a:p>
          <a:p>
            <a:pPr algn="l">
              <a:lnSpc>
                <a:spcPct val="116000"/>
              </a:lnSpc>
              <a:spcBef>
                <a:spcPts val="500"/>
              </a:spcBef>
              <a:spcAft>
                <a:spcPts val="300"/>
              </a:spcAft>
            </a:pPr>
            <a:r>
              <a:rPr sz="900" b="0" i="0">
                <a:solidFill>
                  <a:srgbClr val="D97706"/>
                </a:solidFill>
                <a:latin typeface="맑은 고딕"/>
                <a:ea typeface="맑은 고딕"/>
              </a:rPr>
              <a:t>●  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"작성자와 날짜가 없는 글을 여러분은 신뢰하나요? AI는요?"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4719" y="1170432"/>
            <a:ext cx="5428335" cy="51846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4719" y="1170432"/>
            <a:ext cx="5428335" cy="475488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4719" y="1408176"/>
            <a:ext cx="5428335" cy="2377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7599" y="1170432"/>
            <a:ext cx="50625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예상 질문과 답변 가이드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1792224"/>
            <a:ext cx="5025999" cy="4407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500"/>
              </a:spcBef>
              <a:spcAft>
                <a:spcPts val="300"/>
              </a:spcAft>
            </a:pPr>
            <a:r>
              <a:rPr sz="900" b="0" i="0">
                <a:solidFill>
                  <a:srgbClr val="B45309"/>
                </a:solidFill>
                <a:latin typeface="맑은 고딕"/>
                <a:ea typeface="맑은 고딕"/>
              </a:rPr>
              <a:t>●  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"우리는 개발팀이 없어서 기술 SEO를 못 해요"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맑은 고딕"/>
                <a:ea typeface="맑은 고딕"/>
              </a:rPr>
              <a:t>     – </a:t>
            </a:r>
            <a:r>
              <a:rPr sz="1150" b="0" i="0">
                <a:solidFill>
                  <a:srgbClr val="4B5563"/>
                </a:solidFill>
                <a:latin typeface="맑은 고딕"/>
                <a:ea typeface="맑은 고딕"/>
              </a:rPr>
              <a:t>→ "진단까지는 오늘 도구로 가능합니다. 문제 정의서를 만들면 외주로도 해결됩니다"</a:t>
            </a:r>
          </a:p>
          <a:p>
            <a:pPr algn="l">
              <a:lnSpc>
                <a:spcPct val="116000"/>
              </a:lnSpc>
              <a:spcBef>
                <a:spcPts val="500"/>
              </a:spcBef>
              <a:spcAft>
                <a:spcPts val="300"/>
              </a:spcAft>
            </a:pPr>
            <a:r>
              <a:rPr sz="900" b="0" i="0">
                <a:solidFill>
                  <a:srgbClr val="B45309"/>
                </a:solidFill>
                <a:latin typeface="맑은 고딕"/>
                <a:ea typeface="맑은 고딕"/>
              </a:rPr>
              <a:t>●  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"네이버 블로그는 이런 게 다 소용없지 않나요?"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맑은 고딕"/>
                <a:ea typeface="맑은 고딕"/>
              </a:rPr>
              <a:t>     – </a:t>
            </a:r>
            <a:r>
              <a:rPr sz="1150" b="0" i="0">
                <a:solidFill>
                  <a:srgbClr val="4B5563"/>
                </a:solidFill>
                <a:latin typeface="맑은 고딕"/>
                <a:ea typeface="맑은 고딕"/>
              </a:rPr>
              <a:t>→ "플랫폼 내 로직은 다르지만 제목·구조·신뢰 신호 원칙은 동일하게 작동합니다"</a:t>
            </a:r>
          </a:p>
          <a:p>
            <a:pPr algn="l">
              <a:lnSpc>
                <a:spcPct val="116000"/>
              </a:lnSpc>
              <a:spcBef>
                <a:spcPts val="500"/>
              </a:spcBef>
              <a:spcAft>
                <a:spcPts val="300"/>
              </a:spcAft>
            </a:pPr>
            <a:r>
              <a:rPr sz="900" b="0" i="0">
                <a:solidFill>
                  <a:srgbClr val="B45309"/>
                </a:solidFill>
                <a:latin typeface="맑은 고딕"/>
                <a:ea typeface="맑은 고딕"/>
              </a:rPr>
              <a:t>●  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</a:rPr>
              <a:t>"AI 진단과 콘솔 데이터가 다르면요?"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맑은 고딕"/>
                <a:ea typeface="맑은 고딕"/>
              </a:rPr>
              <a:t>     – </a:t>
            </a:r>
            <a:r>
              <a:rPr sz="1150" b="0" i="0">
                <a:solidFill>
                  <a:srgbClr val="4B5563"/>
                </a:solidFill>
                <a:latin typeface="맑은 고딕"/>
                <a:ea typeface="맑은 고딕"/>
              </a:rPr>
              <a:t>→ "무조건 콘솔이 이깁니다. AI는 가설 생성기입니다"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91440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92524"/>
                </a:solidFill>
                <a:latin typeface="맑은 고딕"/>
                <a:ea typeface="맑은 고딕"/>
              </a:rPr>
              <a:t>수업 전 준비 체크리스트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91495" y="4754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91495" y="489204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>[강사용] AI 시대 마케팅, 누가 살아남을까? — 6주 실무 스터디   |   2회차 · SEO의 재정의</a:t>
            </a:r>
            <a:r>
              <a:rPr sz="950" b="0" i="0">
                <a:solidFill>
                  <a:srgbClr val="94A3B8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25295"/>
            <a:ext cx="10698480" cy="4736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500"/>
              </a:spcAft>
            </a:pPr>
            <a:r>
              <a:rPr sz="1150" b="0" i="0">
                <a:solidFill>
                  <a:srgbClr val="D97706"/>
                </a:solidFill>
                <a:latin typeface="맑은 고딕"/>
                <a:ea typeface="맑은 고딕"/>
              </a:rPr>
              <a:t>●  </a:t>
            </a:r>
            <a:r>
              <a:rPr sz="1550" b="1" i="0">
                <a:solidFill>
                  <a:srgbClr val="1F2937"/>
                </a:solidFill>
                <a:latin typeface="맑은 고딕"/>
                <a:ea typeface="맑은 고딕"/>
              </a:rPr>
              <a:t>계정/화면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CA3AF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</a:rPr>
              <a:t>GSC·서치어드바이저 시연 가능한 계정(본인 사이트) 로그인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CA3AF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</a:rPr>
              <a:t>site: 시연에 쓸 지원자 1~2명 사전 섭외 (사이트 주소 미리 확보)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500"/>
              </a:spcAft>
            </a:pPr>
            <a:r>
              <a:rPr sz="1150" b="0" i="0">
                <a:solidFill>
                  <a:srgbClr val="D97706"/>
                </a:solidFill>
                <a:latin typeface="맑은 고딕"/>
                <a:ea typeface="맑은 고딕"/>
              </a:rPr>
              <a:t>●  </a:t>
            </a:r>
            <a:r>
              <a:rPr sz="1550" b="1" i="0">
                <a:solidFill>
                  <a:srgbClr val="1F2937"/>
                </a:solidFill>
                <a:latin typeface="맑은 고딕"/>
                <a:ea typeface="맑은 고딕"/>
              </a:rPr>
              <a:t>자료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CA3AF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</a:rPr>
              <a:t>공식 문서 2개 URL 탭으로 미리 열어두기 (ai-features, seo-starter-guide)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CA3AF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</a:rPr>
              <a:t>robots.txt 문제 사례 캡처 1개 (지원자 사이트에 문제가 없을 경우 대비)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500"/>
              </a:spcAft>
            </a:pPr>
            <a:r>
              <a:rPr sz="1150" b="0" i="0">
                <a:solidFill>
                  <a:srgbClr val="D97706"/>
                </a:solidFill>
                <a:latin typeface="맑은 고딕"/>
                <a:ea typeface="맑은 고딕"/>
              </a:rPr>
              <a:t>●  </a:t>
            </a:r>
            <a:r>
              <a:rPr sz="1550" b="1" i="0">
                <a:solidFill>
                  <a:srgbClr val="1F2937"/>
                </a:solidFill>
                <a:latin typeface="맑은 고딕"/>
                <a:ea typeface="맑은 고딕"/>
              </a:rPr>
              <a:t>과제 리뷰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CA3AF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</a:rPr>
              <a:t>1회차 미션 제출물 중 우수 2건, 공통 실수 1건 선정해두기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CA3AF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</a:rPr>
              <a:t>미제출자 리스트 확인 — 수업 후 개별 리마인드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