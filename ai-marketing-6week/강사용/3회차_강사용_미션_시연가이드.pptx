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1554480"/>
            <a:ext cx="12801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2121408"/>
            <a:ext cx="2194560" cy="310896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2688336"/>
            <a:ext cx="17373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3255263"/>
            <a:ext cx="2743200" cy="310896"/>
          </a:xfrm>
          <a:prstGeom prst="rect">
            <a:avLst/>
          </a:prstGeom>
          <a:solidFill>
            <a:srgbClr val="4FB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0" y="3822191"/>
            <a:ext cx="201168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51392" y="1463039"/>
            <a:ext cx="18288" cy="292608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96596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21579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 spc="120">
                <a:solidFill>
                  <a:srgbClr val="4FB2E5"/>
                </a:solidFill>
                <a:latin typeface="Arial"/>
                <a:ea typeface="Noto Sans CJK KR"/>
              </a:rPr>
              <a:t>AI 시대 마케팅, 누가 살아남을까? — 6주 실무 스터디  |  3회차 강사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8138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Arial"/>
                <a:ea typeface="Noto Sans CJK KR"/>
              </a:rPr>
              <a:t>[강사용] AEO — 답변으로 뽑히는 콘텐츠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709160"/>
            <a:ext cx="79552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수업 운영 흐름 · 라이브 시연 시나리오 · 수강생 미션 · 평가 기준
핵심 질문: AI와 스니펫은 어떤 글을 답으로 선택하나?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144768"/>
            <a:ext cx="11368735" cy="0"/>
          </a:xfrm>
          <a:prstGeom prst="line">
            <a:avLst/>
          </a:prstGeom>
          <a:ln w="9525">
            <a:solidFill>
              <a:srgbClr val="1F6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23620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8DA0BC"/>
                </a:solidFill>
                <a:latin typeface="Arial"/>
                <a:ea typeface="Noto Sans CJK KR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9735" y="62362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50" b="0" i="0">
                <a:solidFill>
                  <a:srgbClr val="6E82A0"/>
                </a:solidFill>
                <a:latin typeface="Arial"/>
                <a:ea typeface="Noto Sans CJK KR"/>
              </a:rPr>
              <a:t>[강사용]  AI Marketing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운영 타임라인 × 시연 매핑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1463040"/>
          <a:ext cx="11368733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5390"/>
                <a:gridCol w="5073650"/>
                <a:gridCol w="4979693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시간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내용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시연/활동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0~15분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SEO 진단 과제 공유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우수 리포트 2건 — '증거가 좋은 사례' 중심으로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15~35분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AEO 개념: 스니펫, PAA, AI 답변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D1 웹검색 + D2 웹검색 (구글/네이버 나란히)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35~55분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좋은 답변 블록의 구조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D3 사이트 (ChatGPT 답변 해부)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55~75분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질문 클러스터 만들기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D4 라이브 시연 (질문 발굴 파이프라인)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75~105분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실습: AEO형 재구성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개별 실습, 강사는 '한 문장 답' 첨삭 순회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105~120분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피드백: 짧지만 얕지 않은가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교환 검증 결과 2건 공개 리뷰 + 미션 배포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라이브 시연 시나리오 ① (D1~D3)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유형 태그로 화면을 구분하고, '검색/링크'는 그대로 입력, '멘트'는 그 자리에서 말할 문장입니다.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73152" cy="1417319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19385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D1 · 15~35분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278892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79989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웹검색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5688" y="1938528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8568" y="1911096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Featured Snippet + PAA 실물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276856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68296" y="2295144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구글 검색: "연금저축 irp 차이"   (정의·비교형 키워드면 무엇이든)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58568" y="2734056"/>
            <a:ext cx="9320479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1F6FA8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스니펫에 뽑힌 글의 '첫 문장'을 소리 내어 읽기 → "질문 바로 아래 답이 있죠. 이게 전부입니다". PAA를 펼칠수록 질문이 늘어나는 것도 시연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374136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374136"/>
            <a:ext cx="73152" cy="1417319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352044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D2 · 15~35분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" y="43708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43818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웹검색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75688" y="3520440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58568" y="3493008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네이버 스마트블록/지식스니펫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58568" y="3858768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68296" y="3877055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네이버 검색: 같은 키워드   → 인기주제·지식스니펫 블록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15968"/>
            <a:ext cx="932047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1F6FA8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"네이버도 이미 '답 단위'로 재편 중입니다. 질문형 구조는 양쪽 모두에 통합니다"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956048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4956048"/>
            <a:ext cx="73152" cy="1417319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510235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D3 · 35~55분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" y="5952744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" y="5963716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75688" y="5102352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58568" y="5074920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ChatGPT 답변 해부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58568" y="5440680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68296" y="5458968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chatgpt.com에 같은 질문 입력   → 답변 구조 관찰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58568" y="5897880"/>
            <a:ext cx="9320479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E9BD6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답변을 보며 "결론→조건→나열" 구조를 판서로 분해. "AI가 쓰는 구조가 곧 AI가 좋아하는 구조입니다"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라이브 시연 시나리오 ② (D4~D5)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11368735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73152" cy="209397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60934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D4 · 55~75분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3136392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147364"/>
            <a:ext cx="9052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라이브 시연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1609344"/>
            <a:ext cx="10972" cy="1801368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8568" y="1581912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질문 발굴 파이프라인 (핵심 시연)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58568" y="1947672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8296" y="1965960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① ChatGPT: 6유형×5개 질문 생성   ② 구글 PAA·자동완성으로 검증   ③ 네이버 지식iN 검색으로 국내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2404872"/>
            <a:ext cx="93204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0F2A4A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"AI가 만든 질문은 후보, 검색 데이터가 검증" — 3단계를 8분 안에 압축 시연. 겹치는 질문에 동그라미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21608"/>
            <a:ext cx="11368735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721608"/>
            <a:ext cx="73152" cy="2093976"/>
          </a:xfrm>
          <a:prstGeom prst="rect">
            <a:avLst/>
          </a:prstGeom>
          <a:solidFill>
            <a:srgbClr val="E04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" y="38679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D5 · 여유시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" y="539496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E04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40593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유튜브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75688" y="3867912"/>
            <a:ext cx="10972" cy="1801368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58568" y="3840480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스니펫 최적화 사례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58568" y="4206240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68296" y="4224528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유튜브 검색:   "featured snippet optimization"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58568" y="4663440"/>
            <a:ext cx="9320479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E04E5E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영어 자료가 많음을 보여주며 "이 분야는 영어로 검색하면 자료가 10배"라는 검색 팁 전달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모든 링크·검색어는 수업 전날 접속·노출을 확인하세요. AI 결과는 시점·계정·지역에 따라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핵심 시연 — 라이브 리라이트 (75~105분 실습 도입)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이 회차의 하이라이트. 수강생 글 하나를 받아 눈앞에서 AEO 블록으로 바꿉니다.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5583783" cy="4581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5583783" cy="4572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956816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967788"/>
            <a:ext cx="9052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라이브 시연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1938528"/>
            <a:ext cx="42213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진행 순서 (10분)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36311" cy="3959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1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지원자의 글 한 단락을 화면에 띄운다 (사전 섭외 권장)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2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"이 단락이 답하는 질문이 뭘까요?" 수강생에게 먼저 묻기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3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8칸 템플릿을 옆에 띄우고 위에서부터 같이 채우기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4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'한 문장 답'을 3번 고쳐 쓰는 과정을 그대로 보여주기 — 완성본보다 수정 과정이 교육적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6431" y="1792224"/>
            <a:ext cx="5583783" cy="458114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6431" y="1792224"/>
            <a:ext cx="5583783" cy="4572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79311" y="1956816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1967788"/>
            <a:ext cx="9052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라이브 시연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4295" y="1938528"/>
            <a:ext cx="42213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AI 보조 버전 (시간 없을 때 5분)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2340864"/>
            <a:ext cx="5236311" cy="3959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1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ChatGPT에 글+템플릿을 주고 초안 블록 생성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2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초안에서 '근거 없음'·'평균적 표현'을 즉석에서 지적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3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우리 데이터·사례를 넣어 문장이 살아나는 순간을 시연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멘트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"AI 초안 그대로면 남들과 같은 글, 우리 사례가 들어가면 인용되는 글"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시연 백업 플랜 — 라이브가 실패할 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AI 시연은 반드시 실패를 전제로 준비합니다. 실패 자체가 최고의 교육 소재입니다.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6444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수업 전날 스크린샷 세트 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캡처에는 날짜·도구·질문이 함께 보이게 찍는다.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네트워크/로그인 장애 시 즉시 스크린샷으로 전환.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6431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6431" y="1792224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79311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1395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결과가 어제와 다르게 나올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당황하지 말고 그대로 교육 포인트로 전환: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"보세요, 어제는 이렇게 나왔는데 오늘은 다릅니다."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"이래서 AI 검색은 1회 확인이 아니라 반복 측정이 필요합니다."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183380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6444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AI Overviews가 안 뜰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지역·계정·언어에 따라 미노출이 정상임을 설명.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영어 질문으로 재시도 → 그래도 없으면 준비한 캡처 사용.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"안 뜨는 것 자체가 '노출은 통제 밖'이라는 증거"로 연결.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6431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6431" y="4183380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79311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9311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1395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수강생 브랜드가 아예 안 나올 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"언급 0회도 소중한 데이터"라고 먼저 프레이밍.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잘 나오는 공개 브랜드(무신사, 배민 등)로 대조 시연.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미션 배포문 — 이대로 공유 시트에 게시하세요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미션: 기존 콘텐츠 1개에 질문형 블록 10개 추가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11368735" cy="4005072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11368735" cy="31089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1901952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5528" y="190195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1901952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1792224"/>
            <a:ext cx="103628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FA8CC"/>
                </a:solidFill>
                <a:latin typeface="Arial"/>
                <a:ea typeface="Noto Sans CJK KR"/>
              </a:rPr>
              <a:t>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49424"/>
            <a:ext cx="10820095" cy="3438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[3회차 미션] 질문형 블록 10개 만들기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1. 2회차에 진단한 콘텐츠(또는 다른 글 1개)를 고른다.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2. 그 글이 답할 수 있는/답해야 하는 질문 10개를 확정한다.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- 6유형(정의·비교·추천·비용·방법·실패) 중 4유형 이상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AI로 후보 생성 → 구글 PAA/네이버로 검증한 흔적 남기기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3. 각 질문을 8칸 템플릿으로 작성한다.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(질문/한 문장 답/조건/예외/근거/실무 예시/다음 행동/관련 질문)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4. 10개 중 3개 이상에는 우리만 아는 데이터·사례를 넣는다.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5. 가능하면 실제 글에 반영해 발행/수정까지 진행한다. (가산점)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제출: 다음 수업 전날 23:59까지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형식: 템플릿 10블록 + 질문 검증 캡처(PAA/지식iN 등) 2장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강조할 것: 10개를 채우려 얕아지는 것 경계 — '한 문장 답'이 결론을 유보하면 그 블록은 0점 처리 기준.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미션 평가 루브릭 — 피드백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점수화가 목적이 아니라, 다음 주 첫 15분 과제 리뷰에서 '무엇을 칭찬하고 무엇을 교정할지' 기준입니다.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792224"/>
          <a:ext cx="11368733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73086"/>
                <a:gridCol w="845608"/>
                <a:gridCol w="4321998"/>
                <a:gridCol w="4228041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평가 항목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배점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우수 (이렇게 하면 칭찬)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미흡 (이렇게 오면 교정)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답의 명확성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30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모든 블록의 첫 문장이 그 자체로 답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"경우에 따라 다르다"로 도망가는 답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유형 커버리지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15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4유형 이상, 실패/비용 등 어려운 유형 포함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정의형만 10개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검증 흔적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20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PAA/지식iN 등 실수요 검증 캡처 첨부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AI 생성 질문을 그대로 사용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원문성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25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3개 이상 블록에 자사 데이터·사례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어느 회사가 써도 되는 일반론 10개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실행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10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실제 글에 반영·발행까지 완료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문서로만 존재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토론 유도 질문 &amp; 예상 질문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556549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5565495" cy="45720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피드백 세션에서 쓸 체크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066544"/>
            <a:ext cx="516315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"첫 문장만 읽어주세요. 그것만으로 답이 되나요?"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"이 블록만 떼어 AI가 인용하면 오해의 소지가 없나요?"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"이 답의 근거는 누가 물어봐도 댈 수 있나요?"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4719" y="1463040"/>
            <a:ext cx="556549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463040"/>
            <a:ext cx="5565495" cy="4572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예상 질문과 답변 가이드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066544"/>
            <a:ext cx="516315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"FAQ 페이지 만들면 되는 것 아닌가요?"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"형식이 아니라 구조가 핵심입니다. 본문 자체가 답변 블록의 연결이어야 합니다"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"답을 다 알려주면 클릭할 이유가 없어지지 않나요?"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"답을 감추면 인용에서 탈락합니다. 답을 주고 '다음 행동'으로 전환을 설계하는 겁니다"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"짧은 답과 얕은 답의 차이가 뭔가요?"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"조건·예외·근거의 유무입니다. 짧아도 그 세 개가 있으면 깊은 답입니다"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3회차 · AEO 답변으로 뽑히는 콘텐츠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수업 전 준비 체크리스트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3  AEO 답변으로 뽑히는 콘텐츠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시연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D1 키워드 사전 테스트 — 스니펫·PAA가 실제로 뜨는 키워드로 확정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라이브 리라이트 지원자 1명 섭외 + 글 미리 받아 읽어두기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자료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8칸 템플릿 문서(복사 가능한 시트/문서) 배포 준비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질문 발굴 파이프라인 시연용 업종 1개 선정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과제 리뷰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2회차 미션 중 '증거가 좋은' 우수 사례 2건 선정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