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5216" y="1975104"/>
            <a:ext cx="47548" cy="146304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1168" y="1874520"/>
            <a:ext cx="47548" cy="246888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120" y="1938528"/>
            <a:ext cx="47548" cy="182880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3072" y="1810512"/>
            <a:ext cx="47548" cy="310896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9024" y="1901952"/>
            <a:ext cx="47548" cy="219456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4976" y="1847088"/>
            <a:ext cx="47548" cy="274320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00928" y="1993392"/>
            <a:ext cx="47548" cy="128016"/>
          </a:xfrm>
          <a:prstGeom prst="roundRect">
            <a:avLst>
              <a:gd name="adj" fmla="val 40000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22311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 spc="60">
                <a:solidFill>
                  <a:srgbClr val="FDBA74"/>
                </a:solidFill>
                <a:latin typeface="맑은 고딕"/>
                <a:ea typeface="맑은 고딕"/>
              </a:rPr>
              <a:t>AI 시대 마케팅, 누가 살아남을까? — 6주 실무 스터디  |  5회차 강사 가이드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900" b="1" i="0">
                <a:solidFill>
                  <a:srgbClr val="FFFFFF"/>
                </a:solidFill>
                <a:latin typeface="맑은 고딕"/>
                <a:ea typeface="맑은 고딕"/>
              </a:rPr>
              <a:t>[강사용] 실무 AI 마케팅 워크플로우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4261104"/>
            <a:ext cx="457200" cy="320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4443984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D5DAE6"/>
                </a:solidFill>
                <a:latin typeface="맑은 고딕"/>
                <a:ea typeface="맑은 고딕"/>
              </a:rPr>
              <a:t>수업 운영 흐름 · 라이브 시연 시나리오 · 수강생 미션 · 평가 기준
핵심 질문: 리서치, 기획, 제작, 분석을 어떻게 자동화하나?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08990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0" i="0">
                <a:solidFill>
                  <a:srgbClr val="B7A99E"/>
                </a:solidFill>
                <a:latin typeface="맑은 고딕"/>
                <a:ea typeface="맑은 고딕"/>
              </a:rPr>
              <a:t>이 문서는 강사 전용입니다. 수강생 배포 금지 · 기준일 2026-07-03 · 링크는 수업 전날 접속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728655" y="548640"/>
            <a:ext cx="896112" cy="402336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8655" y="548640"/>
            <a:ext cx="89611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250" b="1" i="0" spc="50">
                <a:solidFill>
                  <a:srgbClr val="FDBA74"/>
                </a:solidFill>
                <a:latin typeface="맑은 고딕"/>
                <a:ea typeface="맑은 고딕"/>
              </a:rPr>
              <a:t>강사용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운영 타임라인 × 시연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207007"/>
          <a:ext cx="11057838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9419"/>
                <a:gridCol w="4934903"/>
                <a:gridCol w="4843516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시연/활동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0~15분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GEO 재테스트 결과 공유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언급률 변화 사례 1~2건, '변화 없음' 사례도 의도적으로 소개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15~35분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활용 원칙: 초안 AI·판단 사람·근거 데이터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D5 뉴스/리서치 인용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35~55분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리서치 워크플로우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D1 라이브 시연 (Deep Research — 사전 실행분)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55~75분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콘텐츠 워크플로우: 브리프→초안→검수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D2 라이브 시연 (브리프 생성 + 교차 검수)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75~100분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캠페인 워크플로우: 성과 해석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D3 라이브 시연 (성과 해석 프롬프트)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100~120분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개인별 자동화 설계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D4 사이트 (MCP 소개) 후 개별 설계 실습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라이브 시연 시나리오 ① (D1~D3)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유형 태그로 화면을 구분하고, '검색/링크'는 그대로 입력, '멘트'는 그 자리에서 말할 문장입니다.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11057839" cy="15118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17904"/>
            <a:ext cx="82296" cy="1511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166420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D1 · 35~55분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609088"/>
            <a:ext cx="94366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20060"/>
            <a:ext cx="9436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라이브 시연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12848" y="1664208"/>
            <a:ext cx="12801" cy="121920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4016" y="1636776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Deep Research 결과 열람 (사전 실행 필수)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14016" y="2002536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020824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ChatGPT Deep Research 또는   Gemini Deep Research   주제 예: "국내 D2C 뷰티 시장 콘텐츠 트렌드"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4016" y="2487168"/>
            <a:ext cx="9009583" cy="469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7C3AED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실행에 수십 분 걸리므로 반드시 수업 전 완료해둘 것. 결과의 출처 목록을 보여주며 "리서치의 끝은 출처 원문 검증"을 시연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12592"/>
            <a:ext cx="11057839" cy="15118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212592"/>
            <a:ext cx="82296" cy="1511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35889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D2 · 55~75분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4303776"/>
            <a:ext cx="94366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314748"/>
            <a:ext cx="9436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라이브 시연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12848" y="3358896"/>
            <a:ext cx="12801" cy="121920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016" y="3331464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브리프 생성 → 교차 검수 (핵심 시연)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14016" y="3697224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42032" y="3715512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① ChatGPT에 브리프 프롬프트 실행   ② 산출물을 Claude에 넣어 검수 프롬프트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14016" y="4181856"/>
            <a:ext cx="9009583" cy="469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7C3AED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"초안 쓴 AI와 검수 AI를 분리하면 편향이 줄어듭니다." 검수 AI가 초안의 과장을 잡아내는 순간이 하이라이트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907280"/>
            <a:ext cx="11057839" cy="151180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907280"/>
            <a:ext cx="82296" cy="1511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05358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D3 · 75~100분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" y="5998464"/>
            <a:ext cx="94366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6009436"/>
            <a:ext cx="9436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라이브 시연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12848" y="5053584"/>
            <a:ext cx="12801" cy="1219200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4016" y="5026152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성과 해석 프롬프트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14016" y="5391912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2032" y="5410200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가상의 월간 데이터(노출·클릭·CTR·전환)를   표로 준비해 붙여넣기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14016" y="5876544"/>
            <a:ext cx="9009583" cy="4693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7C3AED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"순위 유지+클릭 하락" 패턴을 심어두고, AI가 'AI 답변/SERP 문제'로 구분해내는지 확인 — 실제 데이터 사용 금지(보안 원칙 시연 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라이브 시연 시나리오 ② (D4~D5)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225295"/>
            <a:ext cx="11057839" cy="22677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225295"/>
            <a:ext cx="82296" cy="22677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371599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D4 · 100~120분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072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83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12848" y="1371599"/>
            <a:ext cx="12801" cy="197510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14016" y="1344167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MCP 개념 소개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14016" y="1709927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1728215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modelcontextprotocol.io/introduction   (화면 1분)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2194559"/>
            <a:ext cx="9009583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0F766E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"프롬프트의 다음 단계는 연결입니다. 단, 민감 데이터는 체계 먼저." 깊이 들어가지 말 것 — 개념만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75887"/>
            <a:ext cx="11057839" cy="226771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675887"/>
            <a:ext cx="82296" cy="226771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822191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11927"/>
                </a:solidFill>
                <a:latin typeface="맑은 고딕"/>
                <a:ea typeface="맑은 고딕"/>
              </a:rPr>
              <a:t>D5 · 15~35분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5522976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533948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뉴스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12848" y="3822191"/>
            <a:ext cx="12801" cy="1975104"/>
          </a:xfrm>
          <a:prstGeom prst="rect">
            <a:avLst/>
          </a:prstGeom>
          <a:solidFill>
            <a:srgbClr val="E3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3794759"/>
            <a:ext cx="90095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00" b="1" i="0">
                <a:solidFill>
                  <a:srgbClr val="111927"/>
                </a:solidFill>
                <a:latin typeface="맑은 고딕"/>
                <a:ea typeface="맑은 고딕"/>
              </a:rPr>
              <a:t>시장 근거 제시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14016" y="4160520"/>
            <a:ext cx="9009583" cy="402336"/>
          </a:xfrm>
          <a:prstGeom prst="roundRect">
            <a:avLst>
              <a:gd name="adj" fmla="val 14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4178807"/>
            <a:ext cx="87535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0" spc="30">
                <a:solidFill>
                  <a:srgbClr val="C2410C"/>
                </a:solidFill>
                <a:latin typeface="맑은 고딕"/>
                <a:ea typeface="맑은 고딕"/>
              </a:rPr>
              <a:t>검색/링크   </a:t>
            </a:r>
            <a:r>
              <a:rPr sz="1000" b="0" i="0">
                <a:solidFill>
                  <a:srgbClr val="374151"/>
                </a:solidFill>
                <a:latin typeface="Consolas"/>
                <a:ea typeface="맑은 고딕"/>
              </a:rPr>
              <a:t>McKinsey "The State of AI" 페이지   + Microsoft Work Trend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645152"/>
            <a:ext cx="9009583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1" i="0" spc="30">
                <a:solidFill>
                  <a:srgbClr val="B45309"/>
                </a:solidFill>
                <a:latin typeface="맑은 고딕"/>
                <a:ea typeface="맑은 고딕"/>
              </a:rPr>
              <a:t>멘트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"대부분 조직이 아직 파일럿 단계 — 지금 워크플로우를 만드는 사람이 표준을 정합니다" 딱 한 문장용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C2410C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모든 링크·검색어는 수업 전날 접속·노출을 확인하세요. AI 결과는 시점·계정·지역에 따라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보조 시연 — 유튜브 · 무료 강좌 안내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207007"/>
            <a:ext cx="5419191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207007"/>
            <a:ext cx="64008" cy="52120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유튜브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5958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심화 학습 채널 소개 (5분)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1755647"/>
            <a:ext cx="5035143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링크1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HubSpot Academy — academy.hubspot.com (AI for Marketers 무료 강좌)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링크2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DeepLearning.AI — deeplearning.ai (Generative AI for Everyone)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용도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수업 후 자습 경로 제시 — 화면에 띄우고 북마크 유도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타이밍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100~120분 개인 설계 실습 안내 직전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5575" y="1207007"/>
            <a:ext cx="5419191" cy="5212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5575" y="1207007"/>
            <a:ext cx="64008" cy="5212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5031" y="1353311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5031" y="1364283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사이트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4605" y="1335023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로컬 AI 맛보기 (선택, 여유 시간)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5031" y="1755647"/>
            <a:ext cx="5035143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링크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ollama.com / lmstudio.ai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용도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"외부로 못 보내는 데이터는 이런 로컬 도구로" — 존재만 소개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주의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설치 시연까지 하면 시간 초과 — 화면 투어 2분 한도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1" i="0">
                <a:solidFill>
                  <a:srgbClr val="C2410C"/>
                </a:solidFill>
                <a:latin typeface="맑은 고딕"/>
                <a:ea typeface="맑은 고딕"/>
              </a:rPr>
              <a:t>연결 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보안 판단 기준 표와 함께 설명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시연 백업 플랜 — 라이브가 실패할 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AI 시연은 반드시 실패를 전제로 준비합니다. 실패 자체가 최고의 교육 소재입니다.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99616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5958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수업 전날 스크린샷 세트 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모든 라이브 시연의 결과 화면을 전날 캡처해 슬라이드 뒤에 붙여둔다.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캡처에는 날짜·도구·질문이 함께 보이게 찍는다.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네트워크/로그인 장애 시 즉시 스크린샷으로 전환.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499616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499616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645920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656892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4605" y="1627632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결과가 어제와 다르게 나올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2048256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당황하지 말고 그대로 교육 포인트로 전환: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"보세요, 어제는 이렇게 나왔는데 오늘은 다릅니다."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"이래서 AI 검색은 1회 확인이 아니라 반복 측정이 필요합니다."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069080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6384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5958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AI Overviews가 안 뜰 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지역·계정·언어에 따라 미노출이 정상임을 설명.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영어 질문으로 재시도 → 그래도 없으면 준비한 캡처 사용.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"안 뜨는 것 자체가 '노출은 통제 밖'이라는 증거"로 연결.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5575" y="4069080"/>
            <a:ext cx="5419191" cy="2350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05575" y="4069080"/>
            <a:ext cx="64008" cy="2350008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25031" y="4215384"/>
            <a:ext cx="581558" cy="274320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5031" y="4226356"/>
            <a:ext cx="58155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 spc="20">
                <a:solidFill>
                  <a:srgbClr val="FFFFFF"/>
                </a:solidFill>
                <a:latin typeface="맑은 고딕"/>
                <a:ea typeface="맑은 고딕"/>
              </a:rPr>
              <a:t>백업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4605" y="4197096"/>
            <a:ext cx="433471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111927"/>
                </a:solidFill>
                <a:latin typeface="맑은 고딕"/>
                <a:ea typeface="맑은 고딕"/>
              </a:rPr>
              <a:t>수강생 브랜드가 아예 안 나올 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5031" y="4617720"/>
            <a:ext cx="5035143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"언급 0회도 소중한 데이터"라고 먼저 프레이밍.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잘 나오는 공개 브랜드(무신사, 배민 등)로 대조 시연.</a:t>
            </a:r>
          </a:p>
          <a:p>
            <a:pPr algn="l">
              <a:lnSpc>
                <a:spcPct val="118000"/>
              </a:lnSpc>
              <a:spcAft>
                <a:spcPts val="350"/>
              </a:spcAft>
            </a:pPr>
            <a:r>
              <a:rPr sz="1150" b="0" i="0">
                <a:solidFill>
                  <a:srgbClr val="9AA4B2"/>
                </a:solidFill>
                <a:latin typeface="맑은 고딕"/>
                <a:ea typeface="맑은 고딕"/>
              </a:rPr>
              <a:t>·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차이의 원인(콘텐츠·리뷰·언론 량)을 토론으로 유도.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미션 배포문 — 이대로 공유 시트에 게시하세요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미션: 반복 업무 1개를 AI 워크플로우로 전환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99616"/>
            <a:ext cx="11057839" cy="4407408"/>
          </a:xfrm>
          <a:prstGeom prst="roundRect">
            <a:avLst>
              <a:gd name="adj" fmla="val 2500"/>
            </a:avLst>
          </a:prstGeom>
          <a:solidFill>
            <a:srgbClr val="0E1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499616"/>
            <a:ext cx="11057839" cy="329184"/>
          </a:xfrm>
          <a:prstGeom prst="roundRect">
            <a:avLst>
              <a:gd name="adj" fmla="val 250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664208"/>
            <a:ext cx="11057839" cy="164592"/>
          </a:xfrm>
          <a:prstGeom prst="rect">
            <a:avLst/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1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1618488"/>
            <a:ext cx="91440" cy="9144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328" y="1499616"/>
            <a:ext cx="99605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C8AA5"/>
                </a:solidFill>
                <a:latin typeface="맑은 고딕"/>
                <a:ea typeface="맑은 고딕"/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1975104"/>
            <a:ext cx="10436047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[5회차 미션] 내 업무 자동화 워크플로우 1호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1. 매주 반복하는 업무 1개를 고른다.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(예: 주간 리포트, 소셜 기획, 경쟁사 모니터링, 리뷰 답변)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2. 업무를 4~6단계로 쪼개고 단계 설계표를 만든다: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단계 / 입력 / 담당(AI or 사람) / 프롬프트 / 검수 포인트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3. AI 담당 단계의 프롬프트를 실제로 작성한다.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- 수업의 3개 워크플로우 프롬프트를 변형해도 좋다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4. 실제로 1회 실행하고 증거를 남긴다: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- 결과물 캡처 + 기존 방식 대비 소요 시간 비교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7DD3FC"/>
                </a:solidFill>
                <a:latin typeface="Consolas"/>
                <a:ea typeface="맑은 고딕"/>
              </a:rPr>
              <a:t>5. '실패 기록'도 함께 제출한다: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  - AI가 못 미더웠던 지점, 사람 검수에서 걸러낸 것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제출: 다음 수업 전날 23:59까지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9F0"/>
                </a:solidFill>
                <a:latin typeface="Consolas"/>
                <a:ea typeface="맑은 고딕"/>
              </a:rPr>
              <a:t>형식: 단계 설계표 1장 + 프롬프트 전문 + 실행 증거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6035040"/>
            <a:ext cx="11057839" cy="420624"/>
          </a:xfrm>
          <a:prstGeom prst="roundRect">
            <a:avLst>
              <a:gd name="adj" fmla="val 22000"/>
            </a:avLst>
          </a:prstGeom>
          <a:solidFill>
            <a:srgbClr val="FB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6035040"/>
            <a:ext cx="68580" cy="42062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6035040"/>
            <a:ext cx="1067379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50">
                <a:solidFill>
                  <a:srgbClr val="C2410C"/>
                </a:solidFill>
                <a:latin typeface="맑은 고딕"/>
                <a:ea typeface="맑은 고딕"/>
              </a:rPr>
              <a:t>TIP   </a:t>
            </a:r>
            <a:r>
              <a:rPr sz="1100" b="0" i="0">
                <a:solidFill>
                  <a:srgbClr val="374151"/>
                </a:solidFill>
                <a:latin typeface="맑은 고딕"/>
                <a:ea typeface="맑은 고딕"/>
              </a:rPr>
              <a:t>강조할 것: 화려한 자동화보다 '검수 포인트가 명확한' 설계가 고득점. 민감 데이터를 넣은 흔적이 보이면 반드시 개별 피드백.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미션 평가 루브릭 — 피드백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93268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7280"/>
                </a:solidFill>
                <a:latin typeface="맑은 고딕"/>
                <a:ea typeface="맑은 고딕"/>
              </a:rPr>
              <a:t>점수화가 목적이 아니라, 다음 주 첫 15분 과제 리뷰에서 '무엇을 칭찬하고 무엇을 교정할지' 기준입니다.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499616"/>
          <a:ext cx="11057837" cy="215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9129"/>
                <a:gridCol w="822483"/>
                <a:gridCol w="4203806"/>
                <a:gridCol w="4112419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항목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배점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우수 (이렇게 하면 칭찬)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미흡 (이렇게 오면 교정)</a:t>
                      </a:r>
                    </a:p>
                  </a:txBody>
                  <a:tcPr anchor="ctr" marL="100584" marR="91440" marT="41148" marB="41148">
                    <a:solidFill>
                      <a:srgbClr val="C2410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단계 설계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30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입력·담당·검수가 단계마다 명시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"AI한테 시킨다" 한 줄 요약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프롬프트 품질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역할·목표·형식이 있는 재사용 가능한 프롬프트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일회성 명령문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실행 증거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25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실제 1회 실행 + 시간 비교 수치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설계만 있고 미실행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실패 기록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AI 한계·검수 필요 지점을 구체 기록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"다 잘됐다"로 종료</a:t>
                      </a:r>
                    </a:p>
                  </a:txBody>
                  <a:tcPr anchor="ctr" marL="100584" marR="91440" marT="41148" marB="41148">
                    <a:solidFill>
                      <a:srgbClr val="FBED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1" i="0">
                          <a:solidFill>
                            <a:srgbClr val="111927"/>
                          </a:solidFill>
                          <a:latin typeface="맑은 고딕"/>
                          <a:ea typeface="맑은 고딕"/>
                        </a:rPr>
                        <a:t>보안 준수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민감 데이터 미포함, 가상/비식별 데이터 사용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100" b="0" i="0">
                          <a:solidFill>
                            <a:srgbClr val="374151"/>
                          </a:solidFill>
                          <a:latin typeface="맑은 고딕"/>
                          <a:ea typeface="맑은 고딕"/>
                        </a:rPr>
                        <a:t>고객 실데이터 붙여넣기</a:t>
                      </a:r>
                    </a:p>
                  </a:txBody>
                  <a:tcPr anchor="ctr" marL="100584" marR="91440" marT="41148" marB="4114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토론 유도 질문 &amp; 예상 질문 대응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207007"/>
            <a:ext cx="5400903" cy="5120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207007"/>
            <a:ext cx="5400903" cy="493776"/>
          </a:xfrm>
          <a:prstGeom prst="roundRect">
            <a:avLst>
              <a:gd name="adj" fmla="val 45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53895"/>
            <a:ext cx="5400903" cy="24688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207007"/>
            <a:ext cx="499856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수업 중 던질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865375"/>
            <a:ext cx="4961991" cy="429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"여러분 업무 중 '입력과 출력의 규칙이 명확한 일'은 몇 %인가요?"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"AI 초안에서 사람이 반드시 잡아야 하는 것 3가지는?"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사실 오류, 법적 표현, 브랜드 톤으로 수렴시키기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"절약된 시간을 어디에 재투자하실 건가요?"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207007"/>
            <a:ext cx="5400903" cy="5120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1207007"/>
            <a:ext cx="5400903" cy="493776"/>
          </a:xfrm>
          <a:prstGeom prst="roundRect">
            <a:avLst>
              <a:gd name="adj" fmla="val 4500"/>
            </a:avLst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3863" y="1453895"/>
            <a:ext cx="5400903" cy="246888"/>
          </a:xfrm>
          <a:prstGeom prst="rect">
            <a:avLst/>
          </a:prstGeom>
          <a:solidFill>
            <a:srgbClr val="9A3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5031" y="1207007"/>
            <a:ext cx="499856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  <a:ea typeface="맑은 고딕"/>
              </a:rPr>
              <a:t>예상 질문과 답변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3319" y="1865375"/>
            <a:ext cx="4961991" cy="4297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9A3412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"회사가 AI 사용을 막아요"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"금지의 대부분은 데이터 유출 우려입니다. 공개 데이터 실습으로 시작하고, 보안 기준표를 만들어 역제안하세요"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9A3412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"어떤 유료 플랜을 사야 하나요?"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"업무 1개를 무료로 워크플로우화해본 뒤, 병목이 생기는 도구만 유료 전환이 순서입니다"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sz="700" b="0" i="0">
                <a:solidFill>
                  <a:srgbClr val="9A3412"/>
                </a:solidFill>
                <a:latin typeface="맑은 고딕"/>
                <a:ea typeface="맑은 고딕"/>
              </a:rPr>
              <a:t>■  </a:t>
            </a:r>
            <a:r>
              <a:rPr sz="1300" b="0" i="0">
                <a:solidFill>
                  <a:srgbClr val="111927"/>
                </a:solidFill>
                <a:latin typeface="맑은 고딕"/>
                <a:ea typeface="맑은 고딕"/>
              </a:rPr>
              <a:t>"MCP는 개발자 없이 가능한가요?"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0" i="0">
                <a:solidFill>
                  <a:srgbClr val="9AA4B2"/>
                </a:solidFill>
                <a:latin typeface="맑은 고딕"/>
                <a:ea typeface="맑은 고딕"/>
              </a:rPr>
              <a:t>      – </a:t>
            </a:r>
            <a:r>
              <a:rPr sz="1150" b="0" i="0">
                <a:solidFill>
                  <a:srgbClr val="374151"/>
                </a:solidFill>
                <a:latin typeface="맑은 고딕"/>
                <a:ea typeface="맑은 고딕"/>
              </a:rPr>
              <a:t>→ "직접 구축은 어렵지만 기성 커넥터(Drive·Notion·Slack)는 설정만으로 가능합니다"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82296" cy="4572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384048"/>
            <a:ext cx="91440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 i="0">
                <a:solidFill>
                  <a:srgbClr val="111927"/>
                </a:solidFill>
                <a:latin typeface="맑은 고딕"/>
                <a:ea typeface="맑은 고딕"/>
              </a:rPr>
              <a:t>수업 전 준비 체크리스트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42955" y="475488"/>
            <a:ext cx="781812" cy="27432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42955" y="486460"/>
            <a:ext cx="78181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100" b="1" i="0" spc="20">
                <a:solidFill>
                  <a:srgbClr val="FFFFFF"/>
                </a:solidFill>
                <a:latin typeface="맑은 고딕"/>
                <a:ea typeface="맑은 고딕"/>
              </a:rPr>
              <a:t>강사용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547104"/>
            <a:ext cx="182880" cy="25603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446520"/>
            <a:ext cx="110578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9AA4B2"/>
                </a:solidFill>
                <a:latin typeface="맑은 고딕"/>
                <a:ea typeface="맑은 고딕"/>
              </a:rPr>
              <a:t>[강사용] AI 시대 마케팅, 누가 살아남을까? — 6주 실무 스터디   |   5회차 · 실무 AI 마케팅 워크플로우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225295"/>
            <a:ext cx="10607040" cy="47091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시연 (이번 회차는 사전 준비가 가장 많습니다)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Deep Research 사전 실행 완료 (최소 수업 3시간 전) — 실패 대비 결과 PDF 저장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성과 해석용 가상 데이터 표 준비 ('순위 유지+클릭 하락' 패턴 포함)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브리프→검수 교차 시연용 제품/서비스 1개 선정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자료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워크플로우 프롬프트 3종 복사용 텍스트 배포 준비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단계 설계표 양식(시트) 배포 준비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500"/>
              </a:spcAft>
            </a:pPr>
            <a:r>
              <a:rPr sz="950" b="0" i="0">
                <a:solidFill>
                  <a:srgbClr val="C2410C"/>
                </a:solidFill>
                <a:latin typeface="맑은 고딕"/>
                <a:ea typeface="맑은 고딕"/>
              </a:rPr>
              <a:t>■  </a:t>
            </a:r>
            <a:r>
              <a:rPr sz="1550" b="1" i="0">
                <a:solidFill>
                  <a:srgbClr val="111927"/>
                </a:solidFill>
                <a:latin typeface="맑은 고딕"/>
                <a:ea typeface="맑은 고딕"/>
              </a:rPr>
              <a:t>과제 리뷰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50" b="0" i="0">
                <a:solidFill>
                  <a:srgbClr val="9AA4B2"/>
                </a:solidFill>
                <a:latin typeface="맑은 고딕"/>
                <a:ea typeface="맑은 고딕"/>
              </a:rPr>
              <a:t>      –  </a:t>
            </a:r>
            <a:r>
              <a:rPr sz="1300" b="0" i="0">
                <a:solidFill>
                  <a:srgbClr val="374151"/>
                </a:solidFill>
                <a:latin typeface="맑은 고딕"/>
                <a:ea typeface="맑은 고딕"/>
              </a:rPr>
              <a:t>4회차 재테스트 로그 중 '프로토콜을 잘 지킨' 사례 선정 (변화 유무 무관)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