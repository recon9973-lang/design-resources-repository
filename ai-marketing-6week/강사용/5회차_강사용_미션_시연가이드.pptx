
<file path=[Content_Types].xml><?xml version="1.0" encoding="utf-8"?>
<Types xmlns="http://schemas.openxmlformats.org/package/2006/content-types">
  <Default Extension="bin" ContentType="application/vnd.openxmlformats-officedocument.presentationml.printerSettings"/>
  <Default Extension="jpeg" ContentType="image/jpe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2.xml" ContentType="application/vnd.openxmlformats-officedocument.presentationml.slide+xml"/>
  <Override PartName="/ppt/slides/slide3.xml" ContentType="application/vnd.openxmlformats-officedocument.presentationml.slide+xml"/>
  <Override PartName="/ppt/slides/slide4.xml" ContentType="application/vnd.openxmlformats-officedocument.presentationml.slide+xml"/>
  <Override PartName="/ppt/slides/slide5.xml" ContentType="application/vnd.openxmlformats-officedocument.presentationml.slide+xml"/>
  <Override PartName="/ppt/slides/slide6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'1.0' encoding='UTF-8' standalone='yes'?>
<Relationships xmlns="http://schemas.openxmlformats.org/package/2006/relationships"><Relationship Id="rId1" Type="http://schemas.openxmlformats.org/officeDocument/2006/relationships/officeDocument" Target="ppt/presentation.xml"/><Relationship Id="rId2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4" Type="http://schemas.openxmlformats.org/officeDocument/2006/relationships/extended-properties" Target="docProps/app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 autoCompressPictures="0">
  <p:sldMasterIdLst>
    <p:sldMasterId id="2147483648" r:id="rId1"/>
  </p:sldMasterIdLst>
  <p:sldIdLst>
    <p:sldId id="256" r:id="rId7"/>
    <p:sldId id="257" r:id="rId8"/>
    <p:sldId id="258" r:id="rId9"/>
    <p:sldId id="259" r:id="rId10"/>
    <p:sldId id="260" r:id="rId11"/>
    <p:sldId id="261" r:id="rId12"/>
    <p:sldId id="262" r:id="rId13"/>
    <p:sldId id="263" r:id="rId14"/>
    <p:sldId id="264" r:id="rId15"/>
  </p:sldIdLst>
  <p:sldSz cx="12191695" cy="6858000" type="screen4x3"/>
  <p:notesSz cx="6858000" cy="9144000"/>
  <p:defaultTextStyle>
    <a:defPPr>
      <a:defRPr lang="en-US"/>
    </a:defPPr>
    <a:lvl1pPr marL="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4572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/>
    <p:restoredTop sz="94660"/>
  </p:normalViewPr>
  <p:slideViewPr>
    <p:cSldViewPr snapToGrid="0" snapToObjects="1">
      <p:cViewPr varScale="1">
        <p:scale>
          <a:sx n="124" d="100"/>
          <a:sy n="124" d="100"/>
        </p:scale>
        <p:origin x="-1512" y="-112"/>
      </p:cViewPr>
      <p:guideLst>
        <p:guide orient="horz" pos="2160"/>
        <p:guide pos="2880"/>
      </p:guideLst>
    </p:cSldViewPr>
  </p:slid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'1.0' encoding='UTF-8' standalone='yes'?>
<Relationships xmlns="http://schemas.openxmlformats.org/package/2006/relationships"><Relationship Id="rId1" Type="http://schemas.openxmlformats.org/officeDocument/2006/relationships/slideMaster" Target="slideMasters/slideMaster1.xml"/><Relationship Id="rId2" Type="http://schemas.openxmlformats.org/officeDocument/2006/relationships/printerSettings" Target="printerSettings/printerSettings1.bin"/><Relationship Id="rId3" Type="http://schemas.openxmlformats.org/officeDocument/2006/relationships/presProps" Target="presProps.xml"/><Relationship Id="rId4" Type="http://schemas.openxmlformats.org/officeDocument/2006/relationships/viewProps" Target="viewProps.xml"/><Relationship Id="rId5" Type="http://schemas.openxmlformats.org/officeDocument/2006/relationships/theme" Target="theme/theme1.xml"/><Relationship Id="rId6" Type="http://schemas.openxmlformats.org/officeDocument/2006/relationships/tableStyles" Target="tableStyles.xml"/><Relationship Id="rId7" Type="http://schemas.openxmlformats.org/officeDocument/2006/relationships/slide" Target="slides/slide1.xml"/><Relationship Id="rId8" Type="http://schemas.openxmlformats.org/officeDocument/2006/relationships/slide" Target="slides/slide2.xml"/><Relationship Id="rId9" Type="http://schemas.openxmlformats.org/officeDocument/2006/relationships/slide" Target="slides/slide3.xml"/><Relationship Id="rId10" Type="http://schemas.openxmlformats.org/officeDocument/2006/relationships/slide" Target="slides/slide4.xml"/><Relationship Id="rId11" Type="http://schemas.openxmlformats.org/officeDocument/2006/relationships/slide" Target="slides/slide5.xml"/><Relationship Id="rId12" Type="http://schemas.openxmlformats.org/officeDocument/2006/relationships/slide" Target="slides/slide6.xml"/><Relationship Id="rId13" Type="http://schemas.openxmlformats.org/officeDocument/2006/relationships/slide" Target="slides/slide7.xml"/><Relationship Id="rId14" Type="http://schemas.openxmlformats.org/officeDocument/2006/relationships/slide" Target="slides/slide8.xml"/><Relationship Id="rId15" Type="http://schemas.openxmlformats.org/officeDocument/2006/relationships/slide" Target="slides/slide9.xml"/></Relationships>
</file>

<file path=ppt/slideLayouts/_rels/slideLayout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'1.0' encoding='UTF-8' standalone='yes'?>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168075583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614314258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6064837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782244947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990158736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727027711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212999818"/>
      </p:ext>
    </p:extLst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1840726560"/>
      </p:ext>
    </p:extLst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889236939"/>
      </p:ext>
    </p:extLst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910927964"/>
      </p:ext>
    </p:extLst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3612223792"/>
      </p:ext>
    </p:extLst>
  </p:cSld>
  <p:clrMapOvr>
    <a:masterClrMapping/>
  </p:clrMapOvr>
</p:sldLayout>
</file>

<file path=ppt/slideMasters/_rels/slideMaster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Relationship Id="rId9" Type="http://schemas.openxmlformats.org/officeDocument/2006/relationships/slideLayout" Target="../slideLayouts/slideLayout9.xml"/><Relationship Id="rId10" Type="http://schemas.openxmlformats.org/officeDocument/2006/relationships/slideLayout" Target="../slideLayouts/slideLayout10.xml"/><Relationship Id="rId11" Type="http://schemas.openxmlformats.org/officeDocument/2006/relationships/slideLayout" Target="../slideLayouts/slideLayout11.xml"/><Relationship Id="rId12" Type="http://schemas.openxmlformats.org/officeDocument/2006/relationships/theme" Target="../theme/theme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5BCAD085-E8A6-8845-BD4E-CB4CCA059FC4}" type="datetimeFigureOut">
              <a:rPr lang="en-US" smtClean="0"/>
              <a:t>1/27/13</a:t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C1FF6DA9-008F-8B48-92A6-B652298478BF}" type="slidenum">
              <a:rPr lang="en-US" smtClean="0"/>
              <a:t>‹#›</a:t>
            </a:fld>
            <a:endParaRPr lang="en-US"/>
          </a:p>
        </p:txBody>
      </p:sp>
    </p:spTree>
    <p:extLst>
      <p:ext uri="{BB962C8B-B14F-4D97-AF65-F5344CB8AC3E}">
        <p14:creationId xmlns:p14="http://schemas.microsoft.com/office/powerpoint/2010/main" val="2209977519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4572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457200" rtl="0" eaLnBrk="1" latinLnBrk="0" hangingPunct="1">
        <a:spcBef>
          <a:spcPct val="20000"/>
        </a:spcBef>
        <a:buFont typeface="Arial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457200" rtl="0" eaLnBrk="1" latinLnBrk="0" hangingPunct="1">
        <a:spcBef>
          <a:spcPct val="20000"/>
        </a:spcBef>
        <a:buFont typeface="Arial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457200" rtl="0" eaLnBrk="1" latinLnBrk="0" hangingPunct="1">
        <a:spcBef>
          <a:spcPct val="20000"/>
        </a:spcBef>
        <a:buFont typeface="Arial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457200" rtl="0" eaLnBrk="1" latinLnBrk="0" hangingPunct="1">
        <a:spcBef>
          <a:spcPct val="20000"/>
        </a:spcBef>
        <a:buFont typeface="Arial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457200" rtl="0" eaLnBrk="1" latinLnBrk="0" hangingPunct="1">
        <a:spcBef>
          <a:spcPct val="20000"/>
        </a:spcBef>
        <a:buFont typeface="Arial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457200" rtl="0" eaLnBrk="1" latinLnBrk="0" hangingPunct="1">
        <a:spcBef>
          <a:spcPct val="20000"/>
        </a:spcBef>
        <a:buFont typeface="Arial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4572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2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3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4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6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7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8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9.xml.rels><?xml version='1.0' encoding='UTF-8' standalone='yes'?>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slide1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0" y="0"/>
            <a:ext cx="12191695" cy="6858000"/>
          </a:xfrm>
          <a:prstGeom prst="rect">
            <a:avLst/>
          </a:prstGeom>
          <a:solidFill>
            <a:srgbClr val="292524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Rectangle 2"/>
          <p:cNvSpPr/>
          <p:nvPr/>
        </p:nvSpPr>
        <p:spPr>
          <a:xfrm>
            <a:off x="0" y="6729984"/>
            <a:ext cx="12191695" cy="128016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4" name="Rectangle 3"/>
          <p:cNvSpPr/>
          <p:nvPr/>
        </p:nvSpPr>
        <p:spPr>
          <a:xfrm>
            <a:off x="594360" y="1847088"/>
            <a:ext cx="566928" cy="68580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594360" y="2057400"/>
            <a:ext cx="1051560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600" b="1" i="0">
                <a:solidFill>
                  <a:srgbClr val="FCD34D"/>
                </a:solidFill>
                <a:latin typeface="맑은 고딕"/>
                <a:ea typeface="맑은 고딕"/>
              </a:rPr>
              <a:t>AI 시대 마케팅, 누가 살아남을까? — 6주 실무 스터디  |  5회차 강사 가이드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94360" y="2487168"/>
            <a:ext cx="10972800" cy="17373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08000"/>
              </a:lnSpc>
            </a:pPr>
            <a:r>
              <a:rPr sz="3800" b="1" i="0">
                <a:solidFill>
                  <a:srgbClr val="FFFFFF"/>
                </a:solidFill>
                <a:latin typeface="맑은 고딕"/>
                <a:ea typeface="맑은 고딕"/>
              </a:rPr>
              <a:t>[강사용] 실무 AI 마케팅 워크플로우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94360" y="4160520"/>
            <a:ext cx="10607040" cy="10972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25000"/>
              </a:lnSpc>
            </a:pPr>
            <a:r>
              <a:rPr sz="1650" b="0" i="0">
                <a:solidFill>
                  <a:srgbClr val="CBD5E1"/>
                </a:solidFill>
                <a:latin typeface="맑은 고딕"/>
                <a:ea typeface="맑은 고딕"/>
              </a:rPr>
              <a:t>수업 운영 흐름 · 라이브 시연 시나리오 · 수강생 미션 · 평가 기준
핵심 질문: 리서치, 기획, 제작, 분석을 어떻게 자동화하나?</a:t>
            </a:r>
          </a:p>
        </p:txBody>
      </p:sp>
      <p:sp>
        <p:nvSpPr>
          <p:cNvPr id="8" name="TextBox 7"/>
          <p:cNvSpPr txBox="1"/>
          <p:nvPr/>
        </p:nvSpPr>
        <p:spPr>
          <a:xfrm>
            <a:off x="594360" y="5989320"/>
            <a:ext cx="10607040" cy="45720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150" b="0" i="0">
                <a:solidFill>
                  <a:srgbClr val="8DA2C0"/>
                </a:solidFill>
                <a:latin typeface="맑은 고딕"/>
                <a:ea typeface="맑은 고딕"/>
              </a:rPr>
              <a:t>이 문서는 강사 전용입니다. 수강생 배포 금지 · 기준일 2026-07-03 · 링크는 수업 전날 접속 확인</a:t>
            </a:r>
          </a:p>
        </p:txBody>
      </p:sp>
      <p:sp>
        <p:nvSpPr>
          <p:cNvPr id="9" name="Rounded Rectangle 8"/>
          <p:cNvSpPr/>
          <p:nvPr/>
        </p:nvSpPr>
        <p:spPr>
          <a:xfrm>
            <a:off x="10746943" y="502920"/>
            <a:ext cx="896112" cy="384048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10746943" y="502920"/>
            <a:ext cx="896112" cy="38404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30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운영 타임라인 × 시연 매핑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11094414" cy="2609088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283651"/>
                <a:gridCol w="4951226"/>
                <a:gridCol w="4859537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시간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내용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시연/활동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0~15분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GEO 재테스트 결과 공유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언급률 변화 사례 1~2건, '변화 없음' 사례도 의도적으로 소개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활용 원칙: 초안 AI·판단 사람·근거 데이터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D5 뉴스/리서치 인용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리서치 워크플로우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D1 라이브 시연 (Deep Research — 사전 실행분)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콘텐츠 워크플로우: 브리프→초안→검수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D2 라이브 시연 (브리프 생성 + 교차 검수)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75~100분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캠페인 워크플로우: 성과 해석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D3 라이브 시연 (성과 해석 프롬프트)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100~120분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개인별 자동화 설계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D4 사이트 (MCP 소개) 후 개별 설계 실습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3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시연 시나리오 D1~D5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7" name="Table 6"/>
          <p:cNvGraphicFramePr>
            <a:graphicFrameLocks noGrp="1"/>
          </p:cNvGraphicFramePr>
          <p:nvPr/>
        </p:nvGraphicFramePr>
        <p:xfrm>
          <a:off x="548640" y="1188720"/>
          <a:ext cx="11094412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331329"/>
                <a:gridCol w="1065063"/>
                <a:gridCol w="2662659"/>
                <a:gridCol w="2928925"/>
                <a:gridCol w="3106436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수업 시점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유형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무엇을 보여주나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링크 / 검색어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시연 포인트 (이 말을 하세요)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D1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35~55분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라이브 시연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Deep Research 결과 열람 (사전 실행 필수)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ChatGPT Deep Research 또는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Gemini Deep Research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주제 예: "국내 D2C 뷰티 시장 콘텐츠 트렌드"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실행에 수십 분 걸리므로 반드시 수업 전 완료해둘 것. 결과의 출처 목록을 보여주며 "리서치의 끝은 출처 원문 검증"을 시연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D2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55~75분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라이브 시연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브리프 생성 → 교차 검수 (핵심 시연)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① ChatGPT에 브리프 프롬프트 실행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② 산출물을 Claude에 넣어 검수 프롬프트 실행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"초안 쓴 AI와 검수 AI를 분리하면 편향이 줄어듭니다." 검수 AI가 초안의 과장을 잡아내는 순간이 하이라이트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D3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75~100분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라이브 시연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성과 해석 프롬프트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가상의 월간 데이터(노출·클릭·CTR·전환)를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표로 준비해 붙여넣기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"순위 유지+클릭 하락" 패턴을 심어두고, AI가 'AI 답변/SERP 문제'로 구분해내는지 확인 — 실제 데이터 사용 금지(보안 원칙 시연 겸)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D4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100~120분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사이트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MCP 개념 소개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modelcontextprotocol.io/introduction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(화면 1분)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"프롬프트의 다음 단계는 연결입니다. 단, 민감 데이터는 체계 먼저." 깊이 들어가지 말 것 — 개념만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D5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15~35분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뉴스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시장 근거 제시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McKinsey "The State of AI" 페이지</a:t>
                      </a:r>
                    </a:p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+ Microsoft Work Trend Index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05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"대부분 조직이 아직 파일럿 단계 — 지금 워크플로우를 만드는 사람이 표준을 정합니다" 딱 한 문장용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4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보조 시연 — 유튜브 · 무료 강좌 안내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88720"/>
            <a:ext cx="5446623" cy="5212080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713232" y="1316736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DC262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713232" y="1330452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유튜브</a:t>
            </a:r>
          </a:p>
        </p:txBody>
      </p:sp>
      <p:sp>
        <p:nvSpPr>
          <p:cNvPr id="10" name="TextBox 9"/>
          <p:cNvSpPr txBox="1"/>
          <p:nvPr/>
        </p:nvSpPr>
        <p:spPr>
          <a:xfrm>
            <a:off x="1412748" y="1303020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심화 학습 채널 소개 (5분)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13232" y="1700784"/>
            <a:ext cx="5117439" cy="462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링크1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HubSpot Academy — academy.hubspot.com (AI for Marketers 무료 강좌)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링크2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DeepLearning.AI — deeplearning.ai (Generative AI for Everyone)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용도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수업 후 자습 경로 제시 — 화면에 띄우고 북마크 유도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타이밍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100~120분 개인 설계 실습 안내 직전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196431" y="1188720"/>
            <a:ext cx="5446623" cy="5212080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361023" y="1316736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05966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TextBox 13"/>
          <p:cNvSpPr txBox="1"/>
          <p:nvPr/>
        </p:nvSpPr>
        <p:spPr>
          <a:xfrm>
            <a:off x="6361023" y="1330452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사이트</a:t>
            </a:r>
          </a:p>
        </p:txBody>
      </p:sp>
      <p:sp>
        <p:nvSpPr>
          <p:cNvPr id="15" name="TextBox 14"/>
          <p:cNvSpPr txBox="1"/>
          <p:nvPr/>
        </p:nvSpPr>
        <p:spPr>
          <a:xfrm>
            <a:off x="7060539" y="1303020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로컬 AI 맛보기 (선택, 여유 시간)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361023" y="1700784"/>
            <a:ext cx="5117439" cy="4626864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링크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ollama.com / lmstudio.ai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용도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"외부로 못 보내는 데이터는 이런 로컬 도구로" — 존재만 소개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주의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설치 시연까지 하면 시간 초과 — 화면 투어 2분 한도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1" i="0">
                <a:solidFill>
                  <a:srgbClr val="D97706"/>
                </a:solidFill>
                <a:latin typeface="맑은 고딕"/>
                <a:ea typeface="맑은 고딕"/>
              </a:rPr>
              <a:t>연결 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보안 판단 기준 표와 함께 설명</a:t>
            </a:r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시연 백업 플랜 — 라이브가 실패할 때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AI 시연은 반드시 실패를 전제로 준비합니다. 실패 자체가 최고의 교육 소재입니다.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ounded Rectangle 8"/>
          <p:cNvSpPr/>
          <p:nvPr/>
        </p:nvSpPr>
        <p:spPr>
          <a:xfrm>
            <a:off x="713232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13232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1412748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수업 전날 스크린샷 세트 준비</a:t>
            </a:r>
          </a:p>
        </p:txBody>
      </p:sp>
      <p:sp>
        <p:nvSpPr>
          <p:cNvPr id="12" name="TextBox 11"/>
          <p:cNvSpPr txBox="1"/>
          <p:nvPr/>
        </p:nvSpPr>
        <p:spPr>
          <a:xfrm>
            <a:off x="713232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모든 라이브 시연의 결과 화면을 전날 캡처해 슬라이드 뒤에 붙여둔다.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캡처에는 날짜·도구·질문이 함께 보이게 찍는다.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네트워크/로그인 장애 시 즉시 스크린샷으로 전환.</a:t>
            </a:r>
          </a:p>
        </p:txBody>
      </p:sp>
      <p:sp>
        <p:nvSpPr>
          <p:cNvPr id="13" name="Rounded Rectangle 12"/>
          <p:cNvSpPr/>
          <p:nvPr/>
        </p:nvSpPr>
        <p:spPr>
          <a:xfrm>
            <a:off x="6196431" y="1517904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ounded Rectangle 13"/>
          <p:cNvSpPr/>
          <p:nvPr/>
        </p:nvSpPr>
        <p:spPr>
          <a:xfrm>
            <a:off x="6361023" y="1645920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61023" y="1659636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7060539" y="1632204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결과가 어제와 다르게 나올 때</a:t>
            </a:r>
          </a:p>
        </p:txBody>
      </p:sp>
      <p:sp>
        <p:nvSpPr>
          <p:cNvPr id="17" name="TextBox 16"/>
          <p:cNvSpPr txBox="1"/>
          <p:nvPr/>
        </p:nvSpPr>
        <p:spPr>
          <a:xfrm>
            <a:off x="6361023" y="2029968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당황하지 말고 그대로 교육 포인트로 전환: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"보세요, 어제는 이렇게 나왔는데 오늘은 다릅니다."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"이래서 AI 검색은 1회 확인이 아니라 반복 측정이 필요합니다."</a:t>
            </a:r>
          </a:p>
        </p:txBody>
      </p:sp>
      <p:sp>
        <p:nvSpPr>
          <p:cNvPr id="18" name="Rounded Rectangle 17"/>
          <p:cNvSpPr/>
          <p:nvPr/>
        </p:nvSpPr>
        <p:spPr>
          <a:xfrm>
            <a:off x="548640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9" name="Rounded Rectangle 18"/>
          <p:cNvSpPr/>
          <p:nvPr/>
        </p:nvSpPr>
        <p:spPr>
          <a:xfrm>
            <a:off x="713232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0" name="TextBox 19"/>
          <p:cNvSpPr txBox="1"/>
          <p:nvPr/>
        </p:nvSpPr>
        <p:spPr>
          <a:xfrm>
            <a:off x="713232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1" name="TextBox 20"/>
          <p:cNvSpPr txBox="1"/>
          <p:nvPr/>
        </p:nvSpPr>
        <p:spPr>
          <a:xfrm>
            <a:off x="1412748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AI Overviews가 안 뜰 때</a:t>
            </a:r>
          </a:p>
        </p:txBody>
      </p:sp>
      <p:sp>
        <p:nvSpPr>
          <p:cNvPr id="22" name="TextBox 21"/>
          <p:cNvSpPr txBox="1"/>
          <p:nvPr/>
        </p:nvSpPr>
        <p:spPr>
          <a:xfrm>
            <a:off x="713232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지역·계정·언어에 따라 미노출이 정상임을 설명.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영어 질문으로 재시도 → 그래도 없으면 준비한 캡처 사용.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"안 뜨는 것 자체가 '노출은 통제 밖'이라는 증거"로 연결.</a:t>
            </a:r>
          </a:p>
        </p:txBody>
      </p:sp>
      <p:sp>
        <p:nvSpPr>
          <p:cNvPr id="23" name="Rounded Rectangle 22"/>
          <p:cNvSpPr/>
          <p:nvPr/>
        </p:nvSpPr>
        <p:spPr>
          <a:xfrm>
            <a:off x="6196431" y="4059936"/>
            <a:ext cx="5446623" cy="2340864"/>
          </a:xfrm>
          <a:prstGeom prst="roundRect">
            <a:avLst>
              <a:gd name="adj" fmla="val 55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4" name="Rounded Rectangle 23"/>
          <p:cNvSpPr/>
          <p:nvPr/>
        </p:nvSpPr>
        <p:spPr>
          <a:xfrm>
            <a:off x="6361023" y="4187952"/>
            <a:ext cx="571500" cy="274320"/>
          </a:xfrm>
          <a:prstGeom prst="roundRect">
            <a:avLst>
              <a:gd name="adj" fmla="val 50000"/>
            </a:avLst>
          </a:prstGeom>
          <a:solidFill>
            <a:srgbClr val="64748B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25" name="TextBox 24"/>
          <p:cNvSpPr txBox="1"/>
          <p:nvPr/>
        </p:nvSpPr>
        <p:spPr>
          <a:xfrm>
            <a:off x="6361023" y="4201668"/>
            <a:ext cx="57150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백업</a:t>
            </a:r>
          </a:p>
        </p:txBody>
      </p:sp>
      <p:sp>
        <p:nvSpPr>
          <p:cNvPr id="26" name="TextBox 25"/>
          <p:cNvSpPr txBox="1"/>
          <p:nvPr/>
        </p:nvSpPr>
        <p:spPr>
          <a:xfrm>
            <a:off x="7060539" y="4174236"/>
            <a:ext cx="4417923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450" b="1" i="0">
                <a:solidFill>
                  <a:srgbClr val="292524"/>
                </a:solidFill>
                <a:latin typeface="맑은 고딕"/>
                <a:ea typeface="맑은 고딕"/>
              </a:rPr>
              <a:t>수강생 브랜드가 아예 안 나올 때</a:t>
            </a:r>
          </a:p>
        </p:txBody>
      </p:sp>
      <p:sp>
        <p:nvSpPr>
          <p:cNvPr id="27" name="TextBox 26"/>
          <p:cNvSpPr txBox="1"/>
          <p:nvPr/>
        </p:nvSpPr>
        <p:spPr>
          <a:xfrm>
            <a:off x="6361023" y="4572000"/>
            <a:ext cx="5117439" cy="1755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"언급 0회도 소중한 데이터"라고 먼저 프레이밍.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잘 나오는 공개 브랜드(무신사, 배민 등)로 대조 시연.</a:t>
            </a:r>
          </a:p>
          <a:p>
            <a:pPr algn="l">
              <a:lnSpc>
                <a:spcPct val="114000"/>
              </a:lnSpc>
              <a:spcAft>
                <a:spcPts val="300"/>
              </a:spcAft>
            </a:pPr>
            <a:r>
              <a:rPr sz="1150" b="0" i="0">
                <a:solidFill>
                  <a:srgbClr val="9CA3AF"/>
                </a:solidFill>
                <a:latin typeface="맑은 고딕"/>
                <a:ea typeface="맑은 고딕"/>
              </a:rPr>
              <a:t>· </a:t>
            </a:r>
            <a:r>
              <a:rPr sz="1150" b="0" i="0">
                <a:solidFill>
                  <a:srgbClr val="374151"/>
                </a:solidFill>
                <a:latin typeface="맑은 고딕"/>
                <a:ea typeface="맑은 고딕"/>
              </a:rPr>
              <a:t>차이의 원인(콘텐츠·리뷰·언론 량)을 토론으로 유도.</a:t>
            </a:r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미션 배포문 — 이대로 공유 시트에 게시하세요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미션: 반복 업무 1개를 AI 워크플로우로 전환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8" name="Rounded Rectangle 7"/>
          <p:cNvSpPr/>
          <p:nvPr/>
        </p:nvSpPr>
        <p:spPr>
          <a:xfrm>
            <a:off x="548640" y="1499616"/>
            <a:ext cx="11094415" cy="4443984"/>
          </a:xfrm>
          <a:prstGeom prst="roundRect">
            <a:avLst>
              <a:gd name="adj" fmla="val 3000"/>
            </a:avLst>
          </a:prstGeom>
          <a:solidFill>
            <a:srgbClr val="0F172A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TextBox 8"/>
          <p:cNvSpPr txBox="1"/>
          <p:nvPr/>
        </p:nvSpPr>
        <p:spPr>
          <a:xfrm>
            <a:off x="822960" y="1700784"/>
            <a:ext cx="10545775" cy="404164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[5회차 미션] 내 업무 자동화 워크플로우 1호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1. 매주 반복하는 업무 1개를 고른다.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(예: 주간 리포트, 소셜 기획, 경쟁사 모니터링, 리뷰 답변)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2. 업무를 4~6단계로 쪼개고 단계 설계표를 만든다: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단계 / 입력 / 담당(AI or 사람) / 프롬프트 / 검수 포인트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3. AI 담당 단계의 프롬프트를 실제로 작성한다.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수업의 3개 워크플로우 프롬프트를 변형해도 좋다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4. 실제로 1회 실행하고 증거를 남긴다: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결과물 캡처 + 기존 방식 대비 소요 시간 비교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7DD3FC"/>
                </a:solidFill>
                <a:latin typeface="Consolas"/>
                <a:ea typeface="맑은 고딕"/>
              </a:rPr>
              <a:t>5. '실패 기록'도 함께 제출한다: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  - AI가 못 미더웠던 지점, 사람 검수에서 걸러낸 것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 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제출: 다음 수업 전날 23:59까지</a:t>
            </a:r>
          </a:p>
          <a:p>
            <a:pPr algn="l">
              <a:lnSpc>
                <a:spcPct val="112000"/>
              </a:lnSpc>
              <a:spcAft>
                <a:spcPts val="150"/>
              </a:spcAft>
            </a:pPr>
            <a:r>
              <a:rPr sz="1150" b="0" i="0">
                <a:solidFill>
                  <a:srgbClr val="E2E8F0"/>
                </a:solidFill>
                <a:latin typeface="Consolas"/>
                <a:ea typeface="맑은 고딕"/>
              </a:rPr>
              <a:t>형식: 단계 설계표 1장 + 프롬프트 전문 + 실행 증거</a:t>
            </a:r>
          </a:p>
        </p:txBody>
      </p:sp>
      <p:sp>
        <p:nvSpPr>
          <p:cNvPr id="10" name="Rounded Rectangle 9"/>
          <p:cNvSpPr/>
          <p:nvPr/>
        </p:nvSpPr>
        <p:spPr>
          <a:xfrm>
            <a:off x="548640" y="6053328"/>
            <a:ext cx="11094415" cy="402336"/>
          </a:xfrm>
          <a:prstGeom prst="roundRect">
            <a:avLst>
              <a:gd name="adj" fmla="val 25000"/>
            </a:avLst>
          </a:prstGeom>
          <a:solidFill>
            <a:srgbClr val="FDF3E3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1" name="TextBox 10"/>
          <p:cNvSpPr txBox="1"/>
          <p:nvPr/>
        </p:nvSpPr>
        <p:spPr>
          <a:xfrm>
            <a:off x="713232" y="6053328"/>
            <a:ext cx="10765231" cy="402336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050" b="1" i="0">
                <a:solidFill>
                  <a:srgbClr val="D97706"/>
                </a:solidFill>
                <a:latin typeface="맑은 고딕"/>
                <a:ea typeface="맑은 고딕"/>
              </a:rPr>
              <a:t>TIP  </a:t>
            </a:r>
            <a:r>
              <a:rPr sz="1100" b="0" i="0">
                <a:solidFill>
                  <a:srgbClr val="374151"/>
                </a:solidFill>
                <a:latin typeface="맑은 고딕"/>
                <a:ea typeface="맑은 고딕"/>
              </a:rPr>
              <a:t>강조할 것: 화려한 자동화보다 '검수 포인트가 명확한' 설계가 고득점. 민감 데이터를 넣은 흔적이 보이면 반드시 개별 피드백.</a:t>
            </a:r>
          </a:p>
        </p:txBody>
      </p:sp>
    </p:spTree>
  </p:cSld>
  <p:clrMapOvr>
    <a:masterClrMapping/>
  </p:clrMapOvr>
</p:sld>
</file>

<file path=ppt/slides/slide7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미션 평가 루브릭 — 피드백 기준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786384" y="1005840"/>
            <a:ext cx="10241280" cy="36576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250" b="0" i="0">
                <a:solidFill>
                  <a:srgbClr val="6B7280"/>
                </a:solidFill>
                <a:latin typeface="맑은 고딕"/>
                <a:ea typeface="맑은 고딕"/>
              </a:rPr>
              <a:t>점수화가 목적이 아니라, 다음 주 첫 15분 과제 리뷰에서 '무엇을 칭찬하고 무엇을 교정할지' 기준입니다.</a:t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graphicFrame>
        <p:nvGraphicFramePr>
          <p:cNvPr id="8" name="Table 7"/>
          <p:cNvGraphicFramePr>
            <a:graphicFrameLocks noGrp="1"/>
          </p:cNvGraphicFramePr>
          <p:nvPr/>
        </p:nvGraphicFramePr>
        <p:xfrm>
          <a:off x="548640" y="1517904"/>
          <a:ext cx="11094413" cy="2225040"/>
        </p:xfrm>
        <a:graphic>
          <a:graphicData uri="http://schemas.openxmlformats.org/drawingml/2006/table">
            <a:tbl>
              <a:tblPr firstRow="1" bandRow="1">
                <a:tableStyleId>{5C22544A-7EE6-4342-B048-85BDC9FD1C3A}</a:tableStyleId>
              </a:tblPr>
              <a:tblGrid>
                <a:gridCol w="1925476"/>
                <a:gridCol w="825204"/>
                <a:gridCol w="4217711"/>
                <a:gridCol w="4126022"/>
              </a:tblGrid>
              <a:tr h="304800"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평가 항목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배점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우수 (이렇게 하면 칭찬)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ctr">
                        <a:lnSpc>
                          <a:spcPct val="108000"/>
                        </a:lnSpc>
                      </a:pPr>
                      <a:r>
                        <a:rPr sz="1200" b="1" i="0">
                          <a:solidFill>
                            <a:srgbClr val="FFFFFF"/>
                          </a:solidFill>
                          <a:latin typeface="맑은 고딕"/>
                          <a:ea typeface="맑은 고딕"/>
                        </a:rPr>
                        <a:t>미흡 (이렇게 오면 교정)</a:t>
                      </a:r>
                    </a:p>
                  </a:txBody>
                  <a:tcPr anchor="ctr" marL="73152" marR="73152" marT="27432" marB="27432">
                    <a:solidFill>
                      <a:srgbClr val="292524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단계 설계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30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입력·담당·검수가 단계마다 명시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"AI한테 시킨다" 한 줄 요약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프롬프트 품질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역할·목표·형식이 있는 재사용 가능한 프롬프트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일회성 명령문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실행 증거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25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실제 1회 실행 + 시간 비교 수치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설계만 있고 미실행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실패 기록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AI 한계·검수 필요 지점을 구체 기록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"다 잘됐다"로 종료</a:t>
                      </a:r>
                    </a:p>
                  </a:txBody>
                  <a:tcPr anchor="ctr" marL="73152" marR="73152" marT="27432" marB="27432">
                    <a:solidFill>
                      <a:srgbClr val="FDF3E3"/>
                    </a:solidFill>
                  </a:tcPr>
                </a:tc>
              </a:tr>
              <a:tr h="384048"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1" i="0">
                          <a:solidFill>
                            <a:srgbClr val="292524"/>
                          </a:solidFill>
                          <a:latin typeface="맑은 고딕"/>
                          <a:ea typeface="맑은 고딕"/>
                        </a:rPr>
                        <a:t>보안 준수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10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민감 데이터 미포함, 가상/비식별 데이터 사용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  <a:tc>
                  <a:txBody>
                    <a:bodyPr wrap="square"/>
                    <a:lstStyle/>
                    <a:p>
                      <a:pPr algn="l">
                        <a:lnSpc>
                          <a:spcPct val="108000"/>
                        </a:lnSpc>
                      </a:pPr>
                      <a:r>
                        <a:rPr sz="1100" b="0" i="0">
                          <a:solidFill>
                            <a:srgbClr val="374151"/>
                          </a:solidFill>
                          <a:latin typeface="맑은 고딕"/>
                          <a:ea typeface="맑은 고딕"/>
                        </a:rPr>
                        <a:t>고객 실데이터 붙여넣기</a:t>
                      </a:r>
                    </a:p>
                  </a:txBody>
                  <a:tcPr anchor="ctr" marL="73152" marR="73152" marT="27432" marB="27432">
                    <a:solidFill>
                      <a:srgbClr val="FFFFFF"/>
                    </a:solidFill>
                  </a:tcPr>
                </a:tc>
              </a:tr>
            </a:tbl>
          </a:graphicData>
        </a:graphic>
      </p:graphicFrame>
    </p:spTree>
  </p:cSld>
  <p:clrMapOvr>
    <a:masterClrMapping/>
  </p:clrMapOvr>
</p:sld>
</file>

<file path=ppt/slides/slide8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토론 유도 질문 &amp; 예상 질문 대응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Rounded Rectangle 6"/>
          <p:cNvSpPr/>
          <p:nvPr/>
        </p:nvSpPr>
        <p:spPr>
          <a:xfrm>
            <a:off x="548640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8" name="Rounded Rectangle 7"/>
          <p:cNvSpPr/>
          <p:nvPr/>
        </p:nvSpPr>
        <p:spPr>
          <a:xfrm>
            <a:off x="548640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9" name="Rectangle 8"/>
          <p:cNvSpPr/>
          <p:nvPr/>
        </p:nvSpPr>
        <p:spPr>
          <a:xfrm>
            <a:off x="548640" y="1408176"/>
            <a:ext cx="5428335" cy="237744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0" name="TextBox 9"/>
          <p:cNvSpPr txBox="1"/>
          <p:nvPr/>
        </p:nvSpPr>
        <p:spPr>
          <a:xfrm>
            <a:off x="731520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수업 중 던질 질문</a:t>
            </a:r>
          </a:p>
        </p:txBody>
      </p:sp>
      <p:sp>
        <p:nvSpPr>
          <p:cNvPr id="11" name="TextBox 10"/>
          <p:cNvSpPr txBox="1"/>
          <p:nvPr/>
        </p:nvSpPr>
        <p:spPr>
          <a:xfrm>
            <a:off x="749808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"여러분 업무 중 '입력과 출력의 규칙이 명확한 일'은 몇 %인가요?"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"AI 초안에서 사람이 반드시 잡아야 하는 것 3가지는?"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사실 오류, 법적 표현, 브랜드 톤으로 수렴시키기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"절약된 시간을 어디에 재투자하실 건가요?"</a:t>
            </a:r>
          </a:p>
        </p:txBody>
      </p:sp>
      <p:sp>
        <p:nvSpPr>
          <p:cNvPr id="12" name="Rounded Rectangle 11"/>
          <p:cNvSpPr/>
          <p:nvPr/>
        </p:nvSpPr>
        <p:spPr>
          <a:xfrm>
            <a:off x="6214719" y="1170432"/>
            <a:ext cx="5428335" cy="5184648"/>
          </a:xfrm>
          <a:prstGeom prst="roundRect">
            <a:avLst>
              <a:gd name="adj" fmla="val 4000"/>
            </a:avLst>
          </a:prstGeom>
          <a:solidFill>
            <a:srgbClr val="F8FAFC"/>
          </a:solidFill>
          <a:ln w="9525">
            <a:solidFill>
              <a:srgbClr val="D8E0EA"/>
            </a:solidFill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3" name="Rounded Rectangle 12"/>
          <p:cNvSpPr/>
          <p:nvPr/>
        </p:nvSpPr>
        <p:spPr>
          <a:xfrm>
            <a:off x="6214719" y="1170432"/>
            <a:ext cx="5428335" cy="475488"/>
          </a:xfrm>
          <a:prstGeom prst="roundRect">
            <a:avLst>
              <a:gd name="adj" fmla="val 4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4" name="Rectangle 13"/>
          <p:cNvSpPr/>
          <p:nvPr/>
        </p:nvSpPr>
        <p:spPr>
          <a:xfrm>
            <a:off x="6214719" y="1408176"/>
            <a:ext cx="5428335" cy="237744"/>
          </a:xfrm>
          <a:prstGeom prst="rect">
            <a:avLst/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15" name="TextBox 14"/>
          <p:cNvSpPr txBox="1"/>
          <p:nvPr/>
        </p:nvSpPr>
        <p:spPr>
          <a:xfrm>
            <a:off x="6397599" y="1170432"/>
            <a:ext cx="5062575" cy="475488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1500" b="1" i="0">
                <a:solidFill>
                  <a:srgbClr val="FFFFFF"/>
                </a:solidFill>
                <a:latin typeface="맑은 고딕"/>
                <a:ea typeface="맑은 고딕"/>
              </a:rPr>
              <a:t>예상 질문과 답변 가이드</a:t>
            </a:r>
          </a:p>
        </p:txBody>
      </p:sp>
      <p:sp>
        <p:nvSpPr>
          <p:cNvPr id="16" name="TextBox 15"/>
          <p:cNvSpPr txBox="1"/>
          <p:nvPr/>
        </p:nvSpPr>
        <p:spPr>
          <a:xfrm>
            <a:off x="6415887" y="1792224"/>
            <a:ext cx="5025999" cy="4407408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"회사가 AI 사용을 막아요"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"금지의 대부분은 데이터 유출 우려입니다. 공개 데이터 실습으로 시작하고, 보안 기준표를 만들어 역제안하세요"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"어떤 유료 플랜을 사야 하나요?"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"업무 1개를 무료로 워크플로우화해본 뒤, 병목이 생기는 도구만 유료 전환이 순서입니다"</a:t>
            </a:r>
          </a:p>
          <a:p>
            <a:pPr algn="l">
              <a:lnSpc>
                <a:spcPct val="116000"/>
              </a:lnSpc>
              <a:spcBef>
                <a:spcPts val="500"/>
              </a:spcBef>
              <a:spcAft>
                <a:spcPts val="300"/>
              </a:spcAft>
            </a:pPr>
            <a:r>
              <a:rPr sz="900" b="0" i="0">
                <a:solidFill>
                  <a:srgbClr val="B45309"/>
                </a:solidFill>
                <a:latin typeface="맑은 고딕"/>
                <a:ea typeface="맑은 고딕"/>
              </a:rPr>
              <a:t>●  </a:t>
            </a:r>
            <a:r>
              <a:rPr sz="1300" b="0" i="0">
                <a:solidFill>
                  <a:srgbClr val="1F2937"/>
                </a:solidFill>
                <a:latin typeface="맑은 고딕"/>
                <a:ea typeface="맑은 고딕"/>
              </a:rPr>
              <a:t>"MCP는 개발자 없이 가능한가요?"</a:t>
            </a:r>
          </a:p>
          <a:p>
            <a:pPr algn="l">
              <a:lnSpc>
                <a:spcPct val="112000"/>
              </a:lnSpc>
              <a:spcAft>
                <a:spcPts val="200"/>
              </a:spcAft>
            </a:pPr>
            <a:r>
              <a:rPr sz="1000" b="0" i="0">
                <a:solidFill>
                  <a:srgbClr val="9CA3AF"/>
                </a:solidFill>
                <a:latin typeface="맑은 고딕"/>
                <a:ea typeface="맑은 고딕"/>
              </a:rPr>
              <a:t>     – </a:t>
            </a:r>
            <a:r>
              <a:rPr sz="1150" b="0" i="0">
                <a:solidFill>
                  <a:srgbClr val="4B5563"/>
                </a:solidFill>
                <a:latin typeface="맑은 고딕"/>
                <a:ea typeface="맑은 고딕"/>
              </a:rPr>
              <a:t>→ "직접 구축은 어렵지만 기성 커넥터(Drive·Notion·Slack)는 설정만으로 가능합니다"</a:t>
            </a:r>
          </a:p>
        </p:txBody>
      </p:sp>
    </p:spTree>
  </p:cSld>
  <p:clrMapOvr>
    <a:masterClrMapping/>
  </p:clrMapOvr>
</p:sld>
</file>

<file path=ppt/slides/slide9.xml><?xml version="1.0" encoding="utf-8"?>
<p:sld xmlns:a="http://schemas.openxmlformats.org/drawingml/2006/main" xmlns:p="http://schemas.openxmlformats.org/presentationml/2006/main" xmlns:r="http://schemas.openxmlformats.org/officeDocument/2006/relationships">
  <p:cSld>
    <p:spTree>
      <p:nvGrpSpPr>
        <p:cNvPr id="1" name=""/>
        <p:cNvGrpSpPr/>
        <p:nvPr/>
      </p:nvGrpSpPr>
      <p:grpSpPr/>
      <p:sp>
        <p:nvSpPr>
          <p:cNvPr id="2" name="Rectangle 1"/>
          <p:cNvSpPr/>
          <p:nvPr/>
        </p:nvSpPr>
        <p:spPr>
          <a:xfrm>
            <a:off x="548640" y="475488"/>
            <a:ext cx="91440" cy="475488"/>
          </a:xfrm>
          <a:prstGeom prst="rect">
            <a:avLst/>
          </a:prstGeom>
          <a:solidFill>
            <a:srgbClr val="D97706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3" name="TextBox 2"/>
          <p:cNvSpPr txBox="1"/>
          <p:nvPr/>
        </p:nvSpPr>
        <p:spPr>
          <a:xfrm>
            <a:off x="786384" y="402336"/>
            <a:ext cx="9326880" cy="64008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2300" b="1" i="0">
                <a:solidFill>
                  <a:srgbClr val="292524"/>
                </a:solidFill>
                <a:latin typeface="맑은 고딕"/>
                <a:ea typeface="맑은 고딕"/>
              </a:rPr>
              <a:t>수업 전 준비 체크리스트</a:t>
            </a:r>
          </a:p>
        </p:txBody>
      </p:sp>
      <p:sp>
        <p:nvSpPr>
          <p:cNvPr id="4" name="Rounded Rectangle 3"/>
          <p:cNvSpPr/>
          <p:nvPr/>
        </p:nvSpPr>
        <p:spPr>
          <a:xfrm>
            <a:off x="10591495" y="475488"/>
            <a:ext cx="1051560" cy="274320"/>
          </a:xfrm>
          <a:prstGeom prst="roundRect">
            <a:avLst>
              <a:gd name="adj" fmla="val 50000"/>
            </a:avLst>
          </a:prstGeom>
          <a:solidFill>
            <a:srgbClr val="B45309"/>
          </a:solidFill>
          <a:ln>
            <a:noFill/>
          </a:ln>
          <a:effectLst/>
        </p:spPr>
        <p:style>
          <a:lnRef idx="1">
            <a:schemeClr val="accent1"/>
          </a:lnRef>
          <a:fillRef idx="3">
            <a:schemeClr val="accent1"/>
          </a:fillRef>
          <a:effectRef idx="2">
            <a:schemeClr val="accent1"/>
          </a:effectRef>
          <a:fontRef idx="minor">
            <a:schemeClr val="lt1"/>
          </a:fontRef>
        </p:style>
        <p:txBody>
          <a:bodyPr rtlCol="0" anchor="ctr"/>
          <a:lstStyle/>
          <a:p>
            <a:pPr algn="ctr"/>
          </a:p>
        </p:txBody>
      </p:sp>
      <p:sp>
        <p:nvSpPr>
          <p:cNvPr id="5" name="TextBox 4"/>
          <p:cNvSpPr txBox="1"/>
          <p:nvPr/>
        </p:nvSpPr>
        <p:spPr>
          <a:xfrm>
            <a:off x="10591495" y="489204"/>
            <a:ext cx="1051560" cy="274320"/>
          </a:xfrm>
          <a:prstGeom prst="rect">
            <a:avLst/>
          </a:prstGeom>
          <a:noFill/>
        </p:spPr>
        <p:txBody>
          <a:bodyPr wrap="square" anchor="ctr" lIns="0" rIns="0" tIns="0" bIns="0">
            <a:spAutoFit/>
          </a:bodyPr>
          <a:lstStyle/>
          <a:p>
            <a:pPr algn="ctr">
              <a:lnSpc>
                <a:spcPct val="112000"/>
              </a:lnSpc>
            </a:pPr>
            <a:r>
              <a:rPr sz="1050" b="1" i="0">
                <a:solidFill>
                  <a:srgbClr val="FFFFFF"/>
                </a:solidFill>
                <a:latin typeface="맑은 고딕"/>
                <a:ea typeface="맑은 고딕"/>
              </a:rPr>
              <a:t>강사용</a:t>
            </a:r>
          </a:p>
        </p:txBody>
      </p:sp>
      <p:sp>
        <p:nvSpPr>
          <p:cNvPr id="6" name="TextBox 5"/>
          <p:cNvSpPr txBox="1"/>
          <p:nvPr/>
        </p:nvSpPr>
        <p:spPr>
          <a:xfrm>
            <a:off x="548640" y="6510528"/>
            <a:ext cx="11094415" cy="274320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2000"/>
              </a:lnSpc>
            </a:pP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>[강사용] AI 시대 마케팅, 누가 살아남을까? — 6주 실무 스터디   |   5회차 · 실무 AI 마케팅 워크플로우</a:t>
            </a:r>
            <a:r>
              <a:rPr sz="950" b="0" i="0">
                <a:solidFill>
                  <a:srgbClr val="94A3B8"/>
                </a:solidFill>
                <a:latin typeface="맑은 고딕"/>
                <a:ea typeface="맑은 고딕"/>
              </a:rPr>
              <a:t/>
            </a:r>
          </a:p>
        </p:txBody>
      </p:sp>
      <p:sp>
        <p:nvSpPr>
          <p:cNvPr id="7" name="TextBox 6"/>
          <p:cNvSpPr txBox="1"/>
          <p:nvPr/>
        </p:nvSpPr>
        <p:spPr>
          <a:xfrm>
            <a:off x="685800" y="1225295"/>
            <a:ext cx="10698480" cy="4736592"/>
          </a:xfrm>
          <a:prstGeom prst="rect">
            <a:avLst/>
          </a:prstGeom>
          <a:noFill/>
        </p:spPr>
        <p:txBody>
          <a:bodyPr wrap="square" anchor="t" lIns="0" rIns="0" tIns="0" bIns="0">
            <a:spAutoFit/>
          </a:bodyPr>
          <a:lstStyle/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시연 (이번 회차는 사전 준비가 가장 많습니다)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Deep Research 사전 실행 완료 (최소 수업 3시간 전) — 실패 대비 결과 PDF 저장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성과 해석용 가상 데이터 표 준비 ('순위 유지+클릭 하락' 패턴 포함)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브리프→검수 교차 시연용 제품/서비스 1개 선정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자료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워크플로우 프롬프트 3종 복사용 텍스트 배포 준비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단계 설계표 양식(시트) 배포 준비</a:t>
            </a:r>
          </a:p>
          <a:p>
            <a:pPr algn="l">
              <a:lnSpc>
                <a:spcPct val="118000"/>
              </a:lnSpc>
              <a:spcBef>
                <a:spcPts val="600"/>
              </a:spcBef>
              <a:spcAft>
                <a:spcPts val="500"/>
              </a:spcAft>
            </a:pPr>
            <a:r>
              <a:rPr sz="1150" b="0" i="0">
                <a:solidFill>
                  <a:srgbClr val="D97706"/>
                </a:solidFill>
                <a:latin typeface="맑은 고딕"/>
                <a:ea typeface="맑은 고딕"/>
              </a:rPr>
              <a:t>●  </a:t>
            </a:r>
            <a:r>
              <a:rPr sz="1550" b="1" i="0">
                <a:solidFill>
                  <a:srgbClr val="1F2937"/>
                </a:solidFill>
                <a:latin typeface="맑은 고딕"/>
                <a:ea typeface="맑은 고딕"/>
              </a:rPr>
              <a:t>과제 리뷰</a:t>
            </a:r>
          </a:p>
          <a:p>
            <a:pPr algn="l">
              <a:lnSpc>
                <a:spcPct val="115000"/>
              </a:lnSpc>
              <a:spcBef>
                <a:spcPts val="100"/>
              </a:spcBef>
              <a:spcAft>
                <a:spcPts val="200"/>
              </a:spcAft>
            </a:pPr>
            <a:r>
              <a:rPr sz="1250" b="0" i="0">
                <a:solidFill>
                  <a:srgbClr val="9CA3AF"/>
                </a:solidFill>
                <a:latin typeface="맑은 고딕"/>
                <a:ea typeface="맑은 고딕"/>
              </a:rPr>
              <a:t>      –  </a:t>
            </a:r>
            <a:r>
              <a:rPr sz="1300" b="0" i="0">
                <a:solidFill>
                  <a:srgbClr val="4B5563"/>
                </a:solidFill>
                <a:latin typeface="맑은 고딕"/>
                <a:ea typeface="맑은 고딕"/>
              </a:rPr>
              <a:t>4회차 재테스트 로그 중 '프로토콜을 잘 지킨' 사례 선정 (변화 유무 무관)</a:t>
            </a:r>
          </a:p>
        </p:txBody>
      </p:sp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>
    <a:spDef>
      <a:spPr/>
      <a:bodyPr/>
      <a:lstStyle/>
      <a:style>
        <a:lnRef idx="1">
          <a:schemeClr val="accent1"/>
        </a:lnRef>
        <a:fillRef idx="3">
          <a:schemeClr val="accent1"/>
        </a:fillRef>
        <a:effectRef idx="2">
          <a:schemeClr val="accent1"/>
        </a:effectRef>
        <a:fontRef idx="minor">
          <a:schemeClr val="lt1"/>
        </a:fontRef>
      </a:style>
    </a:spDef>
    <a:lnDef>
      <a:spPr/>
      <a:bodyPr/>
      <a:lstStyle/>
      <a:style>
        <a:lnRef idx="2">
          <a:schemeClr val="accent1"/>
        </a:lnRef>
        <a:fillRef idx="0">
          <a:schemeClr val="accent1"/>
        </a:fillRef>
        <a:effectRef idx="1">
          <a:schemeClr val="accent1"/>
        </a:effectRef>
        <a:fontRef idx="minor">
          <a:schemeClr val="tx1"/>
        </a:fontRef>
      </a:style>
    </a:lnDef>
  </a:objectDefaults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1</TotalTime>
  <Words>0</Words>
  <Application>Microsoft Macintosh PowerPoint</Application>
  <PresentationFormat>On-screen Show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Theme</vt:lpstr>
      </vt:variant>
      <vt:variant>
        <vt:i4>1</vt:i4>
      </vt:variant>
      <vt:variant>
        <vt:lpstr>Slide Titles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subject/>
  <dc:creator/>
  <cp:keywords/>
  <dc:description>generated using python-pptx</dc:description>
  <cp:lastModifiedBy>Steve Canny</cp:lastModifiedBy>
  <cp:revision>1</cp:revision>
  <dcterms:created xsi:type="dcterms:W3CDTF">2013-01-27T09:14:16Z</dcterms:created>
  <dcterms:modified xsi:type="dcterms:W3CDTF">2013-01-27T09:15:58Z</dcterms:modified>
  <cp:category/>
</cp:coreProperties>
</file>