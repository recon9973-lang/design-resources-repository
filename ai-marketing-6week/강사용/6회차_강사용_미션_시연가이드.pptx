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847088"/>
            <a:ext cx="566928" cy="685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FCD34D"/>
                </a:solidFill>
                <a:latin typeface="맑은 고딕"/>
                <a:ea typeface="맑은 고딕"/>
              </a:rPr>
              <a:t>AI 시대 마케팅, 누가 살아남을까? — 6주 실무 스터디  |  6회차 강사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87168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  <a:ea typeface="맑은 고딕"/>
              </a:rPr>
              <a:t>[강사용] 살아남는 마케터의 2~3년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 i="0">
                <a:solidFill>
                  <a:srgbClr val="CBD5E1"/>
                </a:solidFill>
                <a:latin typeface="맑은 고딕"/>
                <a:ea typeface="맑은 고딕"/>
              </a:rPr>
              <a:t>수업 운영 흐름 · 라이브 시연 시나리오 · 수강생 미션 · 평가 기준
핵심 질문: 어떤 역량과 포트폴리오가 남는가?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DA2C0"/>
                </a:solidFill>
                <a:latin typeface="맑은 고딕"/>
                <a:ea typeface="맑은 고딕"/>
              </a:rPr>
              <a:t>이 문서는 강사 전용입니다. 수강생 배포 금지 · 기준일 2026-07-03 · 링크는 수업 전날 접속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46943" y="502920"/>
            <a:ext cx="896112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46943" y="502920"/>
            <a:ext cx="89611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운영 타임라인 × 시연 매핑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6회차 · 살아남는 마케터의 2~3년 준비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188720"/>
          <a:ext cx="11094414" cy="2609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651"/>
                <a:gridCol w="4951226"/>
                <a:gridCol w="4859537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시간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시연/활동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0~20분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5주간 산출물 리뷰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D1 라이브 시연 (수강생 전후 비교 갤러리)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20~45분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사라지는 업무와 남는 업무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D2 웹검색 (채용공고 라이브) + 토론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45~65분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2026~2029 변화 시나리오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D3 사이트 + D5 뉴스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65~90분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개인 역량 로드맵 작성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양식 배포, 강사 1:1 순회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90~110분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팀/조직 적용 로드맵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그룹 작성 + 발표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110~120분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마무리: 30일 실행 계획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작성 → 공개 선언 → 팔로업 일정 공지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시연 시나리오 D1~D5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6회차 · 살아남는 마케터의 2~3년 준비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188720"/>
          <a:ext cx="1109441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1329"/>
                <a:gridCol w="1065063"/>
                <a:gridCol w="2662659"/>
                <a:gridCol w="2928925"/>
                <a:gridCol w="3106436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수업 시점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유형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보여주나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링크 / 검색어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시연 포인트 (이 말을 하세요)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D1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0~20분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라이브 시연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수강생 산출물 전후 비교 갤러리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1회차 진단표 vs 4회차 재테스트 로그를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나란히 화면에 (사전 동의 받은 2~3명)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"5주 전 여러분은 이 질문에 답을 못 했습니다." 성장을 눈으로 확인시키는 오프닝 — 최종회 몰입의 핵심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D2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20~45분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웹검색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채용시장 라이브 확인 (핵심 시연)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원티드/링크드인 검색: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"AI 마케터" "콘텐츠 마케터"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→ 자격요건·우대사항 정독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우대사항에서 'AI 활용', '데이터 해석', '실험 설계'를 형광펜. "시장이 이미 이 역량에 값을 매기고 있습니다"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D3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45~65분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사이트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미래 근거 자료 2종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Microsoft Work Trend Index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(microsoft.com/worklab)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+ McKinsey State of AI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"하이브리드 팀(인간+에이전트)이 공식 전망입니다. 에이전트에게 일을 시키는 사람이 될 준비" — 각 1분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D4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여유시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유튜브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커리어 관점 보강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유튜브 검색: "Ethan Mollick AI work"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또는 oneusefulthing.org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"AI와 일하는 법을 실험으로 검증하는 학자입니다. 졸업 후 구독할 소스로 추천"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D5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45~65분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뉴스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국내 조직의 AI 도입 사례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구글/네이버 뉴스 검색: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"마케팅 조직 AI 도입" "AI 에이전트 업무"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최신 국내 사례 1건으로 '먼 이야기가 아님'을 증명. 기사 속 조직의 준비 단계를 로드맵 표와 연결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최종회 운영 포인트 — 강의가 아니라 '전환식'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6회차 · 살아남는 마케터의 2~3년 준비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446623" cy="5212080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316736"/>
            <a:ext cx="941832" cy="27432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30452"/>
            <a:ext cx="94183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라이브 시연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303020"/>
            <a:ext cx="40475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30일 계획 공개 선언 (110~120분)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700784"/>
            <a:ext cx="5117439" cy="4626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방식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각자 30일 계획 6칸 중 1번(고칠 콘텐츠 3개)만 소리 내어 선언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이유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공개 선언은 실행률을 크게 높이는 가장 값싼 장치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팔로업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4주 후 온라인 팔로업 세션 일정을 이 자리에서 확정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팁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공유 시트에 '30일 후 상태' 열을 만들어 두기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6431" y="1188720"/>
            <a:ext cx="5446623" cy="5212080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61023" y="1316736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1023" y="1330452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미션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60539" y="1303020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포트폴리오 패키징 안내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1023" y="1700784"/>
            <a:ext cx="5117439" cy="4626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구성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1~6회차 산출물을 '전후 비교' 중심의 문서 1편으로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템플릿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문제 정의 → 진단 → 실행 → 측정 → 배운 것 (사례 연구 형식)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용도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이직·연봉협상·사내 제안 — 세 용도 모두 같은 문서로 가능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강조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"6주간의 로그가 이미 포트폴리오입니다. 묶기만 하세요"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시연 백업 플랜 — 라이브가 실패할 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AI 시연은 반드시 실패를 전제로 준비합니다. 실패 자체가 최고의 교육 소재입니다.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6회차 · 살아남는 마케터의 2~3년 준비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17904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2748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수업 전날 스크린샷 세트 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029968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모든 라이브 시연의 결과 화면을 전날 캡처해 슬라이드 뒤에 붙여둔다.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캡처에는 날짜·도구·질문이 함께 보이게 찍는다.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네트워크/로그인 장애 시 즉시 스크린샷으로 전환.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431" y="1517904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61023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1023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60539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결과가 어제와 다르게 나올 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023" y="2029968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당황하지 말고 그대로 교육 포인트로 전환: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"보세요, 어제는 이렇게 나왔는데 오늘은 다릅니다."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"이래서 AI 검색은 1회 확인이 아니라 반복 측정이 필요합니다."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59936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3232" y="4187952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201668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2748" y="4174236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AI Overviews가 안 뜰 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572000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지역·계정·언어에 따라 미노출이 정상임을 설명.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영어 질문으로 재시도 → 그래도 없으면 준비한 캡처 사용.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"안 뜨는 것 자체가 '노출은 통제 밖'이라는 증거"로 연결.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6431" y="4059936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61023" y="4187952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1023" y="4201668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60539" y="4174236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수강생 브랜드가 아예 안 나올 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1023" y="4572000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"언급 0회도 소중한 데이터"라고 먼저 프레이밍.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잘 나오는 공개 브랜드(무신사, 배민 등)로 대조 시연.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차이의 원인(콘텐츠·리뷰·언론 량)을 토론으로 유도.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최종 미션 배포문 — 이대로 공유 시트에 게시하세요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최종 미션: 30일 실행 계획 (수료 요건)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6회차 · 살아남는 마케터의 2~3년 준비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99616"/>
            <a:ext cx="11094415" cy="4443984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00784"/>
            <a:ext cx="10545775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[최종 미션] 30일 실행 계획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아래 6칸을 채워 제출하면 과정 수료입니다.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1. 이번 달에 고칠 콘텐츠 3개: (URL 명시)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2. 새로 만들 질문형 콘텐츠 3개: (제목+타깃 질문)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3. 매주 추적할 AI 검색 프롬프트 10개: (문장 그대로)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4. 업무 자동화할 반복 작업 1개: (5회차 설계 이어가기)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5. 팀에 공유할 AI 사용 원칙 5개: (보안 기준 포함)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6. 30일 후 확인할 KPI: (숫자로 — 예: 언급률, 색인 수)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작성 기준: 남이 봐도 실행 여부를 판정할 수 있게.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제출: 오늘 수업 종료 시 (110~120분 내 작성)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팔로업: 4주 후 온라인 세션에서 결과 리뷰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D97706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수료 기준으로 활용: 6칸 모두 '판정 가능'하게 작성되면 수료. 추상적으로 쓴 수강생은 그 자리에서 구체화 코칭.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미션 평가 루브릭 — 피드백 기준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점수화가 목적이 아니라, 다음 주 첫 15분 과제 리뷰에서 '무엇을 칭찬하고 무엇을 교정할지' 기준입니다.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6회차 · 살아남는 마케터의 2~3년 준비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17904"/>
          <a:ext cx="11094413" cy="1840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5476"/>
                <a:gridCol w="825204"/>
                <a:gridCol w="4217711"/>
                <a:gridCol w="4126022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배점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우수 (이렇게 하면 칭찬)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미흡 (이렇게 오면 교정)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판정 가능성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URL·숫자·문장 그대로 — 제3자가 실행 여부 판정 가능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"콘텐츠 개선하기"류 추상 목표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연속성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1~5회차 산출물과 연결 (리라이트 이어가기 등)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6주 학습과 무관한 새 목표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측정 계획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KPI가 숫자이고 측정 방법·주기 명시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"성과 확인"으로 끝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보안 원칙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팀 공유 원칙에 데이터 보안 기준 포함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생산성 원칙만 나열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D97706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이 루브릭은 팔로업 세션 리뷰 기준으로도 재사용합니다.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토론 유도 질문 &amp; 예상 질문 대응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6회차 · 살아남는 마케터의 2~3년 준비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70432"/>
            <a:ext cx="5428335" cy="51846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170432"/>
            <a:ext cx="5428335" cy="475488"/>
          </a:xfrm>
          <a:prstGeom prst="roundRect">
            <a:avLst>
              <a:gd name="adj" fmla="val 4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08176"/>
            <a:ext cx="5428335" cy="23774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170432"/>
            <a:ext cx="5062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토론에서 던질 질문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92224"/>
            <a:ext cx="5025999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"지금 업무 중 '규칙이 명확한 일'의 비중은? 1년 뒤 목표 비중은?"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"우리 팀에서 AI 검수 책임자는 누구여야 하나요?"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"여러분의 '질문 데이터 자산'은 어느 산업에서 쌓을 건가요?"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4719" y="1170432"/>
            <a:ext cx="5428335" cy="51846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4719" y="1170432"/>
            <a:ext cx="5428335" cy="475488"/>
          </a:xfrm>
          <a:prstGeom prst="roundRect">
            <a:avLst>
              <a:gd name="adj" fmla="val 4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4719" y="1408176"/>
            <a:ext cx="5428335" cy="2377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170432"/>
            <a:ext cx="5062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예상 질문과 답변 가이드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1792224"/>
            <a:ext cx="5025999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B45309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"결국 뭐부터 하면 되나요?"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맑은 고딕"/>
                <a:ea typeface="맑은 고딕"/>
              </a:rPr>
              <a:t>     – </a:t>
            </a:r>
            <a:r>
              <a:rPr sz="1150" b="0" i="0">
                <a:solidFill>
                  <a:srgbClr val="4B5563"/>
                </a:solidFill>
                <a:latin typeface="맑은 고딕"/>
                <a:ea typeface="맑은 고딕"/>
              </a:rPr>
              <a:t>→ "30일 계획 1번 칸입니다. 콘텐츠 3개 고치고 매주 언급률을 재세요. 그게 전부의 시작입니다"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B45309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"AI 때문에 마케팅 인력이 줄지 않을까요?"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맑은 고딕"/>
                <a:ea typeface="맑은 고딕"/>
              </a:rPr>
              <a:t>     – </a:t>
            </a:r>
            <a:r>
              <a:rPr sz="1150" b="0" i="0">
                <a:solidFill>
                  <a:srgbClr val="4B5563"/>
                </a:solidFill>
                <a:latin typeface="맑은 고딕"/>
                <a:ea typeface="맑은 고딕"/>
              </a:rPr>
              <a:t>→ "운영 인력 구성은 바뀝니다. 문제 정의·판단·실험 역량은 수요가 늘고 있음을 D2 채용공고로 이미 확인했습니다"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B45309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"6주로 부족한데 다음 스텝은?"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맑은 고딕"/>
                <a:ea typeface="맑은 고딕"/>
              </a:rPr>
              <a:t>     – </a:t>
            </a:r>
            <a:r>
              <a:rPr sz="1150" b="0" i="0">
                <a:solidFill>
                  <a:srgbClr val="4B5563"/>
                </a:solidFill>
                <a:latin typeface="맑은 고딕"/>
                <a:ea typeface="맑은 고딕"/>
              </a:rPr>
              <a:t>→ "추천 자료 슬라이드의 무료 강좌 + 월 1회 툴 리뷰 루틴. 그리고 4주 후 팔로업에서 만나요"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수업 전 준비 체크리스트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6회차 · 살아남는 마케터의 2~3년 준비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시연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전후 비교 갤러리용 수강생 2~3명 사전 동의 + 자료 정리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채용공고 검색 사전 테스트 — 'AI 활용' 우대가 실제로 보이는 공고 확보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자료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개인/팀 로드맵 양식, 30일 계획 양식 배포 준비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수료증/수료 안내가 있다면 이번 회차에 준비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팔로업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4주 후 온라인 팔로업 세션 날짜 후보 2개 준비 (그 자리에서 확정)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공유 시트에 '30일 후 상태' 열 추가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B45309"/>
                </a:solidFill>
                <a:latin typeface="맑은 고딕"/>
                <a:ea typeface="맑은 고딕"/>
              </a:rPr>
              <a:t>마무리 멘트 (요지): "AI는 마케터를 대체하지 않습니다. AI를 다루는 마케터가 다루지 못하는 마케터를 대체합니다. 측정을 멈추지 마세요."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