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1554480"/>
            <a:ext cx="12801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2121408"/>
            <a:ext cx="2194560" cy="31089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2688336"/>
            <a:ext cx="17373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3255263"/>
            <a:ext cx="2743200" cy="310896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3822191"/>
            <a:ext cx="201168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51392" y="1463039"/>
            <a:ext cx="18288" cy="292608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96596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579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 spc="120">
                <a:solidFill>
                  <a:srgbClr val="4FB2E5"/>
                </a:solidFill>
                <a:latin typeface="Arial"/>
                <a:ea typeface="Noto Sans CJK KR"/>
              </a:rPr>
              <a:t>AI 시대 마케팅, 누가 살아남을까? — 6주 실무 스터디  |  1회차 강사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8138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Noto Sans CJK KR"/>
              </a:rPr>
              <a:t>[강사용] AI가 바꾼 발견의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709160"/>
            <a:ext cx="7955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수업 운영 흐름 · 라이브 시연 시나리오 · 수강생 미션 · 평가 기준
핵심 질문: 검색 순위가 높아도 왜 트래픽이 줄어드는가?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144768"/>
            <a:ext cx="11368735" cy="0"/>
          </a:xfrm>
          <a:prstGeom prst="line">
            <a:avLst/>
          </a:prstGeom>
          <a:ln w="9525">
            <a:solidFill>
              <a:srgbClr val="1F6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23620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8DA0BC"/>
                </a:solidFill>
                <a:latin typeface="Arial"/>
                <a:ea typeface="Noto Sans CJK KR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9735" y="62362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50" b="0" i="0">
                <a:solidFill>
                  <a:srgbClr val="6E82A0"/>
                </a:solidFill>
                <a:latin typeface="Arial"/>
                <a:ea typeface="Noto Sans CJK KR"/>
              </a:rPr>
              <a:t>[강사용]  AI Marketing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운영 타임라인 × 시연 매핑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시연 총 5회. 데모 번호(D1~D5)는 다음 슬라이드의 시연 시나리오와 연결됩니다.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792224"/>
          <a:ext cx="11368733" cy="289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5390"/>
                <a:gridCol w="5073650"/>
                <a:gridCol w="4979693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시연/활동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0~10분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오프닝: 순위 1위인데 매출이 안 늘어나는 이유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오프닝 스크립트 (마지막 슬라이드 참고)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10~30분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AI 검색의 변화 (AI Overviews · ChatGPT Search · Perplexity)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D1 웹검색 → D2 사이트 → D3 사이트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30~50분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SEO/AEO/GEO 개념 구분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중심 · D5 뉴스 1건 인용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50~70분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국내 맥락: 네이버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D4 사이트 (네이버 탭 투어)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70~95분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실습: 내 브랜드를 AI에게 물어보기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실습 순회 지도 — 막힌 수강생은 질문 4종 세트부터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95~110분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그룹 리뷰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팀별 1발견 발표, 강사는 공통 패턴 3개 화이트보드 정리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110~120분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과제 안내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미션 슬라이드 + 공유 시트 링크 배포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① (D1~D3)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유형 태그로 화면을 구분하고, '검색/링크'는 그대로 입력, '멘트'는 그 자리에서 말할 문장입니다.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73152" cy="1417319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19385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D1 · 10~30분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278892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79989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웹검색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1938528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11096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구글 AI Overviews 실물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276856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68296" y="2295144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google.com에서 영어 질문:   "best crm for small business"   한국어: "러닝화 입문 추천"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58568" y="2734056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1F6FA8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"답이 링크 위에 먼저 나옵니다. 사용자는 이제 여기서 끝낼 수 있어요." 출처 패널을 펼쳐 인용 사이트를 보여줄 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74136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374136"/>
            <a:ext cx="73152" cy="1417319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352044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D2 · 10~30분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" y="43708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43818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75688" y="3520440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58568" y="3493008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Perplexity 출처 구조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58568" y="3858768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68296" y="3877055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perplexity.ai   질문: "국내 [수강생 업종] 서비스 추천해줘"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15968"/>
            <a:ext cx="932047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E9BD6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답변 말고 출처 번호부터 클릭. "어떤 문서가 뽑혔는지 눈으로 확인 가능한 유일한 도구"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956048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4956048"/>
            <a:ext cx="73152" cy="1417319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510235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D3 · 10~30분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" y="5952744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" y="5963716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75688" y="5102352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58568" y="507492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ChatGPT Search 같은 질문 비교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58568" y="544068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68296" y="545896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chatgpt.com (검색 활성화)   D2와 동일 질문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58568" y="5897880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E9BD6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Perplexity와 추천 목록이 다름을 대조. "엔진마다 다른 브랜드를 추천합니다 — 그래서 전부 측정해야 합니다"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② (D4~D5)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73152" cy="209397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60934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D4 · 50~70분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313639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14736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1609344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8568" y="1581912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네이버 발견 경로 투어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58568" y="1947672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8296" y="1965960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naver.com 동일 키워드 →   통합검색 → 블로그 → 카페 → 쇼핑 탭 순서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2404872"/>
            <a:ext cx="93204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E9BD6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"국내 구매 여정은 여전히 여기서 시작됩니다. 구글계와 노출 브랜드가 어떻게 다른지 보세요"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21608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21608"/>
            <a:ext cx="73152" cy="2093976"/>
          </a:xfrm>
          <a:prstGeom prst="rect">
            <a:avLst/>
          </a:prstGeom>
          <a:solidFill>
            <a:srgbClr val="E0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" y="38679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D5 · 30~50분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539496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E0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40593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뉴스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3867912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58568" y="384048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제로클릭/AI 검색 트래픽 기사 1건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58568" y="420624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68296" y="422452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구글 뉴스 검색:   "제로클릭 검색" 또는   "AI Overviews 트래픽 감소"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4663440"/>
            <a:ext cx="9320479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E0A44A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기사 헤드라인만 보여주고 "업계 전체의 문제이지 여러분 회사만의 문제가 아닙니다"로 안심+긴장 동시 유발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핵심 시연 D1 상세 — 첫 15분에 승부가 난다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1회차 몰입도는 D1~D3 연속 시연의 충격에서 나옵니다. 리허설을 권장합니다.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5583783" cy="4581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웹검색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D1. AI Overviews — 진행 순서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36311" cy="3959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1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구글에서 일반 키워드("러닝화") 검색 → 익숙한 결과 화면 확인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2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질문형("발볼 넓은 사람 러닝화 추천")으로 재검색 → AI 답변 등장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3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출처 펼치기 → "여기 인용된 사이트가 오늘의 승자입니다"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미노출 시 영어 질문 전환 또는 백업 캡처 — 당황 금지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1" y="1792224"/>
            <a:ext cx="5583783" cy="4581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79311" y="1956816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1967788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4295" y="1938528"/>
            <a:ext cx="42213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D2+D3. 같은 질문, 다른 답 — 진행 순서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340864"/>
            <a:ext cx="5236311" cy="3959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1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수강생에게 업종 하나를 받아 즉석에서 질문 생성 (참여 유도)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2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Perplexity → ChatGPT 순서로 동일 질문 입력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3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추천 브랜드 목록을 화이트보드에 나란히 적기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포인트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"두 목록에 다 들어간 브랜드는 뭘 잘했을까요?" → 30~50분 개념 강의로 자연 연결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보조 자료 — 유튜브 · 논문 (여유 시간용)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5583783" cy="4910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5583783" cy="45720"/>
          </a:xfrm>
          <a:prstGeom prst="rect">
            <a:avLst/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유튜브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6444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Google Search Central 채널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011680"/>
            <a:ext cx="5236311" cy="428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링크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youtube.com/@GoogleSearchCentral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검색어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채널 내 "AI Overviews" 또는 "AI features"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용도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30~50분 개념 파트에서 '구글 공식 입장' 인용 시 1~2분 클립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팁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영어 영상은 자동 자막 켜고 핵심 구간만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463040"/>
            <a:ext cx="5583783" cy="4910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463040"/>
            <a:ext cx="5583783" cy="45720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79311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9311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1395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GEO 논문 (연구 근거 제시용)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11" y="2011680"/>
            <a:ext cx="5236311" cy="428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링크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arxiv.org/abs/2311.09735 — "GEO: Generative Engine Optimization"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용도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"GEO는 마케팅 용어가 아니라 연구 주제입니다" 신뢰 확보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보여줄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초록 화면만 10초 — 읽지 말고 존재만 증명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추가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4회차에서 다시 등장한다고 예고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시연 백업 플랜 — 라이브가 실패할 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AI 시연은 반드시 실패를 전제로 준비합니다. 실패 자체가 최고의 교육 소재입니다.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수업 전날 스크린샷 세트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캡처에는 날짜·도구·질문이 함께 보이게 찍는다.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네트워크/로그인 장애 시 즉시 스크린샷으로 전환.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1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79311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1395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결과가 어제와 다르게 나올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당황하지 말고 그대로 교육 포인트로 전환: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"보세요, 어제는 이렇게 나왔는데 오늘은 다릅니다."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"이래서 AI 검색은 1회 확인이 아니라 반복 측정이 필요합니다."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6444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AI Overviews가 안 뜰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지역·계정·언어에 따라 미노출이 정상임을 설명.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영어 질문으로 재시도 → 그래도 없으면 준비한 캡처 사용.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"안 뜨는 것 자체가 '노출은 통제 밖'이라는 증거"로 연결.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6431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6431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79311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9311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1395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수강생 브랜드가 아예 안 나올 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"언급 0회도 소중한 데이터"라고 먼저 프레이밍.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잘 나오는 공개 브랜드(무신사, 배민 등)로 대조 시연.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배포문 — 이대로 공유 시트에 게시하세요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미션: 우리 브랜드의 AI 검색 질문 20개 만들기 + 결과 기록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4005072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49424"/>
            <a:ext cx="10820095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[1회차 미션] 내 브랜드 AI 검색 가시성 리서치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1. 우리 브랜드/클라이언트에 대한 질문 20개를 만든다.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브랜드 직접 질문 5개 / 카테고리 추천 5개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비교 질문 5개 / 문제 해결 질문 5개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2. ChatGPT, Perplexity, Gemini, 구글, 네이버 중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3개 이상 도구에서 테스트한다.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3. 수업에서 배포한 진단표 양식에 기록한다.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(언급 여부 / 경쟁사 / 인용 출처 / 오류·누락 / 다음 액션)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4. 대표 스크린샷 5장을 함께 제출한다.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반드시 날짜와 도구 이름이 보이게 캡처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제출: 다음 수업 전날 23:59까지 공유 시트에 업로드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분량: 진단표 1장 + 스크린샷 5장 (보고서 형식 불필요)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강조할 것: '20개를 다 잘 만드는 것'보다 '기록 습관'이 목적. 결과가 처참해도 그게 정상이라고 미리 말해줄 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평가 루브릭 — 피드백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점수화가 목적이 아니라, 다음 주 첫 15분 과제 리뷰에서 '무엇을 칭찬하고 무엇을 교정할지' 기준입니다.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9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792224"/>
          <a:ext cx="11368733" cy="1793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73086"/>
                <a:gridCol w="845608"/>
                <a:gridCol w="4321998"/>
                <a:gridCol w="4228041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평가 항목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배점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우수 (이렇게 하면 칭찬)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미흡 (이렇게 오면 교정)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질문 품질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4개 유형 고르게, 실제 고객 언어로 작성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"OO 어때?"식 동어반복 20개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도구 커버리지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20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3개 이상 도구, 구글계+네이버 모두 포함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ChatGPT 하나로만 테스트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기록 충실도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날짜·도구·인용 출처까지 기록, 캡처에 날짜 노출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언급 O/X만 표시하고 출처 없음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다음 액션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20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발견마다 '그래서 뭘 할지' 1줄씩 도출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액션 칸 공란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다음 주 과제 리뷰(15분)에서: 우수 사례 2개 화면 공유 + 공통 실수 1개 교정. 개별 지적은 시트 코멘트로.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토론 유도 질문 &amp; 예상 질문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5565495" cy="45720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그룹 리뷰에서 던질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"AI가 우리를 설명한 문장 중 가장 틀린 것은?"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"경쟁사가 추천된 이유를 출처에서 찾아보면?"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"AI 답변의 근거는 누가 만든 콘텐츠였나요?"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커뮤니티/리뷰가 근거인 경우가 많다는 발견으로 유도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4719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463040"/>
            <a:ext cx="5565495" cy="4572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"AI 답변이 매번 다른데 측정이 의미 있나요?"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"그래서 1회가 아니라 반복 측정입니다. 4회차에서 언급률 개념을 배웁니다"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"우리 회사는 네이버가 전부인데 구글계를 봐야 하나요?"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"고객의 정보 탐색은 이미 섞여 있습니다. 비중이 아니라 방향을 보세요"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"SEO 업체가 GEO 상품을 팔던데 사야 하나요?"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"이 6주 뒤에 직접 판단할 수 있게 됩니다. 지금은 보류"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수업 전 준비 체크리스트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계정/화면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ChatGPT·Perplexity·Gemini 로그인 상태, 시연용 브라우저 프로필 분리(개인 기록 노출 방지)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구글 검색은 시크릿 창 — 개인화 최소화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D1~D5 백업 스크린샷 (전날 캡처, 날짜 포함)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진단표 양식 공유 시트 링크, 미션 배포문 게시 준비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리허설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D1~D3 연속 시연 1회 리허설 (15분) — 질문 문장 미리 확정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수강생 업종 목록 미리 파악 → 시연 질문을 그 업종으로 준비하면 몰입도 2배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1F6FA8"/>
                </a:solidFill>
                <a:latin typeface="Arial"/>
                <a:ea typeface="Noto Sans CJK KR"/>
              </a:rPr>
              <a:t>오프닝 스크립트 (요지): "AI 시대에 마케터는 사라질까요? 반은 맞고 반은 틀립니다. 카피를 찍어내는 사람은 위험하고, 질문을 정의하고 근거를 만드는 사람은 더 중요해집니다."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