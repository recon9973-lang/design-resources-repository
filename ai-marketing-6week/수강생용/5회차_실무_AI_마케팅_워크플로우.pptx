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5216" y="1975104"/>
            <a:ext cx="47548" cy="146304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1168" y="1874520"/>
            <a:ext cx="47548" cy="246888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120" y="1938528"/>
            <a:ext cx="47548" cy="182880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3072" y="1810512"/>
            <a:ext cx="47548" cy="310896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9024" y="1901952"/>
            <a:ext cx="47548" cy="219456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4976" y="1847088"/>
            <a:ext cx="47548" cy="274320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00928" y="1993392"/>
            <a:ext cx="47548" cy="128016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23113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 spc="60">
                <a:solidFill>
                  <a:srgbClr val="A5B4FC"/>
                </a:solidFill>
                <a:latin typeface="맑은 고딕"/>
                <a:ea typeface="맑은 고딕"/>
              </a:rPr>
              <a:t>AI 시대 마케팅, 누가 살아남을까? — 6주 실무 스터디  |  5회차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65176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900" b="1" i="0">
                <a:solidFill>
                  <a:srgbClr val="FFFFFF"/>
                </a:solidFill>
                <a:latin typeface="맑은 고딕"/>
                <a:ea typeface="맑은 고딕"/>
              </a:rPr>
              <a:t>실무에 써먹는 AI 마케팅 워크플로우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4261104"/>
            <a:ext cx="457200" cy="3200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4443984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D5DAE6"/>
                </a:solidFill>
                <a:latin typeface="맑은 고딕"/>
                <a:ea typeface="맑은 고딕"/>
              </a:rPr>
              <a:t>핵심 질문: 리서치 · 기획 · 제작 · 분석을 어떻게 AI와 나눠 맡을 것인가?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60899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A94B2"/>
                </a:solidFill>
                <a:latin typeface="맑은 고딕"/>
                <a:ea typeface="맑은 고딕"/>
              </a:rPr>
              <a:t>실무 마케터 초중급 · 주 1회 2시간 · 기준일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오늘 수업이 끝나면, 여러분은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5회차 · 실무 AI 마케팅 워크플로우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5"/>
            <a:ext cx="10607040" cy="4709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업무별로 어떤 AI 툴을 1순위로 쓸지 '선택 지도'를 갖게 된다.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0" i="0">
                <a:solidFill>
                  <a:srgbClr val="374151"/>
                </a:solidFill>
                <a:latin typeface="맑은 고딕"/>
                <a:ea typeface="맑은 고딕"/>
              </a:rPr>
              <a:t>리서치 → 브리프 → 초안 → 검수 → 성과 해석의 5단계 프롬프트 세트를 확보한다.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0" i="0">
                <a:solidFill>
                  <a:srgbClr val="374151"/>
                </a:solidFill>
                <a:latin typeface="맑은 고딕"/>
                <a:ea typeface="맑은 고딕"/>
              </a:rPr>
              <a:t>내 반복 업무 1개를 AI 워크플로우로 재설계할 수 있다.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B45309"/>
                </a:solidFill>
                <a:latin typeface="맑은 고딕"/>
                <a:ea typeface="맑은 고딕"/>
              </a:rPr>
              <a:t>오늘의 산출물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캠페인 운영 프롬프트 세트 + 개인 업무 자동화 설계 1건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오늘의 흐름 (120분)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5회차 · 실무 AI 마케팅 워크플로우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07007"/>
          <a:ext cx="11057838" cy="252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2183"/>
                <a:gridCol w="7088358"/>
                <a:gridCol w="2457297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방식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0~15분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GEO 재테스트 결과 공유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발표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15~35분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AI 활용 원칙: 초안은 AI, 판단은 사람, 근거는 데이터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강의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35~55분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리서치 워크플로우: 시장, 고객, 경쟁사, 검색 의도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강의 + 시연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55~75분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콘텐츠 워크플로우: 브리프, 초안, 검수, 재가공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강의 + 시연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75~100분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캠페인 워크플로우: 소재 가설, A/B 테스트, 성과 해석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강의 + 실습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100~120분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개인별 자동화 설계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개인 실습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42432" y="1883664"/>
            <a:ext cx="47548" cy="128016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28384" y="1792224"/>
            <a:ext cx="47548" cy="219456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14336" y="1847088"/>
            <a:ext cx="47548" cy="164592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0288" y="1755648"/>
            <a:ext cx="47548" cy="256032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86240" y="1865376"/>
            <a:ext cx="47548" cy="146304"/>
          </a:xfrm>
          <a:prstGeom prst="roundRect">
            <a:avLst>
              <a:gd name="adj" fmla="val 4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39696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450" b="1" i="0" spc="60">
                <a:solidFill>
                  <a:srgbClr val="A5B4FC"/>
                </a:solidFill>
                <a:latin typeface="맑은 고딕"/>
                <a:ea typeface="맑은 고딕"/>
              </a:rPr>
              <a:t>AI 활용 3원칙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</a:rPr>
              <a:t>초안은 AI, 판단은 사람, 근거는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736592"/>
            <a:ext cx="9052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6000"/>
              </a:lnSpc>
            </a:pPr>
            <a:r>
              <a:rPr sz="1500" b="0" i="0">
                <a:solidFill>
                  <a:srgbClr val="CBD2E0"/>
                </a:solidFill>
                <a:latin typeface="맑은 고딕"/>
                <a:ea typeface="맑은 고딕"/>
              </a:rPr>
              <a:t>AI에게 최종 결정을 맡기는 순간 품질 사고가 나고,
사람이 초안까지 다 쓰는 순간 속도 경쟁에서 집니다. 경계선을 명확히 긋는 것이 실무입니다.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업무별 AI 툴 선택 지도 — 뭘로 뭘 할 것인가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'가장 좋은 툴'은 없습니다. '이 업무에 맞는 툴'이 있을 뿐입니다.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5회차 · 실무 AI 마케팅 워크플로우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499616"/>
          <a:ext cx="11057837" cy="252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6064"/>
                <a:gridCol w="3015774"/>
                <a:gridCol w="2376064"/>
                <a:gridCol w="3289935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업무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1순위 도구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대안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다루는 방향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출처 있는 시장 조사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Perplexity, ChatGPT/Gemini Deep Research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Claude + 웹자료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출처 클릭 → 원문 검증까지가 리서치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긴 문서 요약·논리 편집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Claude, ChatGPT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Gemini, NotebookLM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요약 후 '빠진 것'을 되묻는다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SEO/AEO/GEO 리라이트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ChatGPT, Claude, Gemini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Perplexity로 출처 보강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진단 프롬프트 → 사람이 사실·톤 확정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사내 문서 기반 Q&amp;A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Copilot, Gemini Workspace, 기업용 GPT/Claude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자체 RAG 구축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권한·보안 설정을 먼저 확인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광고 이미지/영상 시안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Firefly, Midjourney, Runway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Canva AI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시안 탐색용 — 집행 전 저작권·초상권 검수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보안 데이터 분석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오프라인/사내 AI, 로컬 RAG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기업용 AI 비학습 옵션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외부 전송 금지 데이터는 아예 넣지 않는다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4338CA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개인 마케터의 우선순위는 범용 4종(ChatGPT·Claude·Gemini·Perplexity)을 깊게 쓰는 것 — 툴 수집이 아니라 활용 깊이가 경쟁력입니다.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워크플로우 ① 리서치 → 콘텐츠 브리프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리서치와 기획을 한 번에 잇는 마스터 프롬프트. [ ] 안만 바꿔 팀 표준으로 쓰세요.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5회차 · 실무 AI 마케팅 워크플로우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99616"/>
            <a:ext cx="11057839" cy="4407408"/>
          </a:xfrm>
          <a:prstGeom prst="roundRect">
            <a:avLst>
              <a:gd name="adj" fmla="val 2500"/>
            </a:avLst>
          </a:prstGeom>
          <a:solidFill>
            <a:srgbClr val="0E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499616"/>
            <a:ext cx="11057839" cy="329184"/>
          </a:xfrm>
          <a:prstGeom prst="roundRect">
            <a:avLst>
              <a:gd name="adj" fmla="val 250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1057839" cy="164592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1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8720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1499616"/>
            <a:ext cx="996055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 spc="120">
                <a:solidFill>
                  <a:srgbClr val="7C8AA5"/>
                </a:solidFill>
                <a:latin typeface="맑은 고딕"/>
                <a:ea typeface="맑은 고딕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1975104"/>
            <a:ext cx="10436047" cy="3803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역할: 너는 B2B/B2C 콘텐츠 전략가다.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목표: [제품/서비스]의 검색 유입과 AI 답변 인용 가능성을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동시에 높이는 콘텐츠 브리프를 만든다.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대상 고객: [고객]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핵심 문제: [문제]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경쟁 콘텐츠: [URL 또는 요약]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다음 형식으로 작성해줘.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1. 핵심 검색 의도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2. 질문 클러스터 20개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3. 반드시 포함할 근거/데이터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4. H2/H3 구조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5. AEO 답변 블록 5개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6. GEO 인용 가능성 강화 요소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7. 제목 10개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8. CTA 3개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4338CA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사용 순서: Deep Research/Perplexity로 근거를 먼저 모으고 → 이 프롬프트에 '경쟁 콘텐츠' 칸으로 넣으면 품질이 크게 오릅니다.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워크플로우 ② 콘텐츠 검수 — 발행 전 마지막 관문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초안을 쓴 AI와 '다른 AI'로 검수하면 편향이 줄어듭니다. (예: ChatGPT 초안 → Claude 검수)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5회차 · 실무 AI 마케팅 워크플로우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99616"/>
            <a:ext cx="11057839" cy="4407408"/>
          </a:xfrm>
          <a:prstGeom prst="roundRect">
            <a:avLst>
              <a:gd name="adj" fmla="val 2500"/>
            </a:avLst>
          </a:prstGeom>
          <a:solidFill>
            <a:srgbClr val="0E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499616"/>
            <a:ext cx="11057839" cy="329184"/>
          </a:xfrm>
          <a:prstGeom prst="roundRect">
            <a:avLst>
              <a:gd name="adj" fmla="val 250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1057839" cy="164592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1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8720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1499616"/>
            <a:ext cx="996055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 spc="120">
                <a:solidFill>
                  <a:srgbClr val="7C8AA5"/>
                </a:solidFill>
                <a:latin typeface="맑은 고딕"/>
                <a:ea typeface="맑은 고딕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1975104"/>
            <a:ext cx="10436047" cy="3803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아래 콘텐츠를 실무 편집장 관점에서 검수해줘.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목표는 SEO/AEO/GEO 동시 개선이다.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맑은 고딕"/>
              </a:rPr>
              <a:t>검수 기준: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- 검색 의도와 제목이 일치하는가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- 첫 300자 안에 명확한 답이 있는가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- 근거 없는 과장이 있는가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- AI가 인용하기 좋은 표/목록/정의가 있는가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- 네이버 블로그/웹문서/구글 검색 모두에서 어색하지 않은가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- 전환 CTA가 자연스러운가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맑은 고딕"/>
              </a:rPr>
              <a:t>출력: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1. 총평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2. 반드시 고칠 부분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3. 추가하면 좋은 섹션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4. 문장 단위 수정 예시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5. 발행 전 체크리스트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4338CA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검수 AI가 지적해도 최종 판단은 사람 — 특히 법적 표현(최고/유일/보장), 가격, 수치는 반드시 사람이 확정합니다.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워크플로우 ③ 성과 해석 — 숫자를 다음 달 액션으로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데이터를 붙여넣기 전에 개인정보·계약정보가 없는지 반드시 확인하세요.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5회차 · 실무 AI 마케팅 워크플로우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99616"/>
            <a:ext cx="11057839" cy="4407408"/>
          </a:xfrm>
          <a:prstGeom prst="roundRect">
            <a:avLst>
              <a:gd name="adj" fmla="val 2500"/>
            </a:avLst>
          </a:prstGeom>
          <a:solidFill>
            <a:srgbClr val="0E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499616"/>
            <a:ext cx="11057839" cy="329184"/>
          </a:xfrm>
          <a:prstGeom prst="roundRect">
            <a:avLst>
              <a:gd name="adj" fmla="val 250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1057839" cy="164592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1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8720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1499616"/>
            <a:ext cx="996055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 spc="120">
                <a:solidFill>
                  <a:srgbClr val="7C8AA5"/>
                </a:solidFill>
                <a:latin typeface="맑은 고딕"/>
                <a:ea typeface="맑은 고딕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1975104"/>
            <a:ext cx="10436047" cy="3803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아래 성과 데이터를 보고 다음 달 액션을 제안해줘.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데이터: [노출, 클릭, CTR, 평균순위, 체류시간, 전환, 검색어, 유입채널]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목표: [리드/구매/예약/문의]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맑은 고딕"/>
              </a:rPr>
              <a:t>분석 형식: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1. 가장 큰 문제 3개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2. SEO 문제인지, SERP/AI 답변 문제인지, 콘텐츠 문제인지 구분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3. 당장 수정할 콘텐츠 5개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4. 새로 만들 콘텐츠 5개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5. 측정해야 할 AI 검색 프롬프트 10개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4338CA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핵심은 2번 — '순위는 그대로인데 클릭이 줄었다'면 SEO 문제가 아니라 AI 답변/SERP 변화 문제일 수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한 단계 위: AI를 데이터에 연결한다 — MCP와 커넥터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프롬프트 잘 쓰기의 다음 단계는 'AI가 쓸 수 있는 데이터와 도구를 설계하기'입니다.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5회차 · 실무 AI 마케팅 워크플로우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99616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99616"/>
            <a:ext cx="64008" cy="2350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1645920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656892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5958" y="1627632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MCP(Model Context Protocol)란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048256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AI가 외부 데이터·도구·업무 시스템에 표준 방식으로 연결되는 규격.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챗봇을 '파일 읽고, DB 조회하고, 툴 실행하는 업무 파트너'로 바꾼다.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한 번 만든 연결을 Claude·ChatGPT 등 여러 환경에서 재사용.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499616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5575" y="1499616"/>
            <a:ext cx="64008" cy="2350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5031" y="1645920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5031" y="1656892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4605" y="1627632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마케팅에서의 활용 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5031" y="2048256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Brand Guide 연결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브랜드 톤·금칙어 기준으로 카피 자동 검수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SEO 데이터 연결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GSC·GA4 기반 트래픽 하락 원인 분석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CRM 연결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리드 세그먼트별 메시지 자동 생성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069080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069080"/>
            <a:ext cx="64008" cy="2350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4215384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226356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5958" y="4197096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도입 판단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617720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지금은 불필요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개인 실습, 공개 자료 기반 → 범용 AI로 충분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검토 시작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같은 사내 자료를 반복해서 붙여넣고 있다면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4338CA"/>
                </a:solidFill>
                <a:latin typeface="맑은 고딕"/>
                <a:ea typeface="맑은 고딕"/>
              </a:rPr>
              <a:t>필수 선행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고객정보·매출 데이터라면 권한·로그·승인 체계 먼저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4069080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4069080"/>
            <a:ext cx="64008" cy="2350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215384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226356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4605" y="4197096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개발 리소스가 없다면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5031" y="4617720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Notion·Google Drive·Slack 등 기본 제공 커넥터부터 시작.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'AI가 접근하면 좋은 데이터 10개' 목록 만들기가 첫 단추.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각 데이터의 민감도·담당자·연결 허용 여부를 표로 정리.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보안 판단 기준 — 어떤 데이터를 어디까지 넣어도 되는가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5회차 · 실무 AI 마케팅 워크플로우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07007"/>
          <a:ext cx="11057838" cy="215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2129"/>
                <a:gridCol w="6305709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상황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권장</a:t>
                      </a:r>
                    </a:p>
                  </a:txBody>
                  <a:tcPr anchor="ctr" marL="100584" marR="91440" marT="41148" marB="41148">
                    <a:solidFill>
                      <a:srgbClr val="4338C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개인 실습, 공개 자료 기반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MCP 없이 ChatGPT/Gemini/Claude/Perplexity로 충분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반복적으로 같은 사내 자료를 붙여넣음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커넥터 또는 MCP 검토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여러 AI 도구에서 같은 데이터/도구를 쓰고 싶음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MCP 적합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고객 개인정보/매출/계약 데이터 포함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권한, 로그, 비식별화, 승인 체계 먼저 — 그 전엔 입력 금지</a:t>
                      </a:r>
                    </a:p>
                  </a:txBody>
                  <a:tcPr anchor="ctr" marL="100584" marR="91440" marT="41148" marB="41148"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개발 리소스 없음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Notion/Google Drive/Slack 등 기본 커넥터부터 시작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4338CA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원칙: '이 데이터가 외부에 공개되면 사고인가?'에 예라면, 일반 AI 채팅창에 넣지 않는다.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실습 (20분): 내 반복 업무 1개, AI 워크플로우로 재설계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5회차 · 실무 AI 마케팅 워크플로우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5"/>
            <a:ext cx="10607040" cy="4709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STEP 1 — 매주 반복하는 업무 중 '시간을 가장 많이 먹는 것' 1개 선택 (3분)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예: 주간 성과 보고, 소셜 콘텐츠 기획, 경쟁사 모니터링, 리뷰 답변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STEP 2 — 업무를 4~6단계로 쪼개고, 단계마다 AI/사람 역할 배분 (7분)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각 단계: 입력(무엇을 넣나) → 처리(AI가 하나, 사람이 하나) → 출력(무엇이 나오나) → 검수(누가 확인하나)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STEP 3 — AI 담당 단계의 프롬프트를 실제로 작성하고 1회 실행 (10분)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오늘 배운 3개 워크플로우 프롬프트를 변형해서 사용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4338CA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자동화의 목적은 시간 절약이 아니라 '절약한 시간을 판단·실험에 재투자'하는 것입니다.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오늘의 핵심 3줄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5회차 · 실무 AI 마케팅 워크플로우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5"/>
            <a:ext cx="10607040" cy="4709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700" b="1" i="0">
                <a:solidFill>
                  <a:srgbClr val="111927"/>
                </a:solidFill>
                <a:latin typeface="맑은 고딕"/>
                <a:ea typeface="맑은 고딕"/>
              </a:rPr>
              <a:t>① 초안은 AI, 판단은 사람, 근거는 데이터 — 경계선을 문서로 만들어라.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700" b="1" i="0">
                <a:solidFill>
                  <a:srgbClr val="111927"/>
                </a:solidFill>
                <a:latin typeface="맑은 고딕"/>
                <a:ea typeface="맑은 고딕"/>
              </a:rPr>
              <a:t>② 툴 수집이 아니라 워크플로우 설계가 실력이다 — 단계·역할·검수를 정의하라.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700" b="1" i="0">
                <a:solidFill>
                  <a:srgbClr val="111927"/>
                </a:solidFill>
                <a:latin typeface="맑은 고딕"/>
                <a:ea typeface="맑은 고딕"/>
              </a:rPr>
              <a:t>③ 프롬프트의 다음 단계는 연결이다 — 단, 민감 데이터는 체계 없이 절대 넣지 않는다.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이번 주 미션 안내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AI 시대 마케팅, 누가 살아남을까? — 6주 실무 스터디   |   5회차 · 실무 AI 마케팅 워크플로우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5"/>
            <a:ext cx="10607040" cy="4709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600" b="1" i="0">
                <a:solidFill>
                  <a:srgbClr val="111927"/>
                </a:solidFill>
                <a:latin typeface="맑은 고딕"/>
                <a:ea typeface="맑은 고딕"/>
              </a:rPr>
              <a:t>미션: 자신의 반복 업무 하나를 AI 워크플로우로 바꾸고, 단계별 프롬프트를 만들어라.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업무 개요: 무엇을, 얼마나 자주, 지금은 몇 분 걸리는가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단계 설계표: 단계 / 입력 / AI·사람 역할 / 프롬프트 / 검수 포인트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실행 증거: 실제로 1회 돌려본 결과물 + 걸린 시간 비교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실패 기록도 제출 대상 — '어디서 AI가 못 미더웠나'가 가장 값진 데이터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4338CA"/>
                </a:solidFill>
                <a:latin typeface="맑은 고딕"/>
                <a:ea typeface="맑은 고딕"/>
              </a:rPr>
              <a:t>■  </a:t>
            </a:r>
            <a:r>
              <a:rPr sz="1550" b="0" i="0">
                <a:solidFill>
                  <a:srgbClr val="2563EB"/>
                </a:solidFill>
                <a:latin typeface="맑은 고딕"/>
                <a:ea typeface="맑은 고딕"/>
              </a:rPr>
              <a:t>다음 회차 예고(최종회): 살아남는 마케터의 2~3년 준비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1~5회차 산출물을 모두 모아오세요. 포트폴리오로 패키징합니다.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