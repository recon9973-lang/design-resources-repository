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1554480"/>
            <a:ext cx="12801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2121408"/>
            <a:ext cx="2194560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688336"/>
            <a:ext cx="17373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3255263"/>
            <a:ext cx="2743200" cy="310896"/>
          </a:xfrm>
          <a:prstGeom prst="rect">
            <a:avLst/>
          </a:prstGeom>
          <a:solidFill>
            <a:srgbClr val="4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3822191"/>
            <a:ext cx="201168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463039"/>
            <a:ext cx="18288" cy="29260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96596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 spc="120">
                <a:solidFill>
                  <a:srgbClr val="4FB2E5"/>
                </a:solidFill>
                <a:latin typeface="Arial"/>
                <a:ea typeface="Noto Sans CJK KR"/>
              </a:rPr>
              <a:t>AI 시대 마케팅, 누가 살아남을까? — 6주 실무 스터디  |  6회차 (최종회)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Noto Sans CJK KR"/>
              </a:rPr>
              <a:t>살아남는 마케터의 2~3년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09160"/>
            <a:ext cx="7955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핵심 질문: AI가 대체하기 어려운 역량과 포트폴리오는 무엇인가?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144768"/>
            <a:ext cx="11368735" cy="0"/>
          </a:xfrm>
          <a:prstGeom prst="line">
            <a:avLst/>
          </a:prstGeom>
          <a:ln w="9525">
            <a:solidFill>
              <a:srgbClr val="1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236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8DA0BC"/>
                </a:solidFill>
                <a:latin typeface="Arial"/>
                <a:ea typeface="Noto Sans CJK KR"/>
              </a:rPr>
              <a:t>실무 마케터 초중급 · 주 1회 2시간 · 기준일 2026-07-03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735" y="6236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0" i="0">
                <a:solidFill>
                  <a:srgbClr val="6E82A0"/>
                </a:solidFill>
                <a:latin typeface="Arial"/>
                <a:ea typeface="Noto Sans CJK KR"/>
              </a:rPr>
              <a:t>AI Marketing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 수업이 끝나면, 여러분은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사라지는 업무와 남는 업무를 구분하고, 내 업무 목록을 재배치할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AI 시대에도 남는 7가지 역량을 '포트폴리오 증거'와 함께 설계할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개인·팀의 2~3년 로드맵과 30일 실행 계획을 완성한다.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개인/팀 AI 마케팅 로드맵 + 30일 실행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흐름 (120분)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698"/>
                <a:gridCol w="7287650"/>
                <a:gridCol w="2526385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내용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방식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0~20분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5주간 산출물 리뷰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발표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20~45분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사라지는 업무와 남는 업무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 + 토론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45~65분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2026~2029 마케팅 변화 시나리오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65~90분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개인 역량 로드맵 작성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개인 실습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90~110분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팀/조직 적용 로드맵 작성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그룹 실습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110~120분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마무리: 30일 실행 계획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작성 + 선언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사라지는 업무 vs 남는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5565495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63040"/>
            <a:ext cx="5565495" cy="45720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AI가 흡수하는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66544"/>
            <a:ext cx="5163159" cy="360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E04E5E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단순 카피 대량 생산 (배리에이션 찍어내기)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E04E5E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키워드 나열형 검색 최적화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E04E5E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숫자 나열형 리포트 작성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E04E5E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템플릿 반복형 소재 제작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공통점: 입력과 출력의 규칙이 명확한 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4719" y="1463040"/>
            <a:ext cx="5565495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1463040"/>
            <a:ext cx="5565495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사람에게 남는(더 커지는) 업무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066544"/>
            <a:ext cx="5163159" cy="360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4CAF50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고객의 질문을 정의하는 일 (무엇을 물을지 아는 것)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4CAF50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AI 결과의 오류·과장·법적 리스크를 잡는 판단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4CAF50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AI가 인용할 근거 자산을 만드는 일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4CAF50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실험을 설계하고 성과를 해석해 방향을 정하는 일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공통점: 맥락·책임·취향이 필요한 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위험한 것은 직업이 아니라 업무 구성입니다. 왼쪽 비중이 80%라면 지금부터 오른쪽으로 옮겨야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AI 시대에도 남는 마케터 역량 7 — 증거 없는 역량은 없다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129"/>
                <a:gridCol w="4979693"/>
                <a:gridCol w="4509911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역량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설명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포트폴리오 증거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문제 정의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AI에게 시킬 일을 정확히 정의한다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리서치 브리프, 고객 인사이트 문서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판단력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결과의 오류, 과장, 법적 리스크를 잡는다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검수 체크리스트, 수정 전후 비교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도메인 전문성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업계 맥락과 고객 언어를 안다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카테고리별 질문 지도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실험 설계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가설, 변수, KPI를 설계한다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A/B 테스트 리포트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데이터 해석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숫자를 액션으로 바꾼다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월간 성과 분석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콘텐츠 구조화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검색·AI·전환에 맞게 정보를 설계한다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SEO/AEO/GEO 리라이트 사례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브랜드 감각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AI의 '평균적 결과물'을 브랜드답게 바꾼다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톤앤매너 가이드, 캠페인 사례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지난 5주의 산출물이 이미 이 표의 증거들입니다 — 진단표(문제 정의), 체크리스트(판단력), 리라이트(구조화), 로그(실험).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2026~2029 변화 시나리오 — 무엇에 베팅할 것인가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AI 에이전트가 '운영'을 흡수한다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리서치·리포팅·소재 제작의 상당 부분이 에이전트 워크플로우로 이동 (Microsoft Work Trend Index: 인간+에이전트 하이브리드 팀)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발견 경로는 계속 분화한다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검색·AI 답변·커뮤니티·숏폼이 얽힌 멀티 터치 — 단일 채널 KPI의 의미가 약해짐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'질문 데이터'가 자산이 된다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특정 산업·고객군의 질문 지도를 가진 마케터/조직이 콘텐츠와 제품 방향을 선점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많은 조직이 아직 파일럿 단계다 (McKinsey State of AI)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1F6FA8"/>
                </a:solidFill>
                <a:latin typeface="Arial"/>
                <a:ea typeface="Noto Sans CJK KR"/>
              </a:rPr>
              <a:t>= 지금 워크플로우와 측정 체계를 만드는 사람이 조직의 표준을 정하게 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2~3년 준비 로드맵 — 개인과 조직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303"/>
                <a:gridCol w="4979693"/>
                <a:gridCol w="4885737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기간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개인 마케터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팀/조직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0~3개월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검색 가시성 측정, 프롬프트 로그, SEO 기본 점검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사용 가이드, 보안/저작권 기준, 공통 템플릿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3~6개월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대표 콘텐츠 10개 리라이트, 자동화 워크플로우 3개 구축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콘텐츠 운영 프로세스에 AI 검수/출처 확인 포함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6~12개월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검색·AI·커뮤니티 통합 KPI 운영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CRM/GA/GSC/광고 데이터 연결, 실험 문화 구축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1~2년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특정 산업/고객군의 질문 데이터 자산화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에이전트 기반 리서치/리포팅/콘텐츠 운영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2~3년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전략가형 마케터로 전환: 문제 정의, 실험, 판단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AI가 운영을 맡고 사람이 전략·브랜드·윤리를 책임지는 구조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툴 스택을 계속 갱신하는 법 — 6주 이후의 자기 학습 시스템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특정 툴 지식은 6개월이면 낡습니다. 남는 것은 '갱신하는 습관'입니다.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444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공식 문서 우선의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새 기능·정책은 벤더 공식 문서/블로그에서 먼저 확인.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인플루언서의 '충격적인 AI 검색 비밀'류는 공식 문서와 교차 검증.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북마크: Google Search Central, OpenAI, Anthropic, 네이버 서치어드바이저.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월 1회 툴 리뷰 (팀 루틴)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매월 마지막 주, 30분: 새로 나온 기능 중 우리 업무에 쓸 것 1개만 채택.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채택 기준: 기존 워크플로우의 어느 단계를 대체/개선하는가.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'신기함'은 채택 사유가 아니다.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444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프롬프트 자산화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잘 작동한 프롬프트는 팀 공유 시트에 버전과 함께 저장.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프롬프트마다 용도·입력·주의사항·최종 수정일 기록.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이 시트가 팀의 '레시피북'이자 온보딩 자료가 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6431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79311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1395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측정 루틴 유지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9311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AI 검색 가시성 로그는 주간 15분으로 계속.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분기마다 KPI 리포트로 요약 — 경영진 보고 자료가 된다.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측정을 멈추면 6주간의 자산이 스냅샷으로 끝난다.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① (25분): 개인 역량 로드맵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1 — 역량 7개 중 '현재 강점 2개'와 '6개월 내 보강 2개'를 고른다 (5분)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2 — 보강 역량마다 '증거가 될 산출물'을 정의한다 (10분)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나쁜 예: "데이터 해석 공부하기" / 좋은 예: "월간 성과 분석 리포트를 3개월 연속 발행"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3 — 0~3개월 / 3~6개월 / 6~12개월 칸에 배치한다 (10분)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각 기간에 산출물 2개 이하 — 많으면 아무것도 안 나온다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② (20분): 팀/조직 적용 로드맵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같은 회사/비슷한 업종끼리 그룹을 만들어 작성합니다.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0~3개월: AI 사용 가이드 초안 — 써도 되는 데이터/안 되는 데이터, 검수 책임자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3~6개월: 콘텐츠 프로세스에 AI 검수·출처 확인 단계 삽입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6~12개월: 데이터 연결(GA/GSC/CRM)과 실험 문화 — 무엇부터 연결할까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발표: 그룹별 '조직에 가장 먼저 제안할 1가지'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월요일에 상사에게 보낼 수 있는 수준으로 구체화하는 것이 목표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최종 과제: 30일 실행 계획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이 6칸을 채워 제출하면 과정 수료입니다. 4주 후 팔로업 세션에서 결과를 확인합니다.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11368735" cy="400507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11368735" cy="31089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792224"/>
            <a:ext cx="10362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FA8CC"/>
                </a:solidFill>
                <a:latin typeface="Arial"/>
                <a:ea typeface="Noto Sans CJK KR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49424"/>
            <a:ext cx="10820095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1. 이번 달에 고칠 콘텐츠 3개: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2. 새로 만들 질문형 콘텐츠 3개: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3. 매주 추적할 AI 검색 프롬프트 10개: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4. 업무 자동화할 반복 작업 1개: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5. 팀에 공유할 AI 사용 원칙 5개: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6. 30일 후 확인할 KPI: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작성 기준: 남이 봐도 실행 여부를 판정할 수 있게 (콘텐츠는 URL, KPI는 숫자, 프롬프트는 문장 그대로).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6주의 산출물 = 포트폴리오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여러분이 이미 가진 것들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1회차: AI 검색 가시성 진단표 (문제 정의 능력의 증거)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2회차: SEO 체크리스트와 문제-수정안 (진단·판단 능력의 증거)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3회차: 질문-답변형 콘텐츠 블록 (구조화 능력의 증거)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4회차: GEO 리라이트 전후 비교 + 재측정 로그 (실험·측정 능력의 증거)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5회차: 업무 자동화 워크플로우와 프롬프트 세트 (설계 능력의 증거)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6회차: 개인/팀 로드맵과 30일 계획 (전략 능력의 증거)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이것을 '전후 비교'가 보이는 한 편의 문서로 묶으세요 — 이직·연봉협상·사내 제안 어디에든 통하는 자료입니다.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42432" y="201168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 i="0" spc="100">
                <a:solidFill>
                  <a:srgbClr val="4FB2E5"/>
                </a:solidFill>
                <a:latin typeface="Arial"/>
                <a:ea typeface="Noto Sans CJK KR"/>
              </a:rPr>
              <a:t>마지막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24912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Arial"/>
                <a:ea typeface="Noto Sans CJK KR"/>
              </a:rPr>
              <a:t>AI는 마케터를 대체하지 않는다.
AI를 다루는 마케터가
다루지 못하는 마케터를 대체한다.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754880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질문을 정의하고, 근거를 만들고, 실험으로 증명하는 사람은 더 중요해집니다.
6주간의 로그와 산출물이 그 출발점입니다. 측정을 멈추지 마세요.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6E82A0"/>
                </a:solidFill>
                <a:latin typeface="Arial"/>
                <a:ea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계속 공부하고 싶다면 — 추천 자료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303"/>
                <a:gridCol w="4697824"/>
                <a:gridCol w="5167606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구분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자료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왜 보는가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책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Ethan Mollick, Co-Intelligence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AI를 동료처럼 실험하는 관점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책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Marcus Sheridan, They Ask, You Answer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AEO/GEO 시대에도 유효한 질문 기반 콘텐츠 전략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책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April Dunford, Obviously Awesome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답변에 잘 잡히는 포지셔닝과 카테고리 정의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채널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Google Search Central (YouTube/문서)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SEO·AI 검색의 공식 기준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채널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HubSpot Academy / DeepLearning.AI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무료 AI 마케팅·프롬프트 강좌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뉴스레터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One Useful Thing (Ethan Mollick)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업무 적용 실험 사례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국내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네이버 서치어드바이저 / 아이보스 / 오픈애즈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국내 검색·마케팅 실무 사례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