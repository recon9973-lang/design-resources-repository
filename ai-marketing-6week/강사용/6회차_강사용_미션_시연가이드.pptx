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A21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85216" y="1975104"/>
            <a:ext cx="47548" cy="146304"/>
          </a:xfrm>
          <a:prstGeom prst="roundRect">
            <a:avLst>
              <a:gd name="adj" fmla="val 40000"/>
            </a:avLst>
          </a:prstGeom>
          <a:solidFill>
            <a:srgbClr val="FDBA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71168" y="1874520"/>
            <a:ext cx="47548" cy="246888"/>
          </a:xfrm>
          <a:prstGeom prst="roundRect">
            <a:avLst>
              <a:gd name="adj" fmla="val 40000"/>
            </a:avLst>
          </a:prstGeom>
          <a:solidFill>
            <a:srgbClr val="FDBA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57120" y="1938528"/>
            <a:ext cx="47548" cy="182880"/>
          </a:xfrm>
          <a:prstGeom prst="roundRect">
            <a:avLst>
              <a:gd name="adj" fmla="val 40000"/>
            </a:avLst>
          </a:prstGeom>
          <a:solidFill>
            <a:srgbClr val="FDBA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43072" y="1810512"/>
            <a:ext cx="47548" cy="310896"/>
          </a:xfrm>
          <a:prstGeom prst="roundRect">
            <a:avLst>
              <a:gd name="adj" fmla="val 40000"/>
            </a:avLst>
          </a:prstGeom>
          <a:solidFill>
            <a:srgbClr val="FDBA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29024" y="1901952"/>
            <a:ext cx="47548" cy="219456"/>
          </a:xfrm>
          <a:prstGeom prst="roundRect">
            <a:avLst>
              <a:gd name="adj" fmla="val 40000"/>
            </a:avLst>
          </a:prstGeom>
          <a:solidFill>
            <a:srgbClr val="FDBA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014976" y="1847088"/>
            <a:ext cx="47548" cy="274320"/>
          </a:xfrm>
          <a:prstGeom prst="roundRect">
            <a:avLst>
              <a:gd name="adj" fmla="val 40000"/>
            </a:avLst>
          </a:prstGeom>
          <a:solidFill>
            <a:srgbClr val="FDBA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100928" y="1993392"/>
            <a:ext cx="47548" cy="128016"/>
          </a:xfrm>
          <a:prstGeom prst="roundRect">
            <a:avLst>
              <a:gd name="adj" fmla="val 40000"/>
            </a:avLst>
          </a:prstGeom>
          <a:solidFill>
            <a:srgbClr val="FDBA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" y="2231136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450" b="1" i="0" spc="60">
                <a:solidFill>
                  <a:srgbClr val="FDBA74"/>
                </a:solidFill>
                <a:latin typeface="맑은 고딕"/>
                <a:ea typeface="맑은 고딕"/>
              </a:rPr>
              <a:t>AI 시대 마케팅, 누가 살아남을까? — 6주 실무 스터디  |  6회차 강사 가이드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" y="2651760"/>
            <a:ext cx="1097280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900" b="1" i="0">
                <a:solidFill>
                  <a:srgbClr val="FFFFFF"/>
                </a:solidFill>
                <a:latin typeface="맑은 고딕"/>
                <a:ea typeface="맑은 고딕"/>
              </a:rPr>
              <a:t>[강사용] 살아남는 마케터의 2~3년 준비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2648" y="4261104"/>
            <a:ext cx="457200" cy="32004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5216" y="4443984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D5DAE6"/>
                </a:solidFill>
                <a:latin typeface="맑은 고딕"/>
                <a:ea typeface="맑은 고딕"/>
              </a:rPr>
              <a:t>수업 운영 흐름 · 라이브 시연 시나리오 · 수강생 미션 · 평가 기준
핵심 질문: 어떤 역량과 포트폴리오가 남는가?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" y="6089904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0" i="0">
                <a:solidFill>
                  <a:srgbClr val="B7A99E"/>
                </a:solidFill>
                <a:latin typeface="맑은 고딕"/>
                <a:ea typeface="맑은 고딕"/>
              </a:rPr>
              <a:t>이 문서는 강사 전용입니다. 수강생 배포 금지 · 기준일 2026-07-03 · 링크는 수업 전날 접속 확인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728655" y="548640"/>
            <a:ext cx="896112" cy="402336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FDBA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728655" y="548640"/>
            <a:ext cx="896112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250" b="1" i="0" spc="50">
                <a:solidFill>
                  <a:srgbClr val="FDBA74"/>
                </a:solidFill>
                <a:latin typeface="맑은 고딕"/>
                <a:ea typeface="맑은 고딕"/>
              </a:rPr>
              <a:t>강사용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66928" y="457200"/>
            <a:ext cx="82296" cy="457200"/>
          </a:xfrm>
          <a:prstGeom prst="roundRect">
            <a:avLst>
              <a:gd name="adj" fmla="val 50000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" y="384048"/>
            <a:ext cx="91440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200" b="1" i="0">
                <a:solidFill>
                  <a:srgbClr val="111927"/>
                </a:solidFill>
                <a:latin typeface="맑은 고딕"/>
                <a:ea typeface="맑은 고딕"/>
              </a:rPr>
              <a:t>운영 타임라인 × 시연 매핑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842955" y="475488"/>
            <a:ext cx="781812" cy="274320"/>
          </a:xfrm>
          <a:prstGeom prst="roundRect">
            <a:avLst>
              <a:gd name="adj" fmla="val 50000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842955" y="486460"/>
            <a:ext cx="781812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100" b="1" i="0" spc="20">
                <a:solidFill>
                  <a:srgbClr val="FFFFFF"/>
                </a:solidFill>
                <a:latin typeface="맑은 고딕"/>
                <a:ea typeface="맑은 고딕"/>
              </a:rPr>
              <a:t>강사용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6547104"/>
            <a:ext cx="182880" cy="25603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8" y="6446520"/>
            <a:ext cx="11057839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00" b="0" i="0">
                <a:solidFill>
                  <a:srgbClr val="9AA4B2"/>
                </a:solidFill>
                <a:latin typeface="맑은 고딕"/>
                <a:ea typeface="맑은 고딕"/>
              </a:rPr>
              <a:t>[강사용] AI 시대 마케팅, 누가 살아남을까? — 6주 실무 스터디   |   6회차 · 살아남는 마케터의 2~3년 준비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66928" y="1207007"/>
          <a:ext cx="11057838" cy="25247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79419"/>
                <a:gridCol w="4934903"/>
                <a:gridCol w="4843516"/>
              </a:tblGrid>
              <a:tr h="3302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시간</a:t>
                      </a:r>
                    </a:p>
                  </a:txBody>
                  <a:tcPr anchor="ctr" marL="100584" marR="91440" marT="41148" marB="41148">
                    <a:solidFill>
                      <a:srgbClr val="C2410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내용</a:t>
                      </a:r>
                    </a:p>
                  </a:txBody>
                  <a:tcPr anchor="ctr" marL="100584" marR="91440" marT="41148" marB="41148">
                    <a:solidFill>
                      <a:srgbClr val="C2410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시연/활동</a:t>
                      </a:r>
                    </a:p>
                  </a:txBody>
                  <a:tcPr anchor="ctr" marL="100584" marR="91440" marT="41148" marB="41148">
                    <a:solidFill>
                      <a:srgbClr val="C2410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00" b="1" i="0">
                          <a:solidFill>
                            <a:srgbClr val="111927"/>
                          </a:solidFill>
                          <a:latin typeface="맑은 고딕"/>
                          <a:ea typeface="맑은 고딕"/>
                        </a:rPr>
                        <a:t>0~20분</a:t>
                      </a:r>
                    </a:p>
                  </a:txBody>
                  <a:tcPr anchor="ctr" marL="100584" marR="91440" marT="41148" marB="4114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5주간 산출물 리뷰</a:t>
                      </a:r>
                    </a:p>
                  </a:txBody>
                  <a:tcPr anchor="ctr" marL="100584" marR="91440" marT="41148" marB="4114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D1 라이브 시연 (수강생 전후 비교 갤러리)</a:t>
                      </a:r>
                    </a:p>
                  </a:txBody>
                  <a:tcPr anchor="ctr" marL="100584" marR="91440" marT="41148" marB="41148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00" b="1" i="0">
                          <a:solidFill>
                            <a:srgbClr val="111927"/>
                          </a:solidFill>
                          <a:latin typeface="맑은 고딕"/>
                          <a:ea typeface="맑은 고딕"/>
                        </a:rPr>
                        <a:t>20~45분</a:t>
                      </a:r>
                    </a:p>
                  </a:txBody>
                  <a:tcPr anchor="ctr" marL="100584" marR="91440" marT="41148" marB="41148">
                    <a:solidFill>
                      <a:srgbClr val="FBED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사라지는 업무와 남는 업무</a:t>
                      </a:r>
                    </a:p>
                  </a:txBody>
                  <a:tcPr anchor="ctr" marL="100584" marR="91440" marT="41148" marB="41148">
                    <a:solidFill>
                      <a:srgbClr val="FBED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D2 웹검색 (채용공고 라이브) + 토론</a:t>
                      </a:r>
                    </a:p>
                  </a:txBody>
                  <a:tcPr anchor="ctr" marL="100584" marR="91440" marT="41148" marB="41148">
                    <a:solidFill>
                      <a:srgbClr val="FBEDE4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00" b="1" i="0">
                          <a:solidFill>
                            <a:srgbClr val="111927"/>
                          </a:solidFill>
                          <a:latin typeface="맑은 고딕"/>
                          <a:ea typeface="맑은 고딕"/>
                        </a:rPr>
                        <a:t>45~65분</a:t>
                      </a:r>
                    </a:p>
                  </a:txBody>
                  <a:tcPr anchor="ctr" marL="100584" marR="91440" marT="41148" marB="4114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2026~2029 변화 시나리오</a:t>
                      </a:r>
                    </a:p>
                  </a:txBody>
                  <a:tcPr anchor="ctr" marL="100584" marR="91440" marT="41148" marB="4114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D3 사이트 + D5 뉴스</a:t>
                      </a:r>
                    </a:p>
                  </a:txBody>
                  <a:tcPr anchor="ctr" marL="100584" marR="91440" marT="41148" marB="41148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00" b="1" i="0">
                          <a:solidFill>
                            <a:srgbClr val="111927"/>
                          </a:solidFill>
                          <a:latin typeface="맑은 고딕"/>
                          <a:ea typeface="맑은 고딕"/>
                        </a:rPr>
                        <a:t>65~90분</a:t>
                      </a:r>
                    </a:p>
                  </a:txBody>
                  <a:tcPr anchor="ctr" marL="100584" marR="91440" marT="41148" marB="41148">
                    <a:solidFill>
                      <a:srgbClr val="FBED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개인 역량 로드맵 작성</a:t>
                      </a:r>
                    </a:p>
                  </a:txBody>
                  <a:tcPr anchor="ctr" marL="100584" marR="91440" marT="41148" marB="41148">
                    <a:solidFill>
                      <a:srgbClr val="FBED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양식 배포, 강사 1:1 순회</a:t>
                      </a:r>
                    </a:p>
                  </a:txBody>
                  <a:tcPr anchor="ctr" marL="100584" marR="91440" marT="41148" marB="41148">
                    <a:solidFill>
                      <a:srgbClr val="FBEDE4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00" b="1" i="0">
                          <a:solidFill>
                            <a:srgbClr val="111927"/>
                          </a:solidFill>
                          <a:latin typeface="맑은 고딕"/>
                          <a:ea typeface="맑은 고딕"/>
                        </a:rPr>
                        <a:t>90~110분</a:t>
                      </a:r>
                    </a:p>
                  </a:txBody>
                  <a:tcPr anchor="ctr" marL="100584" marR="91440" marT="41148" marB="4114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팀/조직 적용 로드맵</a:t>
                      </a:r>
                    </a:p>
                  </a:txBody>
                  <a:tcPr anchor="ctr" marL="100584" marR="91440" marT="41148" marB="4114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그룹 작성 + 발표</a:t>
                      </a:r>
                    </a:p>
                  </a:txBody>
                  <a:tcPr anchor="ctr" marL="100584" marR="91440" marT="41148" marB="41148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00" b="1" i="0">
                          <a:solidFill>
                            <a:srgbClr val="111927"/>
                          </a:solidFill>
                          <a:latin typeface="맑은 고딕"/>
                          <a:ea typeface="맑은 고딕"/>
                        </a:rPr>
                        <a:t>110~120분</a:t>
                      </a:r>
                    </a:p>
                  </a:txBody>
                  <a:tcPr anchor="ctr" marL="100584" marR="91440" marT="41148" marB="41148">
                    <a:solidFill>
                      <a:srgbClr val="FBED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마무리: 30일 실행 계획</a:t>
                      </a:r>
                    </a:p>
                  </a:txBody>
                  <a:tcPr anchor="ctr" marL="100584" marR="91440" marT="41148" marB="41148">
                    <a:solidFill>
                      <a:srgbClr val="FBED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작성 → 공개 선언 → 팔로업 일정 공지</a:t>
                      </a:r>
                    </a:p>
                  </a:txBody>
                  <a:tcPr anchor="ctr" marL="100584" marR="91440" marT="41148" marB="41148">
                    <a:solidFill>
                      <a:srgbClr val="FBEDE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66928" y="457200"/>
            <a:ext cx="82296" cy="457200"/>
          </a:xfrm>
          <a:prstGeom prst="roundRect">
            <a:avLst>
              <a:gd name="adj" fmla="val 50000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" y="384048"/>
            <a:ext cx="91440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200" b="1" i="0">
                <a:solidFill>
                  <a:srgbClr val="111927"/>
                </a:solidFill>
                <a:latin typeface="맑은 고딕"/>
                <a:ea typeface="맑은 고딕"/>
              </a:rPr>
              <a:t>라이브 시연 시나리오 ① (D1~D3)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842955" y="475488"/>
            <a:ext cx="781812" cy="274320"/>
          </a:xfrm>
          <a:prstGeom prst="roundRect">
            <a:avLst>
              <a:gd name="adj" fmla="val 50000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842955" y="486460"/>
            <a:ext cx="781812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100" b="1" i="0" spc="20">
                <a:solidFill>
                  <a:srgbClr val="FFFFFF"/>
                </a:solidFill>
                <a:latin typeface="맑은 고딕"/>
                <a:ea typeface="맑은 고딕"/>
              </a:rPr>
              <a:t>강사용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3816" y="932688"/>
            <a:ext cx="10424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6B7280"/>
                </a:solidFill>
                <a:latin typeface="맑은 고딕"/>
                <a:ea typeface="맑은 고딕"/>
              </a:rPr>
              <a:t>유형 태그로 화면을 구분하고, '검색/링크'는 그대로 입력, '멘트'는 그 자리에서 말할 문장입니다.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6547104"/>
            <a:ext cx="182880" cy="25603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6446520"/>
            <a:ext cx="11057839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00" b="0" i="0">
                <a:solidFill>
                  <a:srgbClr val="9AA4B2"/>
                </a:solidFill>
                <a:latin typeface="맑은 고딕"/>
                <a:ea typeface="맑은 고딕"/>
              </a:rPr>
              <a:t>[강사용] AI 시대 마케팅, 누가 살아남을까? — 6주 실무 스터디   |   6회차 · 살아남는 마케터의 2~3년 준비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1517904"/>
            <a:ext cx="11057839" cy="1511808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E3E8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1517904"/>
            <a:ext cx="82296" cy="151180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1664208"/>
            <a:ext cx="1371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111927"/>
                </a:solidFill>
                <a:latin typeface="맑은 고딕"/>
                <a:ea typeface="맑은 고딕"/>
              </a:rPr>
              <a:t>D1 · 0~20분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2" y="2609088"/>
            <a:ext cx="943660" cy="27432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2620060"/>
            <a:ext cx="9436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00" b="1" i="0" spc="20">
                <a:solidFill>
                  <a:srgbClr val="FFFFFF"/>
                </a:solidFill>
                <a:latin typeface="맑은 고딕"/>
                <a:ea typeface="맑은 고딕"/>
              </a:rPr>
              <a:t>라이브 시연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212848" y="1664208"/>
            <a:ext cx="12801" cy="1219200"/>
          </a:xfrm>
          <a:prstGeom prst="rect">
            <a:avLst/>
          </a:prstGeom>
          <a:solidFill>
            <a:srgbClr val="E3E8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414016" y="1636776"/>
            <a:ext cx="900958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300" b="1" i="0">
                <a:solidFill>
                  <a:srgbClr val="111927"/>
                </a:solidFill>
                <a:latin typeface="맑은 고딕"/>
                <a:ea typeface="맑은 고딕"/>
              </a:rPr>
              <a:t>수강생 산출물 전후 비교 갤러리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414016" y="2002536"/>
            <a:ext cx="9009583" cy="402336"/>
          </a:xfrm>
          <a:prstGeom prst="roundRect">
            <a:avLst>
              <a:gd name="adj" fmla="val 14000"/>
            </a:avLst>
          </a:prstGeom>
          <a:solidFill>
            <a:srgbClr val="FBED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542032" y="2020824"/>
            <a:ext cx="8753551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1" i="0" spc="30">
                <a:solidFill>
                  <a:srgbClr val="C2410C"/>
                </a:solidFill>
                <a:latin typeface="맑은 고딕"/>
                <a:ea typeface="맑은 고딕"/>
              </a:rPr>
              <a:t>검색/링크   </a:t>
            </a:r>
            <a:r>
              <a:rPr sz="1000" b="0" i="0">
                <a:solidFill>
                  <a:srgbClr val="374151"/>
                </a:solidFill>
                <a:latin typeface="Consolas"/>
                <a:ea typeface="맑은 고딕"/>
              </a:rPr>
              <a:t>1회차 진단표 vs 4회차 재테스트 로그를   나란히 화면에 (사전 동의 받은 2~3명)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414016" y="2487168"/>
            <a:ext cx="9009583" cy="469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000" b="1" i="0" spc="30">
                <a:solidFill>
                  <a:srgbClr val="7C3AED"/>
                </a:solidFill>
                <a:latin typeface="맑은 고딕"/>
                <a:ea typeface="맑은 고딕"/>
              </a:rPr>
              <a:t>멘트   </a:t>
            </a:r>
            <a:r>
              <a:rPr sz="1100" b="0" i="0">
                <a:solidFill>
                  <a:srgbClr val="374151"/>
                </a:solidFill>
                <a:latin typeface="맑은 고딕"/>
                <a:ea typeface="맑은 고딕"/>
              </a:rPr>
              <a:t>"5주 전 여러분은 이 질문에 답을 못 했습니다." 성장을 눈으로 확인시키는 오프닝 — 최종회 몰입의 핵심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3212592"/>
            <a:ext cx="11057839" cy="1511808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E3E8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66928" y="3212592"/>
            <a:ext cx="82296" cy="151180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3358896"/>
            <a:ext cx="1371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111927"/>
                </a:solidFill>
                <a:latin typeface="맑은 고딕"/>
                <a:ea typeface="맑은 고딕"/>
              </a:rPr>
              <a:t>D2 · 20~45분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4672" y="4303776"/>
            <a:ext cx="581558" cy="27432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4672" y="4314748"/>
            <a:ext cx="58155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00" b="1" i="0" spc="20">
                <a:solidFill>
                  <a:srgbClr val="FFFFFF"/>
                </a:solidFill>
                <a:latin typeface="맑은 고딕"/>
                <a:ea typeface="맑은 고딕"/>
              </a:rPr>
              <a:t>웹검색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212848" y="3358896"/>
            <a:ext cx="12801" cy="1219200"/>
          </a:xfrm>
          <a:prstGeom prst="rect">
            <a:avLst/>
          </a:prstGeom>
          <a:solidFill>
            <a:srgbClr val="E3E8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414016" y="3331464"/>
            <a:ext cx="900958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300" b="1" i="0">
                <a:solidFill>
                  <a:srgbClr val="111927"/>
                </a:solidFill>
                <a:latin typeface="맑은 고딕"/>
                <a:ea typeface="맑은 고딕"/>
              </a:rPr>
              <a:t>채용시장 라이브 확인 (핵심 시연)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414016" y="3697224"/>
            <a:ext cx="9009583" cy="402336"/>
          </a:xfrm>
          <a:prstGeom prst="roundRect">
            <a:avLst>
              <a:gd name="adj" fmla="val 14000"/>
            </a:avLst>
          </a:prstGeom>
          <a:solidFill>
            <a:srgbClr val="FBED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542032" y="3715512"/>
            <a:ext cx="8753551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1" i="0" spc="30">
                <a:solidFill>
                  <a:srgbClr val="C2410C"/>
                </a:solidFill>
                <a:latin typeface="맑은 고딕"/>
                <a:ea typeface="맑은 고딕"/>
              </a:rPr>
              <a:t>검색/링크   </a:t>
            </a:r>
            <a:r>
              <a:rPr sz="1000" b="0" i="0">
                <a:solidFill>
                  <a:srgbClr val="374151"/>
                </a:solidFill>
                <a:latin typeface="Consolas"/>
                <a:ea typeface="맑은 고딕"/>
              </a:rPr>
              <a:t>원티드/링크드인 검색:   "AI 마케터" "콘텐츠 마케터"   → 자격요건·우대사항 정독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414016" y="4181856"/>
            <a:ext cx="9009583" cy="4693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000" b="1" i="0" spc="30">
                <a:solidFill>
                  <a:srgbClr val="2563EB"/>
                </a:solidFill>
                <a:latin typeface="맑은 고딕"/>
                <a:ea typeface="맑은 고딕"/>
              </a:rPr>
              <a:t>멘트   </a:t>
            </a:r>
            <a:r>
              <a:rPr sz="1100" b="0" i="0">
                <a:solidFill>
                  <a:srgbClr val="374151"/>
                </a:solidFill>
                <a:latin typeface="맑은 고딕"/>
                <a:ea typeface="맑은 고딕"/>
              </a:rPr>
              <a:t>우대사항에서 'AI 활용', '데이터 해석', '실험 설계'를 형광펜. "시장이 이미 이 역량에 값을 매기고 있습니다"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66928" y="4907280"/>
            <a:ext cx="11057839" cy="1511808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E3E8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66928" y="4907280"/>
            <a:ext cx="82296" cy="1511808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04672" y="5053584"/>
            <a:ext cx="1371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111927"/>
                </a:solidFill>
                <a:latin typeface="맑은 고딕"/>
                <a:ea typeface="맑은 고딕"/>
              </a:rPr>
              <a:t>D3 · 45~65분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04672" y="5998464"/>
            <a:ext cx="581558" cy="27432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04672" y="6009436"/>
            <a:ext cx="58155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00" b="1" i="0" spc="20">
                <a:solidFill>
                  <a:srgbClr val="FFFFFF"/>
                </a:solidFill>
                <a:latin typeface="맑은 고딕"/>
                <a:ea typeface="맑은 고딕"/>
              </a:rPr>
              <a:t>사이트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212848" y="5053584"/>
            <a:ext cx="12801" cy="1219200"/>
          </a:xfrm>
          <a:prstGeom prst="rect">
            <a:avLst/>
          </a:prstGeom>
          <a:solidFill>
            <a:srgbClr val="E3E8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14016" y="5026152"/>
            <a:ext cx="900958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300" b="1" i="0">
                <a:solidFill>
                  <a:srgbClr val="111927"/>
                </a:solidFill>
                <a:latin typeface="맑은 고딕"/>
                <a:ea typeface="맑은 고딕"/>
              </a:rPr>
              <a:t>미래 근거 자료 2종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414016" y="5391912"/>
            <a:ext cx="9009583" cy="402336"/>
          </a:xfrm>
          <a:prstGeom prst="roundRect">
            <a:avLst>
              <a:gd name="adj" fmla="val 14000"/>
            </a:avLst>
          </a:prstGeom>
          <a:solidFill>
            <a:srgbClr val="FBED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542032" y="5410200"/>
            <a:ext cx="8753551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1" i="0" spc="30">
                <a:solidFill>
                  <a:srgbClr val="C2410C"/>
                </a:solidFill>
                <a:latin typeface="맑은 고딕"/>
                <a:ea typeface="맑은 고딕"/>
              </a:rPr>
              <a:t>검색/링크   </a:t>
            </a:r>
            <a:r>
              <a:rPr sz="1000" b="0" i="0">
                <a:solidFill>
                  <a:srgbClr val="374151"/>
                </a:solidFill>
                <a:latin typeface="Consolas"/>
                <a:ea typeface="맑은 고딕"/>
              </a:rPr>
              <a:t>Microsoft Work Trend Index   (microsoft.com/worklab)   + McKinsey State of AI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414016" y="5876544"/>
            <a:ext cx="9009583" cy="4693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000" b="1" i="0" spc="30">
                <a:solidFill>
                  <a:srgbClr val="0F766E"/>
                </a:solidFill>
                <a:latin typeface="맑은 고딕"/>
                <a:ea typeface="맑은 고딕"/>
              </a:rPr>
              <a:t>멘트   </a:t>
            </a:r>
            <a:r>
              <a:rPr sz="1100" b="0" i="0">
                <a:solidFill>
                  <a:srgbClr val="374151"/>
                </a:solidFill>
                <a:latin typeface="맑은 고딕"/>
                <a:ea typeface="맑은 고딕"/>
              </a:rPr>
              <a:t>"하이브리드 팀(인간+에이전트)이 공식 전망입니다. 에이전트에게 일을 시키는 사람이 될 준비" — 각 1분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66928" y="457200"/>
            <a:ext cx="82296" cy="457200"/>
          </a:xfrm>
          <a:prstGeom prst="roundRect">
            <a:avLst>
              <a:gd name="adj" fmla="val 50000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" y="384048"/>
            <a:ext cx="91440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200" b="1" i="0">
                <a:solidFill>
                  <a:srgbClr val="111927"/>
                </a:solidFill>
                <a:latin typeface="맑은 고딕"/>
                <a:ea typeface="맑은 고딕"/>
              </a:rPr>
              <a:t>라이브 시연 시나리오 ② (D4~D5)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842955" y="475488"/>
            <a:ext cx="781812" cy="274320"/>
          </a:xfrm>
          <a:prstGeom prst="roundRect">
            <a:avLst>
              <a:gd name="adj" fmla="val 50000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842955" y="486460"/>
            <a:ext cx="781812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100" b="1" i="0" spc="20">
                <a:solidFill>
                  <a:srgbClr val="FFFFFF"/>
                </a:solidFill>
                <a:latin typeface="맑은 고딕"/>
                <a:ea typeface="맑은 고딕"/>
              </a:rPr>
              <a:t>강사용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6547104"/>
            <a:ext cx="182880" cy="25603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8" y="6446520"/>
            <a:ext cx="11057839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00" b="0" i="0">
                <a:solidFill>
                  <a:srgbClr val="9AA4B2"/>
                </a:solidFill>
                <a:latin typeface="맑은 고딕"/>
                <a:ea typeface="맑은 고딕"/>
              </a:rPr>
              <a:t>[강사용] AI 시대 마케팅, 누가 살아남을까? — 6주 실무 스터디   |   6회차 · 살아남는 마케터의 2~3년 준비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225295"/>
            <a:ext cx="11057839" cy="2267712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E3E8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225295"/>
            <a:ext cx="82296" cy="2267712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1371599"/>
            <a:ext cx="1371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111927"/>
                </a:solidFill>
                <a:latin typeface="맑은 고딕"/>
                <a:ea typeface="맑은 고딕"/>
              </a:rPr>
              <a:t>D4 · 여유시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" y="3072384"/>
            <a:ext cx="581558" cy="274320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" y="3083356"/>
            <a:ext cx="58155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00" b="1" i="0" spc="20">
                <a:solidFill>
                  <a:srgbClr val="FFFFFF"/>
                </a:solidFill>
                <a:latin typeface="맑은 고딕"/>
                <a:ea typeface="맑은 고딕"/>
              </a:rPr>
              <a:t>유튜브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12848" y="1371599"/>
            <a:ext cx="12801" cy="1975104"/>
          </a:xfrm>
          <a:prstGeom prst="rect">
            <a:avLst/>
          </a:prstGeom>
          <a:solidFill>
            <a:srgbClr val="E3E8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414016" y="1344167"/>
            <a:ext cx="900958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300" b="1" i="0">
                <a:solidFill>
                  <a:srgbClr val="111927"/>
                </a:solidFill>
                <a:latin typeface="맑은 고딕"/>
                <a:ea typeface="맑은 고딕"/>
              </a:rPr>
              <a:t>커리어 관점 보강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414016" y="1709927"/>
            <a:ext cx="9009583" cy="402336"/>
          </a:xfrm>
          <a:prstGeom prst="roundRect">
            <a:avLst>
              <a:gd name="adj" fmla="val 14000"/>
            </a:avLst>
          </a:prstGeom>
          <a:solidFill>
            <a:srgbClr val="FBED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542032" y="1728215"/>
            <a:ext cx="8753551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1" i="0" spc="30">
                <a:solidFill>
                  <a:srgbClr val="C2410C"/>
                </a:solidFill>
                <a:latin typeface="맑은 고딕"/>
                <a:ea typeface="맑은 고딕"/>
              </a:rPr>
              <a:t>검색/링크   </a:t>
            </a:r>
            <a:r>
              <a:rPr sz="1000" b="0" i="0">
                <a:solidFill>
                  <a:srgbClr val="374151"/>
                </a:solidFill>
                <a:latin typeface="Consolas"/>
                <a:ea typeface="맑은 고딕"/>
              </a:rPr>
              <a:t>유튜브 검색: "Ethan Mollick AI work"   또는 oneusefulthing.org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14016" y="2194559"/>
            <a:ext cx="9009583" cy="12252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000" b="1" i="0" spc="30">
                <a:solidFill>
                  <a:srgbClr val="DC2626"/>
                </a:solidFill>
                <a:latin typeface="맑은 고딕"/>
                <a:ea typeface="맑은 고딕"/>
              </a:rPr>
              <a:t>멘트   </a:t>
            </a:r>
            <a:r>
              <a:rPr sz="1100" b="0" i="0">
                <a:solidFill>
                  <a:srgbClr val="374151"/>
                </a:solidFill>
                <a:latin typeface="맑은 고딕"/>
                <a:ea typeface="맑은 고딕"/>
              </a:rPr>
              <a:t>"AI와 일하는 법을 실험으로 검증하는 학자입니다. 졸업 후 구독할 소스로 추천"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3675887"/>
            <a:ext cx="11057839" cy="2267712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E3E8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66928" y="3675887"/>
            <a:ext cx="82296" cy="2267712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4672" y="3822191"/>
            <a:ext cx="1371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111927"/>
                </a:solidFill>
                <a:latin typeface="맑은 고딕"/>
                <a:ea typeface="맑은 고딕"/>
              </a:rPr>
              <a:t>D5 · 45~65분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4672" y="5522976"/>
            <a:ext cx="581558" cy="27432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4672" y="5533948"/>
            <a:ext cx="58155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00" b="1" i="0" spc="20">
                <a:solidFill>
                  <a:srgbClr val="FFFFFF"/>
                </a:solidFill>
                <a:latin typeface="맑은 고딕"/>
                <a:ea typeface="맑은 고딕"/>
              </a:rPr>
              <a:t>뉴스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212848" y="3822191"/>
            <a:ext cx="12801" cy="1975104"/>
          </a:xfrm>
          <a:prstGeom prst="rect">
            <a:avLst/>
          </a:prstGeom>
          <a:solidFill>
            <a:srgbClr val="E3E8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414016" y="3794759"/>
            <a:ext cx="900958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300" b="1" i="0">
                <a:solidFill>
                  <a:srgbClr val="111927"/>
                </a:solidFill>
                <a:latin typeface="맑은 고딕"/>
                <a:ea typeface="맑은 고딕"/>
              </a:rPr>
              <a:t>국내 조직의 AI 도입 사례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414016" y="4160520"/>
            <a:ext cx="9009583" cy="402336"/>
          </a:xfrm>
          <a:prstGeom prst="roundRect">
            <a:avLst>
              <a:gd name="adj" fmla="val 14000"/>
            </a:avLst>
          </a:prstGeom>
          <a:solidFill>
            <a:srgbClr val="FBED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542032" y="4178807"/>
            <a:ext cx="8753551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1" i="0" spc="30">
                <a:solidFill>
                  <a:srgbClr val="C2410C"/>
                </a:solidFill>
                <a:latin typeface="맑은 고딕"/>
                <a:ea typeface="맑은 고딕"/>
              </a:rPr>
              <a:t>검색/링크   </a:t>
            </a:r>
            <a:r>
              <a:rPr sz="1000" b="0" i="0">
                <a:solidFill>
                  <a:srgbClr val="374151"/>
                </a:solidFill>
                <a:latin typeface="Consolas"/>
                <a:ea typeface="맑은 고딕"/>
              </a:rPr>
              <a:t>구글/네이버 뉴스 검색:   "마케팅 조직 AI 도입" "AI 에이전트 업무"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414016" y="4645152"/>
            <a:ext cx="9009583" cy="12252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000" b="1" i="0" spc="30">
                <a:solidFill>
                  <a:srgbClr val="B45309"/>
                </a:solidFill>
                <a:latin typeface="맑은 고딕"/>
                <a:ea typeface="맑은 고딕"/>
              </a:rPr>
              <a:t>멘트   </a:t>
            </a:r>
            <a:r>
              <a:rPr sz="1100" b="0" i="0">
                <a:solidFill>
                  <a:srgbClr val="374151"/>
                </a:solidFill>
                <a:latin typeface="맑은 고딕"/>
                <a:ea typeface="맑은 고딕"/>
              </a:rPr>
              <a:t>최신 국내 사례 1건으로 '먼 이야기가 아님'을 증명. 기사 속 조직의 준비 단계를 로드맵 표와 연결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66928" y="6035040"/>
            <a:ext cx="11057839" cy="420624"/>
          </a:xfrm>
          <a:prstGeom prst="roundRect">
            <a:avLst>
              <a:gd name="adj" fmla="val 22000"/>
            </a:avLst>
          </a:prstGeom>
          <a:solidFill>
            <a:srgbClr val="FBED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66928" y="6035040"/>
            <a:ext cx="68580" cy="420624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86384" y="6035040"/>
            <a:ext cx="10673791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1" i="0" spc="50">
                <a:solidFill>
                  <a:srgbClr val="C2410C"/>
                </a:solidFill>
                <a:latin typeface="맑은 고딕"/>
                <a:ea typeface="맑은 고딕"/>
              </a:rPr>
              <a:t>TIP   </a:t>
            </a:r>
            <a:r>
              <a:rPr sz="1100" b="0" i="0">
                <a:solidFill>
                  <a:srgbClr val="374151"/>
                </a:solidFill>
                <a:latin typeface="맑은 고딕"/>
                <a:ea typeface="맑은 고딕"/>
              </a:rPr>
              <a:t>모든 링크·검색어는 수업 전날 접속·노출을 확인하세요. AI 결과는 시점·계정·지역에 따라 달라집니다.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66928" y="457200"/>
            <a:ext cx="82296" cy="457200"/>
          </a:xfrm>
          <a:prstGeom prst="roundRect">
            <a:avLst>
              <a:gd name="adj" fmla="val 50000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" y="384048"/>
            <a:ext cx="91440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200" b="1" i="0">
                <a:solidFill>
                  <a:srgbClr val="111927"/>
                </a:solidFill>
                <a:latin typeface="맑은 고딕"/>
                <a:ea typeface="맑은 고딕"/>
              </a:rPr>
              <a:t>최종회 운영 포인트 — 강의가 아니라 '전환식'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842955" y="475488"/>
            <a:ext cx="781812" cy="274320"/>
          </a:xfrm>
          <a:prstGeom prst="roundRect">
            <a:avLst>
              <a:gd name="adj" fmla="val 50000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842955" y="486460"/>
            <a:ext cx="781812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100" b="1" i="0" spc="20">
                <a:solidFill>
                  <a:srgbClr val="FFFFFF"/>
                </a:solidFill>
                <a:latin typeface="맑은 고딕"/>
                <a:ea typeface="맑은 고딕"/>
              </a:rPr>
              <a:t>강사용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6547104"/>
            <a:ext cx="182880" cy="25603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8" y="6446520"/>
            <a:ext cx="11057839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00" b="0" i="0">
                <a:solidFill>
                  <a:srgbClr val="9AA4B2"/>
                </a:solidFill>
                <a:latin typeface="맑은 고딕"/>
                <a:ea typeface="맑은 고딕"/>
              </a:rPr>
              <a:t>[강사용] AI 시대 마케팅, 누가 살아남을까? — 6주 실무 스터디   |   6회차 · 살아남는 마케터의 2~3년 준비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207007"/>
            <a:ext cx="5419191" cy="5212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3E8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207007"/>
            <a:ext cx="64008" cy="521208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86384" y="1353311"/>
            <a:ext cx="943660" cy="27432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6384" y="1364283"/>
            <a:ext cx="9436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00" b="1" i="0" spc="20">
                <a:solidFill>
                  <a:srgbClr val="FFFFFF"/>
                </a:solidFill>
                <a:latin typeface="맑은 고딕"/>
                <a:ea typeface="맑은 고딕"/>
              </a:rPr>
              <a:t>라이브 시연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58060" y="1335023"/>
            <a:ext cx="3972611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450" b="1" i="0">
                <a:solidFill>
                  <a:srgbClr val="111927"/>
                </a:solidFill>
                <a:latin typeface="맑은 고딕"/>
                <a:ea typeface="맑은 고딕"/>
              </a:rPr>
              <a:t>30일 계획 공개 선언 (110~120분)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" y="1755647"/>
            <a:ext cx="5035143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350"/>
              </a:spcAft>
            </a:pPr>
            <a:r>
              <a:rPr sz="1150" b="1" i="0">
                <a:solidFill>
                  <a:srgbClr val="C2410C"/>
                </a:solidFill>
                <a:latin typeface="맑은 고딕"/>
                <a:ea typeface="맑은 고딕"/>
              </a:rPr>
              <a:t>방식 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각자 30일 계획 6칸 중 1번(고칠 콘텐츠 3개)만 소리 내어 선언</a:t>
            </a:r>
          </a:p>
          <a:p>
            <a:pPr algn="l">
              <a:lnSpc>
                <a:spcPct val="118000"/>
              </a:lnSpc>
              <a:spcAft>
                <a:spcPts val="350"/>
              </a:spcAft>
            </a:pPr>
            <a:r>
              <a:rPr sz="1150" b="1" i="0">
                <a:solidFill>
                  <a:srgbClr val="C2410C"/>
                </a:solidFill>
                <a:latin typeface="맑은 고딕"/>
                <a:ea typeface="맑은 고딕"/>
              </a:rPr>
              <a:t>이유 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공개 선언은 실행률을 크게 높이는 가장 값싼 장치</a:t>
            </a:r>
          </a:p>
          <a:p>
            <a:pPr algn="l">
              <a:lnSpc>
                <a:spcPct val="118000"/>
              </a:lnSpc>
              <a:spcAft>
                <a:spcPts val="350"/>
              </a:spcAft>
            </a:pPr>
            <a:r>
              <a:rPr sz="1150" b="1" i="0">
                <a:solidFill>
                  <a:srgbClr val="C2410C"/>
                </a:solidFill>
                <a:latin typeface="맑은 고딕"/>
                <a:ea typeface="맑은 고딕"/>
              </a:rPr>
              <a:t>팔로업 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4주 후 온라인 팔로업 세션 일정을 이 자리에서 확정</a:t>
            </a:r>
          </a:p>
          <a:p>
            <a:pPr algn="l">
              <a:lnSpc>
                <a:spcPct val="118000"/>
              </a:lnSpc>
              <a:spcAft>
                <a:spcPts val="350"/>
              </a:spcAft>
            </a:pPr>
            <a:r>
              <a:rPr sz="1150" b="1" i="0">
                <a:solidFill>
                  <a:srgbClr val="C2410C"/>
                </a:solidFill>
                <a:latin typeface="맑은 고딕"/>
                <a:ea typeface="맑은 고딕"/>
              </a:rPr>
              <a:t>팁 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공유 시트에 '30일 후 상태' 열을 만들어 두기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05575" y="1207007"/>
            <a:ext cx="5419191" cy="5212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3E8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05575" y="1207007"/>
            <a:ext cx="64008" cy="5212080"/>
          </a:xfrm>
          <a:prstGeom prst="rect">
            <a:avLst/>
          </a:prstGeom>
          <a:solidFill>
            <a:srgbClr val="BE18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425031" y="1353311"/>
            <a:ext cx="581558" cy="274320"/>
          </a:xfrm>
          <a:prstGeom prst="roundRect">
            <a:avLst>
              <a:gd name="adj" fmla="val 50000"/>
            </a:avLst>
          </a:prstGeom>
          <a:solidFill>
            <a:srgbClr val="BE18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25031" y="1364283"/>
            <a:ext cx="58155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00" b="1" i="0" spc="20">
                <a:solidFill>
                  <a:srgbClr val="FFFFFF"/>
                </a:solidFill>
                <a:latin typeface="맑은 고딕"/>
                <a:ea typeface="맑은 고딕"/>
              </a:rPr>
              <a:t>미션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34605" y="1335023"/>
            <a:ext cx="433471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450" b="1" i="0">
                <a:solidFill>
                  <a:srgbClr val="111927"/>
                </a:solidFill>
                <a:latin typeface="맑은 고딕"/>
                <a:ea typeface="맑은 고딕"/>
              </a:rPr>
              <a:t>포트폴리오 패키징 안내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25031" y="1755647"/>
            <a:ext cx="5035143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350"/>
              </a:spcAft>
            </a:pPr>
            <a:r>
              <a:rPr sz="1150" b="1" i="0">
                <a:solidFill>
                  <a:srgbClr val="C2410C"/>
                </a:solidFill>
                <a:latin typeface="맑은 고딕"/>
                <a:ea typeface="맑은 고딕"/>
              </a:rPr>
              <a:t>구성 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1~6회차 산출물을 '전후 비교' 중심의 문서 1편으로</a:t>
            </a:r>
          </a:p>
          <a:p>
            <a:pPr algn="l">
              <a:lnSpc>
                <a:spcPct val="118000"/>
              </a:lnSpc>
              <a:spcAft>
                <a:spcPts val="350"/>
              </a:spcAft>
            </a:pPr>
            <a:r>
              <a:rPr sz="1150" b="1" i="0">
                <a:solidFill>
                  <a:srgbClr val="C2410C"/>
                </a:solidFill>
                <a:latin typeface="맑은 고딕"/>
                <a:ea typeface="맑은 고딕"/>
              </a:rPr>
              <a:t>템플릿 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문제 정의 → 진단 → 실행 → 측정 → 배운 것 (사례 연구 형식)</a:t>
            </a:r>
          </a:p>
          <a:p>
            <a:pPr algn="l">
              <a:lnSpc>
                <a:spcPct val="118000"/>
              </a:lnSpc>
              <a:spcAft>
                <a:spcPts val="350"/>
              </a:spcAft>
            </a:pPr>
            <a:r>
              <a:rPr sz="1150" b="1" i="0">
                <a:solidFill>
                  <a:srgbClr val="C2410C"/>
                </a:solidFill>
                <a:latin typeface="맑은 고딕"/>
                <a:ea typeface="맑은 고딕"/>
              </a:rPr>
              <a:t>용도 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이직·연봉협상·사내 제안 — 세 용도 모두 같은 문서로 가능</a:t>
            </a:r>
          </a:p>
          <a:p>
            <a:pPr algn="l">
              <a:lnSpc>
                <a:spcPct val="118000"/>
              </a:lnSpc>
              <a:spcAft>
                <a:spcPts val="350"/>
              </a:spcAft>
            </a:pPr>
            <a:r>
              <a:rPr sz="1150" b="1" i="0">
                <a:solidFill>
                  <a:srgbClr val="C2410C"/>
                </a:solidFill>
                <a:latin typeface="맑은 고딕"/>
                <a:ea typeface="맑은 고딕"/>
              </a:rPr>
              <a:t>강조 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"6주간의 로그가 이미 포트폴리오입니다. 묶기만 하세요"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66928" y="457200"/>
            <a:ext cx="82296" cy="457200"/>
          </a:xfrm>
          <a:prstGeom prst="roundRect">
            <a:avLst>
              <a:gd name="adj" fmla="val 50000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" y="384048"/>
            <a:ext cx="91440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200" b="1" i="0">
                <a:solidFill>
                  <a:srgbClr val="111927"/>
                </a:solidFill>
                <a:latin typeface="맑은 고딕"/>
                <a:ea typeface="맑은 고딕"/>
              </a:rPr>
              <a:t>시연 백업 플랜 — 라이브가 실패할 때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842955" y="475488"/>
            <a:ext cx="781812" cy="274320"/>
          </a:xfrm>
          <a:prstGeom prst="roundRect">
            <a:avLst>
              <a:gd name="adj" fmla="val 50000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842955" y="486460"/>
            <a:ext cx="781812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100" b="1" i="0" spc="20">
                <a:solidFill>
                  <a:srgbClr val="FFFFFF"/>
                </a:solidFill>
                <a:latin typeface="맑은 고딕"/>
                <a:ea typeface="맑은 고딕"/>
              </a:rPr>
              <a:t>강사용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3816" y="932688"/>
            <a:ext cx="10424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6B7280"/>
                </a:solidFill>
                <a:latin typeface="맑은 고딕"/>
                <a:ea typeface="맑은 고딕"/>
              </a:rPr>
              <a:t>AI 시연은 반드시 실패를 전제로 준비합니다. 실패 자체가 최고의 교육 소재입니다.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6547104"/>
            <a:ext cx="182880" cy="25603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6446520"/>
            <a:ext cx="11057839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00" b="0" i="0">
                <a:solidFill>
                  <a:srgbClr val="9AA4B2"/>
                </a:solidFill>
                <a:latin typeface="맑은 고딕"/>
                <a:ea typeface="맑은 고딕"/>
              </a:rPr>
              <a:t>[강사용] AI 시대 마케팅, 누가 살아남을까? — 6주 실무 스터디   |   6회차 · 살아남는 마케터의 2~3년 준비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1499616"/>
            <a:ext cx="5419191" cy="23500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3E8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1499616"/>
            <a:ext cx="64008" cy="2350008"/>
          </a:xfrm>
          <a:prstGeom prst="rect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86384" y="1645920"/>
            <a:ext cx="581558" cy="274320"/>
          </a:xfrm>
          <a:prstGeom prst="roundRect">
            <a:avLst>
              <a:gd name="adj" fmla="val 50000"/>
            </a:avLst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6384" y="1656892"/>
            <a:ext cx="58155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00" b="1" i="0" spc="20">
                <a:solidFill>
                  <a:srgbClr val="FFFFFF"/>
                </a:solidFill>
                <a:latin typeface="맑은 고딕"/>
                <a:ea typeface="맑은 고딕"/>
              </a:rPr>
              <a:t>백업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95958" y="1627632"/>
            <a:ext cx="433471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450" b="1" i="0">
                <a:solidFill>
                  <a:srgbClr val="111927"/>
                </a:solidFill>
                <a:latin typeface="맑은 고딕"/>
                <a:ea typeface="맑은 고딕"/>
              </a:rPr>
              <a:t>수업 전날 스크린샷 세트 준비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" y="2048256"/>
            <a:ext cx="5035143" cy="1709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350"/>
              </a:spcAft>
            </a:pPr>
            <a:r>
              <a:rPr sz="1150" b="0" i="0">
                <a:solidFill>
                  <a:srgbClr val="9AA4B2"/>
                </a:solidFill>
                <a:latin typeface="맑은 고딕"/>
                <a:ea typeface="맑은 고딕"/>
              </a:rPr>
              <a:t>·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모든 라이브 시연의 결과 화면을 전날 캡처해 슬라이드 뒤에 붙여둔다.</a:t>
            </a:r>
          </a:p>
          <a:p>
            <a:pPr algn="l">
              <a:lnSpc>
                <a:spcPct val="118000"/>
              </a:lnSpc>
              <a:spcAft>
                <a:spcPts val="350"/>
              </a:spcAft>
            </a:pPr>
            <a:r>
              <a:rPr sz="1150" b="0" i="0">
                <a:solidFill>
                  <a:srgbClr val="9AA4B2"/>
                </a:solidFill>
                <a:latin typeface="맑은 고딕"/>
                <a:ea typeface="맑은 고딕"/>
              </a:rPr>
              <a:t>·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캡처에는 날짜·도구·질문이 함께 보이게 찍는다.</a:t>
            </a:r>
          </a:p>
          <a:p>
            <a:pPr algn="l">
              <a:lnSpc>
                <a:spcPct val="118000"/>
              </a:lnSpc>
              <a:spcAft>
                <a:spcPts val="350"/>
              </a:spcAft>
            </a:pPr>
            <a:r>
              <a:rPr sz="1150" b="0" i="0">
                <a:solidFill>
                  <a:srgbClr val="9AA4B2"/>
                </a:solidFill>
                <a:latin typeface="맑은 고딕"/>
                <a:ea typeface="맑은 고딕"/>
              </a:rPr>
              <a:t>·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네트워크/로그인 장애 시 즉시 스크린샷으로 전환.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05575" y="1499616"/>
            <a:ext cx="5419191" cy="23500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3E8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05575" y="1499616"/>
            <a:ext cx="64008" cy="2350008"/>
          </a:xfrm>
          <a:prstGeom prst="rect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25031" y="1645920"/>
            <a:ext cx="581558" cy="274320"/>
          </a:xfrm>
          <a:prstGeom prst="roundRect">
            <a:avLst>
              <a:gd name="adj" fmla="val 50000"/>
            </a:avLst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25031" y="1656892"/>
            <a:ext cx="58155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00" b="1" i="0" spc="20">
                <a:solidFill>
                  <a:srgbClr val="FFFFFF"/>
                </a:solidFill>
                <a:latin typeface="맑은 고딕"/>
                <a:ea typeface="맑은 고딕"/>
              </a:rPr>
              <a:t>백업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34605" y="1627632"/>
            <a:ext cx="433471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450" b="1" i="0">
                <a:solidFill>
                  <a:srgbClr val="111927"/>
                </a:solidFill>
                <a:latin typeface="맑은 고딕"/>
                <a:ea typeface="맑은 고딕"/>
              </a:rPr>
              <a:t>결과가 어제와 다르게 나올 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25031" y="2048256"/>
            <a:ext cx="5035143" cy="1709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350"/>
              </a:spcAft>
            </a:pPr>
            <a:r>
              <a:rPr sz="1150" b="0" i="0">
                <a:solidFill>
                  <a:srgbClr val="9AA4B2"/>
                </a:solidFill>
                <a:latin typeface="맑은 고딕"/>
                <a:ea typeface="맑은 고딕"/>
              </a:rPr>
              <a:t>·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당황하지 말고 그대로 교육 포인트로 전환:</a:t>
            </a:r>
          </a:p>
          <a:p>
            <a:pPr algn="l">
              <a:lnSpc>
                <a:spcPct val="118000"/>
              </a:lnSpc>
              <a:spcAft>
                <a:spcPts val="350"/>
              </a:spcAft>
            </a:pPr>
            <a:r>
              <a:rPr sz="1150" b="0" i="0">
                <a:solidFill>
                  <a:srgbClr val="9AA4B2"/>
                </a:solidFill>
                <a:latin typeface="맑은 고딕"/>
                <a:ea typeface="맑은 고딕"/>
              </a:rPr>
              <a:t>·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"보세요, 어제는 이렇게 나왔는데 오늘은 다릅니다."</a:t>
            </a:r>
          </a:p>
          <a:p>
            <a:pPr algn="l">
              <a:lnSpc>
                <a:spcPct val="118000"/>
              </a:lnSpc>
              <a:spcAft>
                <a:spcPts val="350"/>
              </a:spcAft>
            </a:pPr>
            <a:r>
              <a:rPr sz="1150" b="0" i="0">
                <a:solidFill>
                  <a:srgbClr val="9AA4B2"/>
                </a:solidFill>
                <a:latin typeface="맑은 고딕"/>
                <a:ea typeface="맑은 고딕"/>
              </a:rPr>
              <a:t>·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"이래서 AI 검색은 1회 확인이 아니라 반복 측정이 필요합니다."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4069080"/>
            <a:ext cx="5419191" cy="23500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3E8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66928" y="4069080"/>
            <a:ext cx="64008" cy="2350008"/>
          </a:xfrm>
          <a:prstGeom prst="rect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86384" y="4215384"/>
            <a:ext cx="581558" cy="274320"/>
          </a:xfrm>
          <a:prstGeom prst="roundRect">
            <a:avLst>
              <a:gd name="adj" fmla="val 50000"/>
            </a:avLst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86384" y="4226356"/>
            <a:ext cx="58155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00" b="1" i="0" spc="20">
                <a:solidFill>
                  <a:srgbClr val="FFFFFF"/>
                </a:solidFill>
                <a:latin typeface="맑은 고딕"/>
                <a:ea typeface="맑은 고딕"/>
              </a:rPr>
              <a:t>백업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95958" y="4197096"/>
            <a:ext cx="433471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450" b="1" i="0">
                <a:solidFill>
                  <a:srgbClr val="111927"/>
                </a:solidFill>
                <a:latin typeface="맑은 고딕"/>
                <a:ea typeface="맑은 고딕"/>
              </a:rPr>
              <a:t>AI Overviews가 안 뜰 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6384" y="4617720"/>
            <a:ext cx="5035143" cy="1709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350"/>
              </a:spcAft>
            </a:pPr>
            <a:r>
              <a:rPr sz="1150" b="0" i="0">
                <a:solidFill>
                  <a:srgbClr val="9AA4B2"/>
                </a:solidFill>
                <a:latin typeface="맑은 고딕"/>
                <a:ea typeface="맑은 고딕"/>
              </a:rPr>
              <a:t>·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지역·계정·언어에 따라 미노출이 정상임을 설명.</a:t>
            </a:r>
          </a:p>
          <a:p>
            <a:pPr algn="l">
              <a:lnSpc>
                <a:spcPct val="118000"/>
              </a:lnSpc>
              <a:spcAft>
                <a:spcPts val="350"/>
              </a:spcAft>
            </a:pPr>
            <a:r>
              <a:rPr sz="1150" b="0" i="0">
                <a:solidFill>
                  <a:srgbClr val="9AA4B2"/>
                </a:solidFill>
                <a:latin typeface="맑은 고딕"/>
                <a:ea typeface="맑은 고딕"/>
              </a:rPr>
              <a:t>·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영어 질문으로 재시도 → 그래도 없으면 준비한 캡처 사용.</a:t>
            </a:r>
          </a:p>
          <a:p>
            <a:pPr algn="l">
              <a:lnSpc>
                <a:spcPct val="118000"/>
              </a:lnSpc>
              <a:spcAft>
                <a:spcPts val="350"/>
              </a:spcAft>
            </a:pPr>
            <a:r>
              <a:rPr sz="1150" b="0" i="0">
                <a:solidFill>
                  <a:srgbClr val="9AA4B2"/>
                </a:solidFill>
                <a:latin typeface="맑은 고딕"/>
                <a:ea typeface="맑은 고딕"/>
              </a:rPr>
              <a:t>·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"안 뜨는 것 자체가 '노출은 통제 밖'이라는 증거"로 연결.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05575" y="4069080"/>
            <a:ext cx="5419191" cy="23500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3E8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205575" y="4069080"/>
            <a:ext cx="64008" cy="2350008"/>
          </a:xfrm>
          <a:prstGeom prst="rect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425031" y="4215384"/>
            <a:ext cx="581558" cy="274320"/>
          </a:xfrm>
          <a:prstGeom prst="roundRect">
            <a:avLst>
              <a:gd name="adj" fmla="val 50000"/>
            </a:avLst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25031" y="4226356"/>
            <a:ext cx="58155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00" b="1" i="0" spc="20">
                <a:solidFill>
                  <a:srgbClr val="FFFFFF"/>
                </a:solidFill>
                <a:latin typeface="맑은 고딕"/>
                <a:ea typeface="맑은 고딕"/>
              </a:rPr>
              <a:t>백업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34605" y="4197096"/>
            <a:ext cx="433471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450" b="1" i="0">
                <a:solidFill>
                  <a:srgbClr val="111927"/>
                </a:solidFill>
                <a:latin typeface="맑은 고딕"/>
                <a:ea typeface="맑은 고딕"/>
              </a:rPr>
              <a:t>수강생 브랜드가 아예 안 나올 때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25031" y="4617720"/>
            <a:ext cx="5035143" cy="1709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350"/>
              </a:spcAft>
            </a:pPr>
            <a:r>
              <a:rPr sz="1150" b="0" i="0">
                <a:solidFill>
                  <a:srgbClr val="9AA4B2"/>
                </a:solidFill>
                <a:latin typeface="맑은 고딕"/>
                <a:ea typeface="맑은 고딕"/>
              </a:rPr>
              <a:t>·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"언급 0회도 소중한 데이터"라고 먼저 프레이밍.</a:t>
            </a:r>
          </a:p>
          <a:p>
            <a:pPr algn="l">
              <a:lnSpc>
                <a:spcPct val="118000"/>
              </a:lnSpc>
              <a:spcAft>
                <a:spcPts val="350"/>
              </a:spcAft>
            </a:pPr>
            <a:r>
              <a:rPr sz="1150" b="0" i="0">
                <a:solidFill>
                  <a:srgbClr val="9AA4B2"/>
                </a:solidFill>
                <a:latin typeface="맑은 고딕"/>
                <a:ea typeface="맑은 고딕"/>
              </a:rPr>
              <a:t>·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잘 나오는 공개 브랜드(무신사, 배민 등)로 대조 시연.</a:t>
            </a:r>
          </a:p>
          <a:p>
            <a:pPr algn="l">
              <a:lnSpc>
                <a:spcPct val="118000"/>
              </a:lnSpc>
              <a:spcAft>
                <a:spcPts val="350"/>
              </a:spcAft>
            </a:pPr>
            <a:r>
              <a:rPr sz="1150" b="0" i="0">
                <a:solidFill>
                  <a:srgbClr val="9AA4B2"/>
                </a:solidFill>
                <a:latin typeface="맑은 고딕"/>
                <a:ea typeface="맑은 고딕"/>
              </a:rPr>
              <a:t>·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차이의 원인(콘텐츠·리뷰·언론 량)을 토론으로 유도.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66928" y="457200"/>
            <a:ext cx="82296" cy="457200"/>
          </a:xfrm>
          <a:prstGeom prst="roundRect">
            <a:avLst>
              <a:gd name="adj" fmla="val 50000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" y="384048"/>
            <a:ext cx="91440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200" b="1" i="0">
                <a:solidFill>
                  <a:srgbClr val="111927"/>
                </a:solidFill>
                <a:latin typeface="맑은 고딕"/>
                <a:ea typeface="맑은 고딕"/>
              </a:rPr>
              <a:t>최종 미션 배포문 — 이대로 공유 시트에 게시하세요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842955" y="475488"/>
            <a:ext cx="781812" cy="274320"/>
          </a:xfrm>
          <a:prstGeom prst="roundRect">
            <a:avLst>
              <a:gd name="adj" fmla="val 50000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842955" y="486460"/>
            <a:ext cx="781812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100" b="1" i="0" spc="20">
                <a:solidFill>
                  <a:srgbClr val="FFFFFF"/>
                </a:solidFill>
                <a:latin typeface="맑은 고딕"/>
                <a:ea typeface="맑은 고딕"/>
              </a:rPr>
              <a:t>강사용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3816" y="932688"/>
            <a:ext cx="10424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6B7280"/>
                </a:solidFill>
                <a:latin typeface="맑은 고딕"/>
                <a:ea typeface="맑은 고딕"/>
              </a:rPr>
              <a:t>최종 미션: 30일 실행 계획 (수료 요건)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6547104"/>
            <a:ext cx="182880" cy="25603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6446520"/>
            <a:ext cx="11057839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00" b="0" i="0">
                <a:solidFill>
                  <a:srgbClr val="9AA4B2"/>
                </a:solidFill>
                <a:latin typeface="맑은 고딕"/>
                <a:ea typeface="맑은 고딕"/>
              </a:rPr>
              <a:t>[강사용] AI 시대 마케팅, 누가 살아남을까? — 6주 실무 스터디   |   6회차 · 살아남는 마케터의 2~3년 준비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1499616"/>
            <a:ext cx="11057839" cy="4407408"/>
          </a:xfrm>
          <a:prstGeom prst="roundRect">
            <a:avLst>
              <a:gd name="adj" fmla="val 2500"/>
            </a:avLst>
          </a:prstGeom>
          <a:solidFill>
            <a:srgbClr val="0E1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66928" y="1499616"/>
            <a:ext cx="11057839" cy="329184"/>
          </a:xfrm>
          <a:prstGeom prst="roundRect">
            <a:avLst>
              <a:gd name="adj" fmla="val 2500"/>
            </a:avLst>
          </a:prstGeom>
          <a:solidFill>
            <a:srgbClr val="1B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66928" y="1664208"/>
            <a:ext cx="11057839" cy="164592"/>
          </a:xfrm>
          <a:prstGeom prst="rect">
            <a:avLst/>
          </a:prstGeom>
          <a:solidFill>
            <a:srgbClr val="1B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86384" y="1618488"/>
            <a:ext cx="91440" cy="91440"/>
          </a:xfrm>
          <a:prstGeom prst="roundRect">
            <a:avLst>
              <a:gd name="adj" fmla="val 50000"/>
            </a:avLst>
          </a:prstGeom>
          <a:solidFill>
            <a:srgbClr val="FF5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987551" y="1618488"/>
            <a:ext cx="91440" cy="91440"/>
          </a:xfrm>
          <a:prstGeom prst="roundRect">
            <a:avLst>
              <a:gd name="adj" fmla="val 50000"/>
            </a:avLst>
          </a:prstGeom>
          <a:solidFill>
            <a:srgbClr val="FFB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188720" y="1618488"/>
            <a:ext cx="91440" cy="91440"/>
          </a:xfrm>
          <a:prstGeom prst="roundRect">
            <a:avLst>
              <a:gd name="adj" fmla="val 50000"/>
            </a:avLst>
          </a:prstGeom>
          <a:solidFill>
            <a:srgbClr val="27C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81328" y="1499616"/>
            <a:ext cx="9960559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1" i="0" spc="120">
                <a:solidFill>
                  <a:srgbClr val="7C8AA5"/>
                </a:solidFill>
                <a:latin typeface="맑은 고딕"/>
                <a:ea typeface="맑은 고딕"/>
              </a:rPr>
              <a:t>PROMPT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7824" y="1975104"/>
            <a:ext cx="10436047" cy="38039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1150" b="0" i="0">
                <a:solidFill>
                  <a:srgbClr val="E5E9F0"/>
                </a:solidFill>
                <a:latin typeface="Consolas"/>
                <a:ea typeface="맑은 고딕"/>
              </a:rPr>
              <a:t>[최종 미션] 30일 실행 계획</a:t>
            </a:r>
          </a:p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1150" b="0" i="0">
                <a:solidFill>
                  <a:srgbClr val="E5E9F0"/>
                </a:solidFill>
                <a:latin typeface="Consolas"/>
                <a:ea typeface="맑은 고딕"/>
              </a:rPr>
              <a:t> </a:t>
            </a:r>
          </a:p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1150" b="0" i="0">
                <a:solidFill>
                  <a:srgbClr val="E5E9F0"/>
                </a:solidFill>
                <a:latin typeface="Consolas"/>
                <a:ea typeface="맑은 고딕"/>
              </a:rPr>
              <a:t>아래 6칸을 채워 제출하면 과정 수료입니다.</a:t>
            </a:r>
          </a:p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1150" b="0" i="0">
                <a:solidFill>
                  <a:srgbClr val="E5E9F0"/>
                </a:solidFill>
                <a:latin typeface="Consolas"/>
                <a:ea typeface="맑은 고딕"/>
              </a:rPr>
              <a:t> </a:t>
            </a:r>
          </a:p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1150" b="0" i="0">
                <a:solidFill>
                  <a:srgbClr val="E5E9F0"/>
                </a:solidFill>
                <a:latin typeface="Consolas"/>
                <a:ea typeface="맑은 고딕"/>
              </a:rPr>
              <a:t>1. 이번 달에 고칠 콘텐츠 3개: (URL 명시)</a:t>
            </a:r>
          </a:p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1150" b="0" i="0">
                <a:solidFill>
                  <a:srgbClr val="E5E9F0"/>
                </a:solidFill>
                <a:latin typeface="Consolas"/>
                <a:ea typeface="맑은 고딕"/>
              </a:rPr>
              <a:t>2. 새로 만들 질문형 콘텐츠 3개: (제목+타깃 질문)</a:t>
            </a:r>
          </a:p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1150" b="0" i="0">
                <a:solidFill>
                  <a:srgbClr val="E5E9F0"/>
                </a:solidFill>
                <a:latin typeface="Consolas"/>
                <a:ea typeface="맑은 고딕"/>
              </a:rPr>
              <a:t>3. 매주 추적할 AI 검색 프롬프트 10개: (문장 그대로)</a:t>
            </a:r>
          </a:p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1150" b="0" i="0">
                <a:solidFill>
                  <a:srgbClr val="E5E9F0"/>
                </a:solidFill>
                <a:latin typeface="Consolas"/>
                <a:ea typeface="맑은 고딕"/>
              </a:rPr>
              <a:t>4. 업무 자동화할 반복 작업 1개: (5회차 설계 이어가기)</a:t>
            </a:r>
          </a:p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1150" b="0" i="0">
                <a:solidFill>
                  <a:srgbClr val="E5E9F0"/>
                </a:solidFill>
                <a:latin typeface="Consolas"/>
                <a:ea typeface="맑은 고딕"/>
              </a:rPr>
              <a:t>5. 팀에 공유할 AI 사용 원칙 5개: (보안 기준 포함)</a:t>
            </a:r>
          </a:p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1150" b="0" i="0">
                <a:solidFill>
                  <a:srgbClr val="E5E9F0"/>
                </a:solidFill>
                <a:latin typeface="Consolas"/>
                <a:ea typeface="맑은 고딕"/>
              </a:rPr>
              <a:t>6. 30일 후 확인할 KPI: (숫자로 — 예: 언급률, 색인 수)</a:t>
            </a:r>
          </a:p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1150" b="0" i="0">
                <a:solidFill>
                  <a:srgbClr val="E5E9F0"/>
                </a:solidFill>
                <a:latin typeface="Consolas"/>
                <a:ea typeface="맑은 고딕"/>
              </a:rPr>
              <a:t> </a:t>
            </a:r>
          </a:p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1150" b="0" i="0">
                <a:solidFill>
                  <a:srgbClr val="E5E9F0"/>
                </a:solidFill>
                <a:latin typeface="Consolas"/>
                <a:ea typeface="맑은 고딕"/>
              </a:rPr>
              <a:t>작성 기준: 남이 봐도 실행 여부를 판정할 수 있게.</a:t>
            </a:r>
          </a:p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1150" b="0" i="0">
                <a:solidFill>
                  <a:srgbClr val="E5E9F0"/>
                </a:solidFill>
                <a:latin typeface="Consolas"/>
                <a:ea typeface="맑은 고딕"/>
              </a:rPr>
              <a:t>제출: 오늘 수업 종료 시 (110~120분 내 작성)</a:t>
            </a:r>
          </a:p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1150" b="0" i="0">
                <a:solidFill>
                  <a:srgbClr val="E5E9F0"/>
                </a:solidFill>
                <a:latin typeface="Consolas"/>
                <a:ea typeface="맑은 고딕"/>
              </a:rPr>
              <a:t>팔로업: 4주 후 온라인 세션에서 결과 리뷰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6035040"/>
            <a:ext cx="11057839" cy="420624"/>
          </a:xfrm>
          <a:prstGeom prst="roundRect">
            <a:avLst>
              <a:gd name="adj" fmla="val 22000"/>
            </a:avLst>
          </a:prstGeom>
          <a:solidFill>
            <a:srgbClr val="FBED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6928" y="6035040"/>
            <a:ext cx="68580" cy="420624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86384" y="6035040"/>
            <a:ext cx="10673791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1" i="0" spc="50">
                <a:solidFill>
                  <a:srgbClr val="C2410C"/>
                </a:solidFill>
                <a:latin typeface="맑은 고딕"/>
                <a:ea typeface="맑은 고딕"/>
              </a:rPr>
              <a:t>TIP   </a:t>
            </a:r>
            <a:r>
              <a:rPr sz="1100" b="0" i="0">
                <a:solidFill>
                  <a:srgbClr val="374151"/>
                </a:solidFill>
                <a:latin typeface="맑은 고딕"/>
                <a:ea typeface="맑은 고딕"/>
              </a:rPr>
              <a:t>수료 기준으로 활용: 6칸 모두 '판정 가능'하게 작성되면 수료. 추상적으로 쓴 수강생은 그 자리에서 구체화 코칭.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66928" y="457200"/>
            <a:ext cx="82296" cy="457200"/>
          </a:xfrm>
          <a:prstGeom prst="roundRect">
            <a:avLst>
              <a:gd name="adj" fmla="val 50000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" y="384048"/>
            <a:ext cx="91440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200" b="1" i="0">
                <a:solidFill>
                  <a:srgbClr val="111927"/>
                </a:solidFill>
                <a:latin typeface="맑은 고딕"/>
                <a:ea typeface="맑은 고딕"/>
              </a:rPr>
              <a:t>미션 평가 루브릭 — 피드백 기준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842955" y="475488"/>
            <a:ext cx="781812" cy="274320"/>
          </a:xfrm>
          <a:prstGeom prst="roundRect">
            <a:avLst>
              <a:gd name="adj" fmla="val 50000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842955" y="486460"/>
            <a:ext cx="781812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100" b="1" i="0" spc="20">
                <a:solidFill>
                  <a:srgbClr val="FFFFFF"/>
                </a:solidFill>
                <a:latin typeface="맑은 고딕"/>
                <a:ea typeface="맑은 고딕"/>
              </a:rPr>
              <a:t>강사용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3816" y="932688"/>
            <a:ext cx="10424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6B7280"/>
                </a:solidFill>
                <a:latin typeface="맑은 고딕"/>
                <a:ea typeface="맑은 고딕"/>
              </a:rPr>
              <a:t>점수화가 목적이 아니라, 다음 주 첫 15분 과제 리뷰에서 '무엇을 칭찬하고 무엇을 교정할지' 기준입니다.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6547104"/>
            <a:ext cx="182880" cy="25603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6446520"/>
            <a:ext cx="11057839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00" b="0" i="0">
                <a:solidFill>
                  <a:srgbClr val="9AA4B2"/>
                </a:solidFill>
                <a:latin typeface="맑은 고딕"/>
                <a:ea typeface="맑은 고딕"/>
              </a:rPr>
              <a:t>[강사용] AI 시대 마케팅, 누가 살아남을까? — 6주 실무 스터디   |   6회차 · 살아남는 마케터의 2~3년 준비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66928" y="1499616"/>
          <a:ext cx="11057837" cy="17932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919129"/>
                <a:gridCol w="822483"/>
                <a:gridCol w="4203806"/>
                <a:gridCol w="4112419"/>
              </a:tblGrid>
              <a:tr h="3302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평가 항목</a:t>
                      </a:r>
                    </a:p>
                  </a:txBody>
                  <a:tcPr anchor="ctr" marL="100584" marR="91440" marT="41148" marB="41148">
                    <a:solidFill>
                      <a:srgbClr val="C2410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배점</a:t>
                      </a:r>
                    </a:p>
                  </a:txBody>
                  <a:tcPr anchor="ctr" marL="100584" marR="91440" marT="41148" marB="41148">
                    <a:solidFill>
                      <a:srgbClr val="C2410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우수 (이렇게 하면 칭찬)</a:t>
                      </a:r>
                    </a:p>
                  </a:txBody>
                  <a:tcPr anchor="ctr" marL="100584" marR="91440" marT="41148" marB="41148">
                    <a:solidFill>
                      <a:srgbClr val="C2410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미흡 (이렇게 오면 교정)</a:t>
                      </a:r>
                    </a:p>
                  </a:txBody>
                  <a:tcPr anchor="ctr" marL="100584" marR="91440" marT="41148" marB="41148">
                    <a:solidFill>
                      <a:srgbClr val="C2410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00" b="1" i="0">
                          <a:solidFill>
                            <a:srgbClr val="111927"/>
                          </a:solidFill>
                          <a:latin typeface="맑은 고딕"/>
                          <a:ea typeface="맑은 고딕"/>
                        </a:rPr>
                        <a:t>판정 가능성</a:t>
                      </a:r>
                    </a:p>
                  </a:txBody>
                  <a:tcPr anchor="ctr" marL="100584" marR="91440" marT="41148" marB="4114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40</a:t>
                      </a:r>
                    </a:p>
                  </a:txBody>
                  <a:tcPr anchor="ctr" marL="100584" marR="91440" marT="41148" marB="4114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URL·숫자·문장 그대로 — 제3자가 실행 여부 판정 가능</a:t>
                      </a:r>
                    </a:p>
                  </a:txBody>
                  <a:tcPr anchor="ctr" marL="100584" marR="91440" marT="41148" marB="4114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"콘텐츠 개선하기"류 추상 목표</a:t>
                      </a:r>
                    </a:p>
                  </a:txBody>
                  <a:tcPr anchor="ctr" marL="100584" marR="91440" marT="41148" marB="41148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00" b="1" i="0">
                          <a:solidFill>
                            <a:srgbClr val="111927"/>
                          </a:solidFill>
                          <a:latin typeface="맑은 고딕"/>
                          <a:ea typeface="맑은 고딕"/>
                        </a:rPr>
                        <a:t>연속성</a:t>
                      </a:r>
                    </a:p>
                  </a:txBody>
                  <a:tcPr anchor="ctr" marL="100584" marR="91440" marT="41148" marB="41148">
                    <a:solidFill>
                      <a:srgbClr val="FBED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25</a:t>
                      </a:r>
                    </a:p>
                  </a:txBody>
                  <a:tcPr anchor="ctr" marL="100584" marR="91440" marT="41148" marB="41148">
                    <a:solidFill>
                      <a:srgbClr val="FBED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1~5회차 산출물과 연결 (리라이트 이어가기 등)</a:t>
                      </a:r>
                    </a:p>
                  </a:txBody>
                  <a:tcPr anchor="ctr" marL="100584" marR="91440" marT="41148" marB="41148">
                    <a:solidFill>
                      <a:srgbClr val="FBED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6주 학습과 무관한 새 목표</a:t>
                      </a:r>
                    </a:p>
                  </a:txBody>
                  <a:tcPr anchor="ctr" marL="100584" marR="91440" marT="41148" marB="41148">
                    <a:solidFill>
                      <a:srgbClr val="FBEDE4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00" b="1" i="0">
                          <a:solidFill>
                            <a:srgbClr val="111927"/>
                          </a:solidFill>
                          <a:latin typeface="맑은 고딕"/>
                          <a:ea typeface="맑은 고딕"/>
                        </a:rPr>
                        <a:t>측정 계획</a:t>
                      </a:r>
                    </a:p>
                  </a:txBody>
                  <a:tcPr anchor="ctr" marL="100584" marR="91440" marT="41148" marB="4114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25</a:t>
                      </a:r>
                    </a:p>
                  </a:txBody>
                  <a:tcPr anchor="ctr" marL="100584" marR="91440" marT="41148" marB="4114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KPI가 숫자이고 측정 방법·주기 명시</a:t>
                      </a:r>
                    </a:p>
                  </a:txBody>
                  <a:tcPr anchor="ctr" marL="100584" marR="91440" marT="41148" marB="4114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"성과 확인"으로 끝</a:t>
                      </a:r>
                    </a:p>
                  </a:txBody>
                  <a:tcPr anchor="ctr" marL="100584" marR="91440" marT="41148" marB="41148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00" b="1" i="0">
                          <a:solidFill>
                            <a:srgbClr val="111927"/>
                          </a:solidFill>
                          <a:latin typeface="맑은 고딕"/>
                          <a:ea typeface="맑은 고딕"/>
                        </a:rPr>
                        <a:t>보안 원칙</a:t>
                      </a:r>
                    </a:p>
                  </a:txBody>
                  <a:tcPr anchor="ctr" marL="100584" marR="91440" marT="41148" marB="41148">
                    <a:solidFill>
                      <a:srgbClr val="FBED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10</a:t>
                      </a:r>
                    </a:p>
                  </a:txBody>
                  <a:tcPr anchor="ctr" marL="100584" marR="91440" marT="41148" marB="41148">
                    <a:solidFill>
                      <a:srgbClr val="FBED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팀 공유 원칙에 데이터 보안 기준 포함</a:t>
                      </a:r>
                    </a:p>
                  </a:txBody>
                  <a:tcPr anchor="ctr" marL="100584" marR="91440" marT="41148" marB="41148">
                    <a:solidFill>
                      <a:srgbClr val="FBED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생산성 원칙만 나열</a:t>
                      </a:r>
                    </a:p>
                  </a:txBody>
                  <a:tcPr anchor="ctr" marL="100584" marR="91440" marT="41148" marB="41148">
                    <a:solidFill>
                      <a:srgbClr val="FBEDE4"/>
                    </a:solidFill>
                  </a:tcPr>
                </a:tc>
              </a:tr>
            </a:tbl>
          </a:graphicData>
        </a:graphic>
      </p:graphicFrame>
      <p:sp>
        <p:nvSpPr>
          <p:cNvPr id="12" name="Rounded Rectangle 11"/>
          <p:cNvSpPr/>
          <p:nvPr/>
        </p:nvSpPr>
        <p:spPr>
          <a:xfrm>
            <a:off x="566928" y="6035040"/>
            <a:ext cx="11057839" cy="420624"/>
          </a:xfrm>
          <a:prstGeom prst="roundRect">
            <a:avLst>
              <a:gd name="adj" fmla="val 22000"/>
            </a:avLst>
          </a:prstGeom>
          <a:solidFill>
            <a:srgbClr val="FBED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66928" y="6035040"/>
            <a:ext cx="68580" cy="420624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6384" y="6035040"/>
            <a:ext cx="10673791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1" i="0" spc="50">
                <a:solidFill>
                  <a:srgbClr val="C2410C"/>
                </a:solidFill>
                <a:latin typeface="맑은 고딕"/>
                <a:ea typeface="맑은 고딕"/>
              </a:rPr>
              <a:t>TIP   </a:t>
            </a:r>
            <a:r>
              <a:rPr sz="1100" b="0" i="0">
                <a:solidFill>
                  <a:srgbClr val="374151"/>
                </a:solidFill>
                <a:latin typeface="맑은 고딕"/>
                <a:ea typeface="맑은 고딕"/>
              </a:rPr>
              <a:t>이 루브릭은 팔로업 세션 리뷰 기준으로도 재사용합니다.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66928" y="457200"/>
            <a:ext cx="82296" cy="457200"/>
          </a:xfrm>
          <a:prstGeom prst="roundRect">
            <a:avLst>
              <a:gd name="adj" fmla="val 50000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" y="384048"/>
            <a:ext cx="91440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200" b="1" i="0">
                <a:solidFill>
                  <a:srgbClr val="111927"/>
                </a:solidFill>
                <a:latin typeface="맑은 고딕"/>
                <a:ea typeface="맑은 고딕"/>
              </a:rPr>
              <a:t>토론 유도 질문 &amp; 예상 질문 대응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842955" y="475488"/>
            <a:ext cx="781812" cy="274320"/>
          </a:xfrm>
          <a:prstGeom prst="roundRect">
            <a:avLst>
              <a:gd name="adj" fmla="val 50000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842955" y="486460"/>
            <a:ext cx="781812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100" b="1" i="0" spc="20">
                <a:solidFill>
                  <a:srgbClr val="FFFFFF"/>
                </a:solidFill>
                <a:latin typeface="맑은 고딕"/>
                <a:ea typeface="맑은 고딕"/>
              </a:rPr>
              <a:t>강사용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6547104"/>
            <a:ext cx="182880" cy="25603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8" y="6446520"/>
            <a:ext cx="11057839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00" b="0" i="0">
                <a:solidFill>
                  <a:srgbClr val="9AA4B2"/>
                </a:solidFill>
                <a:latin typeface="맑은 고딕"/>
                <a:ea typeface="맑은 고딕"/>
              </a:rPr>
              <a:t>[강사용] AI 시대 마케팅, 누가 살아남을까? — 6주 실무 스터디   |   6회차 · 살아남는 마케터의 2~3년 준비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207007"/>
            <a:ext cx="5400903" cy="512064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E3E8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66928" y="1207007"/>
            <a:ext cx="5400903" cy="493776"/>
          </a:xfrm>
          <a:prstGeom prst="roundRect">
            <a:avLst>
              <a:gd name="adj" fmla="val 4500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1453895"/>
            <a:ext cx="5400903" cy="246888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1207007"/>
            <a:ext cx="4998567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500" b="1" i="0">
                <a:solidFill>
                  <a:srgbClr val="FFFFFF"/>
                </a:solidFill>
                <a:latin typeface="맑은 고딕"/>
                <a:ea typeface="맑은 고딕"/>
              </a:rPr>
              <a:t>토론에서 던질 질문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" y="1865375"/>
            <a:ext cx="4961991" cy="42976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600"/>
              </a:spcBef>
              <a:spcAft>
                <a:spcPts val="300"/>
              </a:spcAft>
            </a:pPr>
            <a:r>
              <a:rPr sz="700" b="0" i="0">
                <a:solidFill>
                  <a:srgbClr val="C2410C"/>
                </a:solidFill>
                <a:latin typeface="맑은 고딕"/>
                <a:ea typeface="맑은 고딕"/>
              </a:rPr>
              <a:t>■  </a:t>
            </a:r>
            <a:r>
              <a:rPr sz="1300" b="0" i="0">
                <a:solidFill>
                  <a:srgbClr val="111927"/>
                </a:solidFill>
                <a:latin typeface="맑은 고딕"/>
                <a:ea typeface="맑은 고딕"/>
              </a:rPr>
              <a:t>"지금 업무 중 '규칙이 명확한 일'의 비중은? 1년 뒤 목표 비중은?"</a:t>
            </a:r>
          </a:p>
          <a:p>
            <a:pPr algn="l">
              <a:lnSpc>
                <a:spcPct val="120000"/>
              </a:lnSpc>
              <a:spcBef>
                <a:spcPts val="600"/>
              </a:spcBef>
              <a:spcAft>
                <a:spcPts val="300"/>
              </a:spcAft>
            </a:pPr>
            <a:r>
              <a:rPr sz="700" b="0" i="0">
                <a:solidFill>
                  <a:srgbClr val="C2410C"/>
                </a:solidFill>
                <a:latin typeface="맑은 고딕"/>
                <a:ea typeface="맑은 고딕"/>
              </a:rPr>
              <a:t>■  </a:t>
            </a:r>
            <a:r>
              <a:rPr sz="1300" b="0" i="0">
                <a:solidFill>
                  <a:srgbClr val="111927"/>
                </a:solidFill>
                <a:latin typeface="맑은 고딕"/>
                <a:ea typeface="맑은 고딕"/>
              </a:rPr>
              <a:t>"우리 팀에서 AI 검수 책임자는 누구여야 하나요?"</a:t>
            </a:r>
          </a:p>
          <a:p>
            <a:pPr algn="l">
              <a:lnSpc>
                <a:spcPct val="120000"/>
              </a:lnSpc>
              <a:spcBef>
                <a:spcPts val="600"/>
              </a:spcBef>
              <a:spcAft>
                <a:spcPts val="300"/>
              </a:spcAft>
            </a:pPr>
            <a:r>
              <a:rPr sz="700" b="0" i="0">
                <a:solidFill>
                  <a:srgbClr val="C2410C"/>
                </a:solidFill>
                <a:latin typeface="맑은 고딕"/>
                <a:ea typeface="맑은 고딕"/>
              </a:rPr>
              <a:t>■  </a:t>
            </a:r>
            <a:r>
              <a:rPr sz="1300" b="0" i="0">
                <a:solidFill>
                  <a:srgbClr val="111927"/>
                </a:solidFill>
                <a:latin typeface="맑은 고딕"/>
                <a:ea typeface="맑은 고딕"/>
              </a:rPr>
              <a:t>"여러분의 '질문 데이터 자산'은 어느 산업에서 쌓을 건가요?"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23863" y="1207007"/>
            <a:ext cx="5400903" cy="512064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E3E8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223863" y="1207007"/>
            <a:ext cx="5400903" cy="493776"/>
          </a:xfrm>
          <a:prstGeom prst="roundRect">
            <a:avLst>
              <a:gd name="adj" fmla="val 4500"/>
            </a:avLst>
          </a:prstGeom>
          <a:solidFill>
            <a:srgbClr val="9A34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23863" y="1453895"/>
            <a:ext cx="5400903" cy="246888"/>
          </a:xfrm>
          <a:prstGeom prst="rect">
            <a:avLst/>
          </a:prstGeom>
          <a:solidFill>
            <a:srgbClr val="9A34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25031" y="1207007"/>
            <a:ext cx="4998567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500" b="1" i="0">
                <a:solidFill>
                  <a:srgbClr val="FFFFFF"/>
                </a:solidFill>
                <a:latin typeface="맑은 고딕"/>
                <a:ea typeface="맑은 고딕"/>
              </a:rPr>
              <a:t>예상 질문과 답변 가이드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3319" y="1865375"/>
            <a:ext cx="4961991" cy="42976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600"/>
              </a:spcBef>
              <a:spcAft>
                <a:spcPts val="300"/>
              </a:spcAft>
            </a:pPr>
            <a:r>
              <a:rPr sz="700" b="0" i="0">
                <a:solidFill>
                  <a:srgbClr val="9A3412"/>
                </a:solidFill>
                <a:latin typeface="맑은 고딕"/>
                <a:ea typeface="맑은 고딕"/>
              </a:rPr>
              <a:t>■  </a:t>
            </a:r>
            <a:r>
              <a:rPr sz="1300" b="0" i="0">
                <a:solidFill>
                  <a:srgbClr val="111927"/>
                </a:solidFill>
                <a:latin typeface="맑은 고딕"/>
                <a:ea typeface="맑은 고딕"/>
              </a:rPr>
              <a:t>"결국 뭐부터 하면 되나요?"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00" b="0" i="0">
                <a:solidFill>
                  <a:srgbClr val="9AA4B2"/>
                </a:solidFill>
                <a:latin typeface="맑은 고딕"/>
                <a:ea typeface="맑은 고딕"/>
              </a:rPr>
              <a:t>      –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→ "30일 계획 1번 칸입니다. 콘텐츠 3개 고치고 매주 언급률을 재세요. 그게 전부의 시작입니다"</a:t>
            </a:r>
          </a:p>
          <a:p>
            <a:pPr algn="l">
              <a:lnSpc>
                <a:spcPct val="120000"/>
              </a:lnSpc>
              <a:spcBef>
                <a:spcPts val="600"/>
              </a:spcBef>
              <a:spcAft>
                <a:spcPts val="300"/>
              </a:spcAft>
            </a:pPr>
            <a:r>
              <a:rPr sz="700" b="0" i="0">
                <a:solidFill>
                  <a:srgbClr val="9A3412"/>
                </a:solidFill>
                <a:latin typeface="맑은 고딕"/>
                <a:ea typeface="맑은 고딕"/>
              </a:rPr>
              <a:t>■  </a:t>
            </a:r>
            <a:r>
              <a:rPr sz="1300" b="0" i="0">
                <a:solidFill>
                  <a:srgbClr val="111927"/>
                </a:solidFill>
                <a:latin typeface="맑은 고딕"/>
                <a:ea typeface="맑은 고딕"/>
              </a:rPr>
              <a:t>"AI 때문에 마케팅 인력이 줄지 않을까요?"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00" b="0" i="0">
                <a:solidFill>
                  <a:srgbClr val="9AA4B2"/>
                </a:solidFill>
                <a:latin typeface="맑은 고딕"/>
                <a:ea typeface="맑은 고딕"/>
              </a:rPr>
              <a:t>      –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→ "운영 인력 구성은 바뀝니다. 문제 정의·판단·실험 역량은 수요가 늘고 있음을 D2 채용공고로 이미 확인했습니다"</a:t>
            </a:r>
          </a:p>
          <a:p>
            <a:pPr algn="l">
              <a:lnSpc>
                <a:spcPct val="120000"/>
              </a:lnSpc>
              <a:spcBef>
                <a:spcPts val="600"/>
              </a:spcBef>
              <a:spcAft>
                <a:spcPts val="300"/>
              </a:spcAft>
            </a:pPr>
            <a:r>
              <a:rPr sz="700" b="0" i="0">
                <a:solidFill>
                  <a:srgbClr val="9A3412"/>
                </a:solidFill>
                <a:latin typeface="맑은 고딕"/>
                <a:ea typeface="맑은 고딕"/>
              </a:rPr>
              <a:t>■  </a:t>
            </a:r>
            <a:r>
              <a:rPr sz="1300" b="0" i="0">
                <a:solidFill>
                  <a:srgbClr val="111927"/>
                </a:solidFill>
                <a:latin typeface="맑은 고딕"/>
                <a:ea typeface="맑은 고딕"/>
              </a:rPr>
              <a:t>"6주로 부족한데 다음 스텝은?"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00" b="0" i="0">
                <a:solidFill>
                  <a:srgbClr val="9AA4B2"/>
                </a:solidFill>
                <a:latin typeface="맑은 고딕"/>
                <a:ea typeface="맑은 고딕"/>
              </a:rPr>
              <a:t>      –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→ "추천 자료 슬라이드의 무료 강좌 + 월 1회 툴 리뷰 루틴. 그리고 4주 후 팔로업에서 만나요"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66928" y="457200"/>
            <a:ext cx="82296" cy="457200"/>
          </a:xfrm>
          <a:prstGeom prst="roundRect">
            <a:avLst>
              <a:gd name="adj" fmla="val 50000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" y="384048"/>
            <a:ext cx="91440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200" b="1" i="0">
                <a:solidFill>
                  <a:srgbClr val="111927"/>
                </a:solidFill>
                <a:latin typeface="맑은 고딕"/>
                <a:ea typeface="맑은 고딕"/>
              </a:rPr>
              <a:t>수업 전 준비 체크리스트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842955" y="475488"/>
            <a:ext cx="781812" cy="274320"/>
          </a:xfrm>
          <a:prstGeom prst="roundRect">
            <a:avLst>
              <a:gd name="adj" fmla="val 50000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842955" y="486460"/>
            <a:ext cx="781812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100" b="1" i="0" spc="20">
                <a:solidFill>
                  <a:srgbClr val="FFFFFF"/>
                </a:solidFill>
                <a:latin typeface="맑은 고딕"/>
                <a:ea typeface="맑은 고딕"/>
              </a:rPr>
              <a:t>강사용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6547104"/>
            <a:ext cx="182880" cy="25603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8" y="6446520"/>
            <a:ext cx="11057839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00" b="0" i="0">
                <a:solidFill>
                  <a:srgbClr val="9AA4B2"/>
                </a:solidFill>
                <a:latin typeface="맑은 고딕"/>
                <a:ea typeface="맑은 고딕"/>
              </a:rPr>
              <a:t>[강사용] AI 시대 마케팅, 누가 살아남을까? — 6주 실무 스터디   |   6회차 · 살아남는 마케터의 2~3년 준비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1225295"/>
            <a:ext cx="10607040" cy="47091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700"/>
              </a:spcBef>
              <a:spcAft>
                <a:spcPts val="500"/>
              </a:spcAft>
            </a:pPr>
            <a:r>
              <a:rPr sz="950" b="0" i="0">
                <a:solidFill>
                  <a:srgbClr val="C2410C"/>
                </a:solidFill>
                <a:latin typeface="맑은 고딕"/>
                <a:ea typeface="맑은 고딕"/>
              </a:rPr>
              <a:t>■  </a:t>
            </a:r>
            <a:r>
              <a:rPr sz="1550" b="1" i="0">
                <a:solidFill>
                  <a:srgbClr val="111927"/>
                </a:solidFill>
                <a:latin typeface="맑은 고딕"/>
                <a:ea typeface="맑은 고딕"/>
              </a:rPr>
              <a:t>시연</a:t>
            </a:r>
          </a:p>
          <a:p>
            <a:pPr algn="l">
              <a:lnSpc>
                <a:spcPct val="116000"/>
              </a:lnSpc>
              <a:spcBef>
                <a:spcPts val="100"/>
              </a:spcBef>
              <a:spcAft>
                <a:spcPts val="200"/>
              </a:spcAft>
            </a:pPr>
            <a:r>
              <a:rPr sz="1250" b="0" i="0">
                <a:solidFill>
                  <a:srgbClr val="9AA4B2"/>
                </a:solidFill>
                <a:latin typeface="맑은 고딕"/>
                <a:ea typeface="맑은 고딕"/>
              </a:rPr>
              <a:t>      –  </a:t>
            </a:r>
            <a:r>
              <a:rPr sz="1300" b="0" i="0">
                <a:solidFill>
                  <a:srgbClr val="374151"/>
                </a:solidFill>
                <a:latin typeface="맑은 고딕"/>
                <a:ea typeface="맑은 고딕"/>
              </a:rPr>
              <a:t>전후 비교 갤러리용 수강생 2~3명 사전 동의 + 자료 정리</a:t>
            </a:r>
          </a:p>
          <a:p>
            <a:pPr algn="l">
              <a:lnSpc>
                <a:spcPct val="116000"/>
              </a:lnSpc>
              <a:spcBef>
                <a:spcPts val="100"/>
              </a:spcBef>
              <a:spcAft>
                <a:spcPts val="200"/>
              </a:spcAft>
            </a:pPr>
            <a:r>
              <a:rPr sz="1250" b="0" i="0">
                <a:solidFill>
                  <a:srgbClr val="9AA4B2"/>
                </a:solidFill>
                <a:latin typeface="맑은 고딕"/>
                <a:ea typeface="맑은 고딕"/>
              </a:rPr>
              <a:t>      –  </a:t>
            </a:r>
            <a:r>
              <a:rPr sz="1300" b="0" i="0">
                <a:solidFill>
                  <a:srgbClr val="374151"/>
                </a:solidFill>
                <a:latin typeface="맑은 고딕"/>
                <a:ea typeface="맑은 고딕"/>
              </a:rPr>
              <a:t>채용공고 검색 사전 테스트 — 'AI 활용' 우대가 실제로 보이는 공고 확보</a:t>
            </a:r>
          </a:p>
          <a:p>
            <a:pPr algn="l">
              <a:lnSpc>
                <a:spcPct val="120000"/>
              </a:lnSpc>
              <a:spcBef>
                <a:spcPts val="700"/>
              </a:spcBef>
              <a:spcAft>
                <a:spcPts val="500"/>
              </a:spcAft>
            </a:pPr>
            <a:r>
              <a:rPr sz="950" b="0" i="0">
                <a:solidFill>
                  <a:srgbClr val="C2410C"/>
                </a:solidFill>
                <a:latin typeface="맑은 고딕"/>
                <a:ea typeface="맑은 고딕"/>
              </a:rPr>
              <a:t>■  </a:t>
            </a:r>
            <a:r>
              <a:rPr sz="1550" b="1" i="0">
                <a:solidFill>
                  <a:srgbClr val="111927"/>
                </a:solidFill>
                <a:latin typeface="맑은 고딕"/>
                <a:ea typeface="맑은 고딕"/>
              </a:rPr>
              <a:t>자료</a:t>
            </a:r>
          </a:p>
          <a:p>
            <a:pPr algn="l">
              <a:lnSpc>
                <a:spcPct val="116000"/>
              </a:lnSpc>
              <a:spcBef>
                <a:spcPts val="100"/>
              </a:spcBef>
              <a:spcAft>
                <a:spcPts val="200"/>
              </a:spcAft>
            </a:pPr>
            <a:r>
              <a:rPr sz="1250" b="0" i="0">
                <a:solidFill>
                  <a:srgbClr val="9AA4B2"/>
                </a:solidFill>
                <a:latin typeface="맑은 고딕"/>
                <a:ea typeface="맑은 고딕"/>
              </a:rPr>
              <a:t>      –  </a:t>
            </a:r>
            <a:r>
              <a:rPr sz="1300" b="0" i="0">
                <a:solidFill>
                  <a:srgbClr val="374151"/>
                </a:solidFill>
                <a:latin typeface="맑은 고딕"/>
                <a:ea typeface="맑은 고딕"/>
              </a:rPr>
              <a:t>개인/팀 로드맵 양식, 30일 계획 양식 배포 준비</a:t>
            </a:r>
          </a:p>
          <a:p>
            <a:pPr algn="l">
              <a:lnSpc>
                <a:spcPct val="116000"/>
              </a:lnSpc>
              <a:spcBef>
                <a:spcPts val="100"/>
              </a:spcBef>
              <a:spcAft>
                <a:spcPts val="200"/>
              </a:spcAft>
            </a:pPr>
            <a:r>
              <a:rPr sz="1250" b="0" i="0">
                <a:solidFill>
                  <a:srgbClr val="9AA4B2"/>
                </a:solidFill>
                <a:latin typeface="맑은 고딕"/>
                <a:ea typeface="맑은 고딕"/>
              </a:rPr>
              <a:t>      –  </a:t>
            </a:r>
            <a:r>
              <a:rPr sz="1300" b="0" i="0">
                <a:solidFill>
                  <a:srgbClr val="374151"/>
                </a:solidFill>
                <a:latin typeface="맑은 고딕"/>
                <a:ea typeface="맑은 고딕"/>
              </a:rPr>
              <a:t>수료증/수료 안내가 있다면 이번 회차에 준비</a:t>
            </a:r>
          </a:p>
          <a:p>
            <a:pPr algn="l">
              <a:lnSpc>
                <a:spcPct val="120000"/>
              </a:lnSpc>
              <a:spcBef>
                <a:spcPts val="700"/>
              </a:spcBef>
              <a:spcAft>
                <a:spcPts val="500"/>
              </a:spcAft>
            </a:pPr>
            <a:r>
              <a:rPr sz="950" b="0" i="0">
                <a:solidFill>
                  <a:srgbClr val="C2410C"/>
                </a:solidFill>
                <a:latin typeface="맑은 고딕"/>
                <a:ea typeface="맑은 고딕"/>
              </a:rPr>
              <a:t>■  </a:t>
            </a:r>
            <a:r>
              <a:rPr sz="1550" b="1" i="0">
                <a:solidFill>
                  <a:srgbClr val="111927"/>
                </a:solidFill>
                <a:latin typeface="맑은 고딕"/>
                <a:ea typeface="맑은 고딕"/>
              </a:rPr>
              <a:t>팔로업</a:t>
            </a:r>
          </a:p>
          <a:p>
            <a:pPr algn="l">
              <a:lnSpc>
                <a:spcPct val="116000"/>
              </a:lnSpc>
              <a:spcBef>
                <a:spcPts val="100"/>
              </a:spcBef>
              <a:spcAft>
                <a:spcPts val="200"/>
              </a:spcAft>
            </a:pPr>
            <a:r>
              <a:rPr sz="1250" b="0" i="0">
                <a:solidFill>
                  <a:srgbClr val="9AA4B2"/>
                </a:solidFill>
                <a:latin typeface="맑은 고딕"/>
                <a:ea typeface="맑은 고딕"/>
              </a:rPr>
              <a:t>      –  </a:t>
            </a:r>
            <a:r>
              <a:rPr sz="1300" b="0" i="0">
                <a:solidFill>
                  <a:srgbClr val="374151"/>
                </a:solidFill>
                <a:latin typeface="맑은 고딕"/>
                <a:ea typeface="맑은 고딕"/>
              </a:rPr>
              <a:t>4주 후 온라인 팔로업 세션 날짜 후보 2개 준비 (그 자리에서 확정)</a:t>
            </a:r>
          </a:p>
          <a:p>
            <a:pPr algn="l">
              <a:lnSpc>
                <a:spcPct val="116000"/>
              </a:lnSpc>
              <a:spcBef>
                <a:spcPts val="100"/>
              </a:spcBef>
              <a:spcAft>
                <a:spcPts val="200"/>
              </a:spcAft>
            </a:pPr>
            <a:r>
              <a:rPr sz="1250" b="0" i="0">
                <a:solidFill>
                  <a:srgbClr val="9AA4B2"/>
                </a:solidFill>
                <a:latin typeface="맑은 고딕"/>
                <a:ea typeface="맑은 고딕"/>
              </a:rPr>
              <a:t>      –  </a:t>
            </a:r>
            <a:r>
              <a:rPr sz="1300" b="0" i="0">
                <a:solidFill>
                  <a:srgbClr val="374151"/>
                </a:solidFill>
                <a:latin typeface="맑은 고딕"/>
                <a:ea typeface="맑은 고딕"/>
              </a:rPr>
              <a:t>공유 시트에 '30일 후 상태' 열 추가</a:t>
            </a:r>
          </a:p>
          <a:p>
            <a:pPr algn="l">
              <a:lnSpc>
                <a:spcPct val="120000"/>
              </a:lnSpc>
              <a:spcBef>
                <a:spcPts val="700"/>
              </a:spcBef>
              <a:spcAft>
                <a:spcPts val="500"/>
              </a:spcAft>
            </a:pPr>
            <a:r>
              <a:rPr sz="950" b="0" i="0">
                <a:solidFill>
                  <a:srgbClr val="C2410C"/>
                </a:solidFill>
                <a:latin typeface="맑은 고딕"/>
                <a:ea typeface="맑은 고딕"/>
              </a:rPr>
              <a:t>■  </a:t>
            </a:r>
            <a:r>
              <a:rPr sz="1550" b="0" i="0">
                <a:solidFill>
                  <a:srgbClr val="B45309"/>
                </a:solidFill>
                <a:latin typeface="맑은 고딕"/>
                <a:ea typeface="맑은 고딕"/>
              </a:rPr>
              <a:t>마무리 멘트 (요지): "AI는 마케터를 대체하지 않습니다. AI를 다루는 마케터가 다루지 못하는 마케터를 대체합니다. 측정을 멈추지 마세요."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